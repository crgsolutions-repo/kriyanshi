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4" r:id="rId6"/>
    <p:sldId id="265" r:id="rId7"/>
    <p:sldId id="260" r:id="rId8"/>
    <p:sldId id="261" r:id="rId9"/>
    <p:sldId id="263"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280" autoAdjust="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A968769-85F5-4E84-A072-0F38E37EF719}" type="datetimeFigureOut">
              <a:rPr lang="en-US" smtClean="0"/>
              <a:t>9/26/2024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E694BD-9FBB-41ED-8F5B-6E1982CED68E}" type="slidenum">
              <a:rPr lang="en-US" smtClean="0"/>
              <a:t>‹#›</a:t>
            </a:fld>
            <a:endParaRPr lang="en-US"/>
          </a:p>
        </p:txBody>
      </p:sp>
    </p:spTree>
    <p:extLst>
      <p:ext uri="{BB962C8B-B14F-4D97-AF65-F5344CB8AC3E}">
        <p14:creationId xmlns:p14="http://schemas.microsoft.com/office/powerpoint/2010/main" val="1285437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E694BD-9FBB-41ED-8F5B-6E1982CED68E}" type="slidenum">
              <a:rPr lang="en-US" smtClean="0"/>
              <a:t>2</a:t>
            </a:fld>
            <a:endParaRPr lang="en-US"/>
          </a:p>
        </p:txBody>
      </p:sp>
    </p:spTree>
    <p:extLst>
      <p:ext uri="{BB962C8B-B14F-4D97-AF65-F5344CB8AC3E}">
        <p14:creationId xmlns:p14="http://schemas.microsoft.com/office/powerpoint/2010/main" val="3592649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8B78D5-0A89-4E73-874C-BBECA4FEE4A8}" type="slidenum">
              <a:rPr lang="en-IN" smtClean="0"/>
              <a:t>7</a:t>
            </a:fld>
            <a:endParaRPr lang="en-IN"/>
          </a:p>
        </p:txBody>
      </p:sp>
    </p:spTree>
    <p:extLst>
      <p:ext uri="{BB962C8B-B14F-4D97-AF65-F5344CB8AC3E}">
        <p14:creationId xmlns:p14="http://schemas.microsoft.com/office/powerpoint/2010/main" val="3374415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8B78D5-0A89-4E73-874C-BBECA4FEE4A8}" type="slidenum">
              <a:rPr lang="en-IN" smtClean="0"/>
              <a:t>8</a:t>
            </a:fld>
            <a:endParaRPr lang="en-IN"/>
          </a:p>
        </p:txBody>
      </p:sp>
    </p:spTree>
    <p:extLst>
      <p:ext uri="{BB962C8B-B14F-4D97-AF65-F5344CB8AC3E}">
        <p14:creationId xmlns:p14="http://schemas.microsoft.com/office/powerpoint/2010/main" val="415239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58B78D5-0A89-4E73-874C-BBECA4FEE4A8}" type="slidenum">
              <a:rPr lang="en-IN" smtClean="0"/>
              <a:t>9</a:t>
            </a:fld>
            <a:endParaRPr lang="en-IN"/>
          </a:p>
        </p:txBody>
      </p:sp>
    </p:spTree>
    <p:extLst>
      <p:ext uri="{BB962C8B-B14F-4D97-AF65-F5344CB8AC3E}">
        <p14:creationId xmlns:p14="http://schemas.microsoft.com/office/powerpoint/2010/main" val="2715797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5F6863F-4DBF-4B28-8E34-70BD042A3C58}"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1762720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F6863F-4DBF-4B28-8E34-70BD042A3C58}"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3403347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F6863F-4DBF-4B28-8E34-70BD042A3C58}"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768742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5F6863F-4DBF-4B28-8E34-70BD042A3C58}" type="datetimeFigureOut">
              <a:rPr lang="en-US" smtClean="0"/>
              <a:t>9/26/2024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81767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5F6863F-4DBF-4B28-8E34-70BD042A3C58}" type="datetimeFigureOut">
              <a:rPr lang="en-US" smtClean="0"/>
              <a:t>9/26/2024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42265378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5F6863F-4DBF-4B28-8E34-70BD042A3C58}" type="datetimeFigureOut">
              <a:rPr lang="en-US" smtClean="0"/>
              <a:t>9/26/2024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18405987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F6863F-4DBF-4B28-8E34-70BD042A3C58}" type="datetimeFigureOut">
              <a:rPr lang="en-US" smtClean="0"/>
              <a:t>9/26/2024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3226228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5F6863F-4DBF-4B28-8E34-70BD042A3C58}" type="datetimeFigureOut">
              <a:rPr lang="en-US" smtClean="0"/>
              <a:t>9/26/2024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181785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5F6863F-4DBF-4B28-8E34-70BD042A3C58}" type="datetimeFigureOut">
              <a:rPr lang="en-US" smtClean="0"/>
              <a:t>9/26/2024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3804501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F6863F-4DBF-4B28-8E34-70BD042A3C58}"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3552610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F6863F-4DBF-4B28-8E34-70BD042A3C58}" type="datetimeFigureOut">
              <a:rPr lang="en-US" smtClean="0"/>
              <a:t>9/26/2024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EA06B0E-30CD-47C8-AA9E-AC0F49F78F65}" type="slidenum">
              <a:rPr lang="en-US" smtClean="0"/>
              <a:t>‹#›</a:t>
            </a:fld>
            <a:endParaRPr lang="en-US"/>
          </a:p>
        </p:txBody>
      </p:sp>
    </p:spTree>
    <p:extLst>
      <p:ext uri="{BB962C8B-B14F-4D97-AF65-F5344CB8AC3E}">
        <p14:creationId xmlns:p14="http://schemas.microsoft.com/office/powerpoint/2010/main" val="319733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F6863F-4DBF-4B28-8E34-70BD042A3C58}" type="datetimeFigureOut">
              <a:rPr lang="en-US" smtClean="0"/>
              <a:t>9/26/2024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A06B0E-30CD-47C8-AA9E-AC0F49F78F65}" type="slidenum">
              <a:rPr lang="en-US" smtClean="0"/>
              <a:t>‹#›</a:t>
            </a:fld>
            <a:endParaRPr lang="en-US"/>
          </a:p>
        </p:txBody>
      </p:sp>
    </p:spTree>
    <p:extLst>
      <p:ext uri="{BB962C8B-B14F-4D97-AF65-F5344CB8AC3E}">
        <p14:creationId xmlns:p14="http://schemas.microsoft.com/office/powerpoint/2010/main" val="1640670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png"/><Relationship Id="rId5" Type="http://schemas.openxmlformats.org/officeDocument/2006/relationships/image" Target="../media/image12.e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png"/><Relationship Id="rId5" Type="http://schemas.openxmlformats.org/officeDocument/2006/relationships/image" Target="../media/image13.emf"/><Relationship Id="rId4" Type="http://schemas.openxmlformats.org/officeDocument/2006/relationships/oleObject" Target="../embeddings/oleObject2.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png"/><Relationship Id="rId5" Type="http://schemas.openxmlformats.org/officeDocument/2006/relationships/image" Target="../media/image14.emf"/><Relationship Id="rId4" Type="http://schemas.openxmlformats.org/officeDocument/2006/relationships/package" Target="../embeddings/Microsoft_Excel_Worksheet.xlsx"/></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latin typeface="Times New Roman" panose="02020603050405020304" pitchFamily="18" charset="0"/>
                <a:cs typeface="Times New Roman" panose="02020603050405020304" pitchFamily="18" charset="0"/>
              </a:rPr>
              <a:t>Diageo SMART Distillery Analytics</a:t>
            </a:r>
            <a:endParaRPr lang="en-US"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524000" y="3651629"/>
            <a:ext cx="9144000" cy="1655762"/>
          </a:xfrm>
        </p:spPr>
        <p:txBody>
          <a:bodyPr/>
          <a:lstStyle/>
          <a:p>
            <a:r>
              <a:rPr lang="en-US" dirty="0" smtClean="0">
                <a:latin typeface="Times New Roman" panose="02020603050405020304" pitchFamily="18" charset="0"/>
                <a:cs typeface="Times New Roman" panose="02020603050405020304" pitchFamily="18" charset="0"/>
              </a:rPr>
              <a:t>By: CRG Solutions Pvt. Ltd.</a:t>
            </a:r>
          </a:p>
        </p:txBody>
      </p:sp>
      <p:pic>
        <p:nvPicPr>
          <p:cNvPr id="5" name="Picture 4"/>
          <p:cNvPicPr>
            <a:picLocks noChangeAspect="1"/>
          </p:cNvPicPr>
          <p:nvPr/>
        </p:nvPicPr>
        <p:blipFill>
          <a:blip r:embed="rId2"/>
          <a:stretch>
            <a:fillRect/>
          </a:stretch>
        </p:blipFill>
        <p:spPr>
          <a:xfrm>
            <a:off x="9753260" y="5419524"/>
            <a:ext cx="2438740" cy="1438476"/>
          </a:xfrm>
          <a:prstGeom prst="rect">
            <a:avLst/>
          </a:prstGeom>
        </p:spPr>
      </p:pic>
    </p:spTree>
    <p:extLst>
      <p:ext uri="{BB962C8B-B14F-4D97-AF65-F5344CB8AC3E}">
        <p14:creationId xmlns:p14="http://schemas.microsoft.com/office/powerpoint/2010/main" val="350038090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Executive Summary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3200" dirty="0" smtClean="0">
                <a:latin typeface="Times New Roman" panose="02020603050405020304" pitchFamily="18" charset="0"/>
                <a:cs typeface="Times New Roman" panose="02020603050405020304" pitchFamily="18" charset="0"/>
              </a:rPr>
              <a:t>This document outlines the approach strategy that aims to achieve end-to-end </a:t>
            </a:r>
            <a:r>
              <a:rPr lang="en-US" sz="3200" dirty="0" smtClean="0">
                <a:latin typeface="Times New Roman" panose="02020603050405020304" pitchFamily="18" charset="0"/>
                <a:cs typeface="Times New Roman" panose="02020603050405020304" pitchFamily="18" charset="0"/>
              </a:rPr>
              <a:t>product quality optimization model </a:t>
            </a:r>
            <a:r>
              <a:rPr lang="en-US" sz="3200" dirty="0" smtClean="0">
                <a:latin typeface="Times New Roman" panose="02020603050405020304" pitchFamily="18" charset="0"/>
                <a:cs typeface="Times New Roman" panose="02020603050405020304" pitchFamily="18" charset="0"/>
              </a:rPr>
              <a:t>of the current malt spirit process, using advanced analytics tools and techniques. </a:t>
            </a:r>
            <a:endParaRPr lang="en-US" sz="3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3"/>
          <a:stretch>
            <a:fillRect/>
          </a:stretch>
        </p:blipFill>
        <p:spPr>
          <a:xfrm>
            <a:off x="9753260" y="5419524"/>
            <a:ext cx="2438740" cy="1438476"/>
          </a:xfrm>
          <a:prstGeom prst="rect">
            <a:avLst/>
          </a:prstGeom>
        </p:spPr>
      </p:pic>
    </p:spTree>
    <p:extLst>
      <p:ext uri="{BB962C8B-B14F-4D97-AF65-F5344CB8AC3E}">
        <p14:creationId xmlns:p14="http://schemas.microsoft.com/office/powerpoint/2010/main" val="15415844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Problem Statement</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87424"/>
            <a:ext cx="10515600" cy="4351338"/>
          </a:xfrm>
        </p:spPr>
        <p:txBody>
          <a:bodyPr/>
          <a:lstStyle/>
          <a:p>
            <a:r>
              <a:rPr lang="en-US" dirty="0" smtClean="0">
                <a:latin typeface="Times New Roman" panose="02020603050405020304" pitchFamily="18" charset="0"/>
                <a:cs typeface="Times New Roman" panose="02020603050405020304" pitchFamily="18" charset="0"/>
              </a:rPr>
              <a:t>The quality of malt spirit being produced in the distillery is inconsistent. To address this issue, distillery data encompassing ingredients, process parameters, and output parameters at various production stages. The goal is to establish a comprehensive understanding of how these factors relate to the final quality of malt spirit.</a:t>
            </a:r>
            <a:r>
              <a:rPr lang="en-US" dirty="0"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9753260" y="5419524"/>
            <a:ext cx="2438740" cy="1438476"/>
          </a:xfrm>
          <a:prstGeom prst="rect">
            <a:avLst/>
          </a:prstGeom>
        </p:spPr>
      </p:pic>
    </p:spTree>
    <p:extLst>
      <p:ext uri="{BB962C8B-B14F-4D97-AF65-F5344CB8AC3E}">
        <p14:creationId xmlns:p14="http://schemas.microsoft.com/office/powerpoint/2010/main" val="193780794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753260" y="5419524"/>
            <a:ext cx="2438740" cy="1438476"/>
          </a:xfrm>
          <a:prstGeom prst="rect">
            <a:avLst/>
          </a:prstGeom>
        </p:spPr>
      </p:pic>
      <p:sp>
        <p:nvSpPr>
          <p:cNvPr id="5" name="Rectangle 4">
            <a:extLst>
              <a:ext uri="{FF2B5EF4-FFF2-40B4-BE49-F238E27FC236}">
                <a16:creationId xmlns:a16="http://schemas.microsoft.com/office/drawing/2014/main" id="{6C1E605A-2D8E-6DAE-A267-7FC86EBC0496}"/>
              </a:ext>
            </a:extLst>
          </p:cNvPr>
          <p:cNvSpPr/>
          <p:nvPr/>
        </p:nvSpPr>
        <p:spPr>
          <a:xfrm>
            <a:off x="853266" y="1925537"/>
            <a:ext cx="2081693" cy="506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Mashing</a:t>
            </a:r>
            <a:endParaRPr lang="en-US" dirty="0"/>
          </a:p>
        </p:txBody>
      </p:sp>
      <p:sp>
        <p:nvSpPr>
          <p:cNvPr id="19" name="Rectangle 18">
            <a:extLst>
              <a:ext uri="{FF2B5EF4-FFF2-40B4-BE49-F238E27FC236}">
                <a16:creationId xmlns:a16="http://schemas.microsoft.com/office/drawing/2014/main" id="{6C1E605A-2D8E-6DAE-A267-7FC86EBC0496}"/>
              </a:ext>
            </a:extLst>
          </p:cNvPr>
          <p:cNvSpPr/>
          <p:nvPr/>
        </p:nvSpPr>
        <p:spPr>
          <a:xfrm>
            <a:off x="2934959" y="2456523"/>
            <a:ext cx="2081693" cy="506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Fermentation</a:t>
            </a:r>
          </a:p>
        </p:txBody>
      </p:sp>
      <p:sp>
        <p:nvSpPr>
          <p:cNvPr id="20" name="Rectangle 19">
            <a:extLst>
              <a:ext uri="{FF2B5EF4-FFF2-40B4-BE49-F238E27FC236}">
                <a16:creationId xmlns:a16="http://schemas.microsoft.com/office/drawing/2014/main" id="{6C1E605A-2D8E-6DAE-A267-7FC86EBC0496}"/>
              </a:ext>
            </a:extLst>
          </p:cNvPr>
          <p:cNvSpPr/>
          <p:nvPr/>
        </p:nvSpPr>
        <p:spPr>
          <a:xfrm>
            <a:off x="5016652" y="2971057"/>
            <a:ext cx="2278037" cy="506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Wash Still Distillation</a:t>
            </a:r>
          </a:p>
        </p:txBody>
      </p:sp>
      <p:sp>
        <p:nvSpPr>
          <p:cNvPr id="21" name="Rectangle 20">
            <a:extLst>
              <a:ext uri="{FF2B5EF4-FFF2-40B4-BE49-F238E27FC236}">
                <a16:creationId xmlns:a16="http://schemas.microsoft.com/office/drawing/2014/main" id="{6C1E605A-2D8E-6DAE-A267-7FC86EBC0496}"/>
              </a:ext>
            </a:extLst>
          </p:cNvPr>
          <p:cNvSpPr/>
          <p:nvPr/>
        </p:nvSpPr>
        <p:spPr>
          <a:xfrm>
            <a:off x="7282543" y="3485591"/>
            <a:ext cx="2351314" cy="506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Spirit Still Distillation</a:t>
            </a:r>
            <a:endParaRPr lang="en-US" dirty="0"/>
          </a:p>
        </p:txBody>
      </p:sp>
      <p:cxnSp>
        <p:nvCxnSpPr>
          <p:cNvPr id="25" name="Elbow Connector 24"/>
          <p:cNvCxnSpPr>
            <a:stCxn id="19" idx="2"/>
            <a:endCxn id="20" idx="1"/>
          </p:cNvCxnSpPr>
          <p:nvPr/>
        </p:nvCxnSpPr>
        <p:spPr>
          <a:xfrm rot="16200000" flipH="1">
            <a:off x="4365539" y="2573099"/>
            <a:ext cx="261380" cy="104084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5" idx="2"/>
            <a:endCxn id="19" idx="1"/>
          </p:cNvCxnSpPr>
          <p:nvPr/>
        </p:nvCxnSpPr>
        <p:spPr>
          <a:xfrm rot="16200000" flipH="1">
            <a:off x="2275620" y="2050339"/>
            <a:ext cx="277832" cy="104084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Elbow Connector 27"/>
          <p:cNvCxnSpPr/>
          <p:nvPr/>
        </p:nvCxnSpPr>
        <p:spPr>
          <a:xfrm rot="16200000" flipH="1">
            <a:off x="6662057" y="3169333"/>
            <a:ext cx="359227" cy="87756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6C1E605A-2D8E-6DAE-A267-7FC86EBC0496}"/>
              </a:ext>
            </a:extLst>
          </p:cNvPr>
          <p:cNvSpPr/>
          <p:nvPr/>
        </p:nvSpPr>
        <p:spPr>
          <a:xfrm>
            <a:off x="9633857" y="4008589"/>
            <a:ext cx="2351314" cy="5063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t>Sensory Score (Output)</a:t>
            </a:r>
            <a:endParaRPr lang="en-US" dirty="0"/>
          </a:p>
        </p:txBody>
      </p:sp>
      <p:cxnSp>
        <p:nvCxnSpPr>
          <p:cNvPr id="30" name="Elbow Connector 29"/>
          <p:cNvCxnSpPr>
            <a:stCxn id="21" idx="2"/>
            <a:endCxn id="29" idx="1"/>
          </p:cNvCxnSpPr>
          <p:nvPr/>
        </p:nvCxnSpPr>
        <p:spPr>
          <a:xfrm rot="16200000" flipH="1">
            <a:off x="8911106" y="3538993"/>
            <a:ext cx="269844" cy="117565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510166" y="425887"/>
            <a:ext cx="11291008" cy="830997"/>
          </a:xfrm>
          <a:prstGeom prst="rect">
            <a:avLst/>
          </a:prstGeom>
          <a:noFill/>
        </p:spPr>
        <p:txBody>
          <a:bodyPr wrap="square" rtlCol="0">
            <a:spAutoFit/>
          </a:bodyPr>
          <a:lstStyle/>
          <a:p>
            <a:pPr algn="ctr"/>
            <a:r>
              <a:rPr lang="en-US" sz="4800" dirty="0" smtClean="0">
                <a:latin typeface="Times New Roman" panose="02020603050405020304" pitchFamily="18" charset="0"/>
                <a:cs typeface="Times New Roman" panose="02020603050405020304" pitchFamily="18" charset="0"/>
              </a:rPr>
              <a:t>Process Flow</a:t>
            </a:r>
            <a:endParaRPr lang="en-US" sz="4800" dirty="0">
              <a:latin typeface="Times New Roman" panose="02020603050405020304" pitchFamily="18" charset="0"/>
              <a:cs typeface="Times New Roman" panose="02020603050405020304" pitchFamily="18" charset="0"/>
            </a:endParaRPr>
          </a:p>
        </p:txBody>
      </p:sp>
      <p:sp>
        <p:nvSpPr>
          <p:cNvPr id="33" name="TextBox 32"/>
          <p:cNvSpPr txBox="1"/>
          <p:nvPr/>
        </p:nvSpPr>
        <p:spPr>
          <a:xfrm>
            <a:off x="510166" y="4327211"/>
            <a:ext cx="7445828" cy="1754326"/>
          </a:xfrm>
          <a:prstGeom prst="rect">
            <a:avLst/>
          </a:prstGeom>
          <a:noFill/>
        </p:spPr>
        <p:txBody>
          <a:bodyPr wrap="square" rtlCol="0">
            <a:spAutoFit/>
          </a:bodyPr>
          <a:lstStyle/>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Raw materials are passed to the first stage to kick-start the whole malting process. </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The product formed at the end of each stage becomes the starting point for the next process. </a:t>
            </a:r>
          </a:p>
          <a:p>
            <a:pPr marL="285750" indent="-285750" algn="just">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In the end, final product is achieved. </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cxnSp>
        <p:nvCxnSpPr>
          <p:cNvPr id="35" name="Straight Arrow Connector 34"/>
          <p:cNvCxnSpPr/>
          <p:nvPr/>
        </p:nvCxnSpPr>
        <p:spPr>
          <a:xfrm>
            <a:off x="0" y="2178691"/>
            <a:ext cx="836938" cy="69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43331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753260" y="5419524"/>
            <a:ext cx="2438740" cy="1438476"/>
          </a:xfrm>
          <a:prstGeom prst="rect">
            <a:avLst/>
          </a:prstGeom>
        </p:spPr>
      </p:pic>
      <p:sp>
        <p:nvSpPr>
          <p:cNvPr id="7" name="TextBox 6"/>
          <p:cNvSpPr txBox="1"/>
          <p:nvPr/>
        </p:nvSpPr>
        <p:spPr>
          <a:xfrm>
            <a:off x="309066" y="335633"/>
            <a:ext cx="11446329" cy="769441"/>
          </a:xfrm>
          <a:prstGeom prst="rect">
            <a:avLst/>
          </a:prstGeom>
          <a:noFill/>
        </p:spPr>
        <p:txBody>
          <a:bodyPr wrap="square" rtlCol="0">
            <a:spAutoFit/>
          </a:bodyPr>
          <a:lstStyle/>
          <a:p>
            <a:pPr algn="ctr"/>
            <a:r>
              <a:rPr lang="en-US" sz="4400" dirty="0" smtClean="0">
                <a:latin typeface="Times New Roman" panose="02020603050405020304" pitchFamily="18" charset="0"/>
                <a:cs typeface="Times New Roman" panose="02020603050405020304" pitchFamily="18" charset="0"/>
              </a:rPr>
              <a:t>Data</a:t>
            </a:r>
            <a:endParaRPr lang="en-US" dirty="0">
              <a:latin typeface="Times New Roman" panose="02020603050405020304" pitchFamily="18" charset="0"/>
              <a:cs typeface="Times New Roman" panose="02020603050405020304" pitchFamily="18" charset="0"/>
            </a:endParaRPr>
          </a:p>
        </p:txBody>
      </p:sp>
      <p:pic>
        <p:nvPicPr>
          <p:cNvPr id="8" name="Picture 7" descr="Layered &lt;strong&gt;Database&lt;/strong&gt; Source Documents by barrymieny on DeviantArt">
            <a:extLst>
              <a:ext uri="{FF2B5EF4-FFF2-40B4-BE49-F238E27FC236}">
                <a16:creationId xmlns:a16="http://schemas.microsoft.com/office/drawing/2014/main" id="{A55EF923-CB24-EFA4-1A04-09B65820FA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59341" y="1523121"/>
            <a:ext cx="1375307" cy="1375307"/>
          </a:xfrm>
          <a:prstGeom prst="rect">
            <a:avLst/>
          </a:prstGeom>
        </p:spPr>
      </p:pic>
      <p:pic>
        <p:nvPicPr>
          <p:cNvPr id="9" name="Picture 8" descr="Layered &lt;strong&gt;Database&lt;/strong&gt; Source Documents by barrymieny on DeviantArt">
            <a:extLst>
              <a:ext uri="{FF2B5EF4-FFF2-40B4-BE49-F238E27FC236}">
                <a16:creationId xmlns:a16="http://schemas.microsoft.com/office/drawing/2014/main" id="{A55EF923-CB24-EFA4-1A04-09B65820FA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2479" y="4114667"/>
            <a:ext cx="903340" cy="903340"/>
          </a:xfrm>
          <a:prstGeom prst="rect">
            <a:avLst/>
          </a:prstGeom>
        </p:spPr>
      </p:pic>
      <p:pic>
        <p:nvPicPr>
          <p:cNvPr id="10" name="Picture 9" descr="Layered &lt;strong&gt;Database&lt;/strong&gt; Source Documents by barrymieny on DeviantArt">
            <a:extLst>
              <a:ext uri="{FF2B5EF4-FFF2-40B4-BE49-F238E27FC236}">
                <a16:creationId xmlns:a16="http://schemas.microsoft.com/office/drawing/2014/main" id="{A55EF923-CB24-EFA4-1A04-09B65820FA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968592" y="4114666"/>
            <a:ext cx="959241" cy="959241"/>
          </a:xfrm>
          <a:prstGeom prst="rect">
            <a:avLst/>
          </a:prstGeom>
        </p:spPr>
      </p:pic>
      <p:pic>
        <p:nvPicPr>
          <p:cNvPr id="11" name="Picture 10" descr="Layered &lt;strong&gt;Database&lt;/strong&gt; Source Documents by barrymieny on DeviantArt">
            <a:extLst>
              <a:ext uri="{FF2B5EF4-FFF2-40B4-BE49-F238E27FC236}">
                <a16:creationId xmlns:a16="http://schemas.microsoft.com/office/drawing/2014/main" id="{A55EF923-CB24-EFA4-1A04-09B65820FA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624706" y="4114666"/>
            <a:ext cx="934199" cy="934199"/>
          </a:xfrm>
          <a:prstGeom prst="rect">
            <a:avLst/>
          </a:prstGeom>
        </p:spPr>
      </p:pic>
      <p:sp>
        <p:nvSpPr>
          <p:cNvPr id="13" name="TextBox 12">
            <a:extLst>
              <a:ext uri="{FF2B5EF4-FFF2-40B4-BE49-F238E27FC236}">
                <a16:creationId xmlns:a16="http://schemas.microsoft.com/office/drawing/2014/main" id="{E922E7C4-D732-9064-1EFC-9557E3765A55}"/>
              </a:ext>
            </a:extLst>
          </p:cNvPr>
          <p:cNvSpPr txBox="1"/>
          <p:nvPr/>
        </p:nvSpPr>
        <p:spPr>
          <a:xfrm>
            <a:off x="2390597" y="3021925"/>
            <a:ext cx="2059331" cy="25098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algn="ctr" defTabSz="533387">
              <a:lnSpc>
                <a:spcPct val="90000"/>
              </a:lnSpc>
              <a:spcBef>
                <a:spcPct val="0"/>
              </a:spcBef>
              <a:spcAft>
                <a:spcPct val="35000"/>
              </a:spcAft>
            </a:pPr>
            <a:r>
              <a:rPr lang="en-US" sz="2400" b="1"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Process Data</a:t>
            </a:r>
            <a:endParaRPr lang="en-US" sz="2400" b="1" dirty="0">
              <a:solidFill>
                <a:srgbClr val="000000">
                  <a:hueOff val="0"/>
                  <a:satOff val="0"/>
                  <a:lumOff val="0"/>
                  <a:alphaOff val="0"/>
                </a:srgbClr>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922E7C4-D732-9064-1EFC-9557E3765A55}"/>
              </a:ext>
            </a:extLst>
          </p:cNvPr>
          <p:cNvSpPr txBox="1"/>
          <p:nvPr/>
        </p:nvSpPr>
        <p:spPr>
          <a:xfrm>
            <a:off x="-265517" y="5168535"/>
            <a:ext cx="2059331" cy="25098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algn="ctr" defTabSz="533387">
              <a:lnSpc>
                <a:spcPct val="90000"/>
              </a:lnSpc>
              <a:spcBef>
                <a:spcPct val="0"/>
              </a:spcBef>
              <a:spcAft>
                <a:spcPct val="35000"/>
              </a:spcAft>
            </a:pPr>
            <a:r>
              <a:rPr lang="en-US" sz="1600" b="1"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Input Quality Parameters</a:t>
            </a:r>
          </a:p>
        </p:txBody>
      </p:sp>
      <p:sp>
        <p:nvSpPr>
          <p:cNvPr id="15" name="TextBox 14">
            <a:extLst>
              <a:ext uri="{FF2B5EF4-FFF2-40B4-BE49-F238E27FC236}">
                <a16:creationId xmlns:a16="http://schemas.microsoft.com/office/drawing/2014/main" id="{E922E7C4-D732-9064-1EFC-9557E3765A55}"/>
              </a:ext>
            </a:extLst>
          </p:cNvPr>
          <p:cNvSpPr txBox="1"/>
          <p:nvPr/>
        </p:nvSpPr>
        <p:spPr>
          <a:xfrm>
            <a:off x="2390597" y="5048866"/>
            <a:ext cx="2084607" cy="32380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algn="ctr" defTabSz="533387">
              <a:lnSpc>
                <a:spcPct val="90000"/>
              </a:lnSpc>
              <a:spcBef>
                <a:spcPct val="0"/>
              </a:spcBef>
              <a:spcAft>
                <a:spcPct val="35000"/>
              </a:spcAft>
            </a:pPr>
            <a:r>
              <a:rPr lang="en-US" sz="1600" b="1"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Process Parameters</a:t>
            </a:r>
            <a:endParaRPr lang="en-US" sz="1600" b="1" dirty="0">
              <a:solidFill>
                <a:srgbClr val="000000">
                  <a:hueOff val="0"/>
                  <a:satOff val="0"/>
                  <a:lumOff val="0"/>
                  <a:alphaOff val="0"/>
                </a:srgbClr>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E922E7C4-D732-9064-1EFC-9557E3765A55}"/>
              </a:ext>
            </a:extLst>
          </p:cNvPr>
          <p:cNvSpPr txBox="1"/>
          <p:nvPr/>
        </p:nvSpPr>
        <p:spPr>
          <a:xfrm>
            <a:off x="5112289" y="5137832"/>
            <a:ext cx="2059331" cy="250989"/>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algn="ctr" defTabSz="533387">
              <a:lnSpc>
                <a:spcPct val="90000"/>
              </a:lnSpc>
              <a:spcBef>
                <a:spcPct val="0"/>
              </a:spcBef>
              <a:spcAft>
                <a:spcPct val="35000"/>
              </a:spcAft>
            </a:pPr>
            <a:r>
              <a:rPr lang="en-US" sz="1600" b="1"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Output Quality Parameters</a:t>
            </a:r>
          </a:p>
        </p:txBody>
      </p:sp>
      <p:cxnSp>
        <p:nvCxnSpPr>
          <p:cNvPr id="18" name="Straight Arrow Connector 17"/>
          <p:cNvCxnSpPr/>
          <p:nvPr/>
        </p:nvCxnSpPr>
        <p:spPr>
          <a:xfrm flipH="1">
            <a:off x="1215819" y="2650363"/>
            <a:ext cx="1174778" cy="12736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3420262" y="3434135"/>
            <a:ext cx="0" cy="489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4303392" y="2780992"/>
            <a:ext cx="1436914" cy="1143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6009050" y="1634700"/>
            <a:ext cx="5992450" cy="2031325"/>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Input parameters are used to determine the output parameters for a single process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output parameters from the previous process become the input parameters for the next process.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final output parameter is the sensory score, which is the target variable for the </a:t>
            </a:r>
            <a:r>
              <a:rPr lang="en-US" dirty="0" smtClean="0">
                <a:latin typeface="Times New Roman" panose="02020603050405020304" pitchFamily="18" charset="0"/>
                <a:cs typeface="Times New Roman" panose="02020603050405020304" pitchFamily="18" charset="0"/>
              </a:rPr>
              <a:t>classification </a:t>
            </a:r>
            <a:r>
              <a:rPr lang="en-US" dirty="0">
                <a:latin typeface="Times New Roman" panose="02020603050405020304" pitchFamily="18" charset="0"/>
                <a:cs typeface="Times New Roman" panose="02020603050405020304" pitchFamily="18" charset="0"/>
              </a:rPr>
              <a:t>model. </a:t>
            </a:r>
          </a:p>
          <a:p>
            <a:endParaRPr lang="en-US" dirty="0"/>
          </a:p>
        </p:txBody>
      </p:sp>
    </p:spTree>
    <p:extLst>
      <p:ext uri="{BB962C8B-B14F-4D97-AF65-F5344CB8AC3E}">
        <p14:creationId xmlns:p14="http://schemas.microsoft.com/office/powerpoint/2010/main" val="11034621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051328" y="2825618"/>
            <a:ext cx="1579651" cy="1316376"/>
          </a:xfrm>
          <a:prstGeom prst="rect">
            <a:avLst/>
          </a:prstGeom>
        </p:spPr>
      </p:pic>
      <p:pic>
        <p:nvPicPr>
          <p:cNvPr id="4" name="Picture 3"/>
          <p:cNvPicPr>
            <a:picLocks noChangeAspect="1"/>
          </p:cNvPicPr>
          <p:nvPr/>
        </p:nvPicPr>
        <p:blipFill>
          <a:blip r:embed="rId3"/>
          <a:stretch>
            <a:fillRect/>
          </a:stretch>
        </p:blipFill>
        <p:spPr>
          <a:xfrm>
            <a:off x="9753260" y="5419524"/>
            <a:ext cx="2438740" cy="1438476"/>
          </a:xfrm>
          <a:prstGeom prst="rect">
            <a:avLst/>
          </a:prstGeom>
        </p:spPr>
      </p:pic>
      <p:sp>
        <p:nvSpPr>
          <p:cNvPr id="7" name="TextBox 6"/>
          <p:cNvSpPr txBox="1"/>
          <p:nvPr/>
        </p:nvSpPr>
        <p:spPr>
          <a:xfrm>
            <a:off x="357061" y="555172"/>
            <a:ext cx="11446329" cy="769441"/>
          </a:xfrm>
          <a:prstGeom prst="rect">
            <a:avLst/>
          </a:prstGeom>
          <a:noFill/>
        </p:spPr>
        <p:txBody>
          <a:bodyPr wrap="square" rtlCol="0">
            <a:spAutoFit/>
          </a:bodyPr>
          <a:lstStyle/>
          <a:p>
            <a:pPr algn="ctr"/>
            <a:r>
              <a:rPr lang="en-US" sz="4400" dirty="0" smtClean="0">
                <a:latin typeface="Times New Roman" panose="02020603050405020304" pitchFamily="18" charset="0"/>
                <a:cs typeface="Times New Roman" panose="02020603050405020304" pitchFamily="18" charset="0"/>
              </a:rPr>
              <a:t>Model Framework</a:t>
            </a:r>
            <a:endParaRPr lang="en-US" dirty="0">
              <a:latin typeface="Times New Roman" panose="02020603050405020304" pitchFamily="18" charset="0"/>
              <a:cs typeface="Times New Roman" panose="02020603050405020304" pitchFamily="18" charset="0"/>
            </a:endParaRPr>
          </a:p>
        </p:txBody>
      </p:sp>
      <p:pic>
        <p:nvPicPr>
          <p:cNvPr id="9" name="Picture 8" descr="Layered &lt;strong&gt;Database&lt;/strong&gt; Source Documents by barrymieny on DeviantArt">
            <a:extLst>
              <a:ext uri="{FF2B5EF4-FFF2-40B4-BE49-F238E27FC236}">
                <a16:creationId xmlns:a16="http://schemas.microsoft.com/office/drawing/2014/main" id="{A55EF923-CB24-EFA4-1A04-09B65820FAF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4144" y="1273030"/>
            <a:ext cx="762051" cy="762051"/>
          </a:xfrm>
          <a:prstGeom prst="rect">
            <a:avLst/>
          </a:prstGeom>
        </p:spPr>
      </p:pic>
      <p:pic>
        <p:nvPicPr>
          <p:cNvPr id="10" name="Picture 9" descr="Layered &lt;strong&gt;Database&lt;/strong&gt; Source Documents by barrymieny on DeviantArt">
            <a:extLst>
              <a:ext uri="{FF2B5EF4-FFF2-40B4-BE49-F238E27FC236}">
                <a16:creationId xmlns:a16="http://schemas.microsoft.com/office/drawing/2014/main" id="{A55EF923-CB24-EFA4-1A04-09B65820FAF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35586" y="1243545"/>
            <a:ext cx="819776" cy="819776"/>
          </a:xfrm>
          <a:prstGeom prst="rect">
            <a:avLst/>
          </a:prstGeom>
        </p:spPr>
      </p:pic>
      <p:pic>
        <p:nvPicPr>
          <p:cNvPr id="11" name="Picture 10" descr="Layered &lt;strong&gt;Database&lt;/strong&gt; Source Documents by barrymieny on DeviantArt">
            <a:extLst>
              <a:ext uri="{FF2B5EF4-FFF2-40B4-BE49-F238E27FC236}">
                <a16:creationId xmlns:a16="http://schemas.microsoft.com/office/drawing/2014/main" id="{A55EF923-CB24-EFA4-1A04-09B65820FAF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63186" y="2714441"/>
            <a:ext cx="843949" cy="843949"/>
          </a:xfrm>
          <a:prstGeom prst="rect">
            <a:avLst/>
          </a:prstGeom>
        </p:spPr>
      </p:pic>
      <p:sp>
        <p:nvSpPr>
          <p:cNvPr id="14" name="TextBox 13">
            <a:extLst>
              <a:ext uri="{FF2B5EF4-FFF2-40B4-BE49-F238E27FC236}">
                <a16:creationId xmlns:a16="http://schemas.microsoft.com/office/drawing/2014/main" id="{E922E7C4-D732-9064-1EFC-9557E3765A55}"/>
              </a:ext>
            </a:extLst>
          </p:cNvPr>
          <p:cNvSpPr txBox="1"/>
          <p:nvPr/>
        </p:nvSpPr>
        <p:spPr>
          <a:xfrm>
            <a:off x="3878" y="2339790"/>
            <a:ext cx="1279553" cy="7781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algn="ctr" defTabSz="533387">
              <a:lnSpc>
                <a:spcPct val="90000"/>
              </a:lnSpc>
              <a:spcBef>
                <a:spcPct val="0"/>
              </a:spcBef>
              <a:spcAft>
                <a:spcPct val="35000"/>
              </a:spcAft>
            </a:pPr>
            <a:r>
              <a:rPr lang="en-US" sz="1600" b="1"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Input Quality Parameters</a:t>
            </a:r>
          </a:p>
        </p:txBody>
      </p:sp>
      <p:sp>
        <p:nvSpPr>
          <p:cNvPr id="15" name="TextBox 14">
            <a:extLst>
              <a:ext uri="{FF2B5EF4-FFF2-40B4-BE49-F238E27FC236}">
                <a16:creationId xmlns:a16="http://schemas.microsoft.com/office/drawing/2014/main" id="{E922E7C4-D732-9064-1EFC-9557E3765A55}"/>
              </a:ext>
            </a:extLst>
          </p:cNvPr>
          <p:cNvSpPr txBox="1"/>
          <p:nvPr/>
        </p:nvSpPr>
        <p:spPr>
          <a:xfrm>
            <a:off x="1283431" y="2123002"/>
            <a:ext cx="1735476" cy="26430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algn="ctr" defTabSz="533387">
              <a:lnSpc>
                <a:spcPct val="90000"/>
              </a:lnSpc>
              <a:spcBef>
                <a:spcPct val="0"/>
              </a:spcBef>
              <a:spcAft>
                <a:spcPct val="35000"/>
              </a:spcAft>
            </a:pPr>
            <a:r>
              <a:rPr lang="en-US" sz="1600" b="1"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Process Parameters</a:t>
            </a:r>
            <a:endParaRPr lang="en-US" sz="1600" b="1" dirty="0">
              <a:solidFill>
                <a:srgbClr val="000000">
                  <a:hueOff val="0"/>
                  <a:satOff val="0"/>
                  <a:lumOff val="0"/>
                  <a:alphaOff val="0"/>
                </a:srgbClr>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E922E7C4-D732-9064-1EFC-9557E3765A55}"/>
              </a:ext>
            </a:extLst>
          </p:cNvPr>
          <p:cNvSpPr txBox="1"/>
          <p:nvPr/>
        </p:nvSpPr>
        <p:spPr>
          <a:xfrm>
            <a:off x="633451" y="3598747"/>
            <a:ext cx="1817065" cy="256538"/>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algn="ctr" defTabSz="533387">
              <a:lnSpc>
                <a:spcPct val="90000"/>
              </a:lnSpc>
              <a:spcBef>
                <a:spcPct val="0"/>
              </a:spcBef>
              <a:spcAft>
                <a:spcPct val="35000"/>
              </a:spcAft>
            </a:pPr>
            <a:r>
              <a:rPr lang="en-US" sz="1600" b="1"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Output Quality Parameters</a:t>
            </a:r>
          </a:p>
        </p:txBody>
      </p:sp>
      <p:sp>
        <p:nvSpPr>
          <p:cNvPr id="17" name="TextBox 16">
            <a:extLst>
              <a:ext uri="{FF2B5EF4-FFF2-40B4-BE49-F238E27FC236}">
                <a16:creationId xmlns:a16="http://schemas.microsoft.com/office/drawing/2014/main" id="{E2CBF7F5-6A9E-975B-8B5F-581429157648}"/>
              </a:ext>
            </a:extLst>
          </p:cNvPr>
          <p:cNvSpPr txBox="1"/>
          <p:nvPr/>
        </p:nvSpPr>
        <p:spPr>
          <a:xfrm>
            <a:off x="815474" y="5993571"/>
            <a:ext cx="1604085" cy="391420"/>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algn="ctr" defTabSz="533387">
              <a:lnSpc>
                <a:spcPct val="90000"/>
              </a:lnSpc>
              <a:spcBef>
                <a:spcPct val="0"/>
              </a:spcBef>
              <a:spcAft>
                <a:spcPct val="35000"/>
              </a:spcAft>
            </a:pPr>
            <a:r>
              <a:rPr lang="en-US" sz="1600" b="1" dirty="0">
                <a:solidFill>
                  <a:srgbClr val="000000">
                    <a:hueOff val="0"/>
                    <a:satOff val="0"/>
                    <a:lumOff val="0"/>
                    <a:alphaOff val="0"/>
                  </a:srgbClr>
                </a:solidFill>
                <a:latin typeface="Trebuchet MS" panose="020B0603020202020204" pitchFamily="34" charset="0"/>
              </a:rPr>
              <a:t>Analytics Tool</a:t>
            </a:r>
          </a:p>
        </p:txBody>
      </p:sp>
      <p:pic>
        <p:nvPicPr>
          <p:cNvPr id="19" name="Picture 18" descr="A diagram of a computer&#10;&#10;Description automatically generated">
            <a:extLst>
              <a:ext uri="{FF2B5EF4-FFF2-40B4-BE49-F238E27FC236}">
                <a16:creationId xmlns:a16="http://schemas.microsoft.com/office/drawing/2014/main" id="{81367821-61E0-2872-C101-A0B7C36F24A1}"/>
              </a:ext>
            </a:extLst>
          </p:cNvPr>
          <p:cNvPicPr>
            <a:picLocks noChangeAspect="1"/>
          </p:cNvPicPr>
          <p:nvPr/>
        </p:nvPicPr>
        <p:blipFill rotWithShape="1">
          <a:blip r:embed="rId7">
            <a:extLst>
              <a:ext uri="{28A0092B-C50C-407E-A947-70E740481C1C}">
                <a14:useLocalDpi xmlns:a14="http://schemas.microsoft.com/office/drawing/2010/main" val="0"/>
              </a:ext>
            </a:extLst>
          </a:blip>
          <a:srcRect l="3593" t="54334" r="43251" b="9136"/>
          <a:stretch/>
        </p:blipFill>
        <p:spPr>
          <a:xfrm>
            <a:off x="991641" y="5204540"/>
            <a:ext cx="1331591" cy="668077"/>
          </a:xfrm>
          <a:prstGeom prst="rect">
            <a:avLst/>
          </a:prstGeom>
        </p:spPr>
      </p:pic>
      <p:pic>
        <p:nvPicPr>
          <p:cNvPr id="21" name="Picture 20" descr="A blue text on a white background&#10;&#10;Description automatically generated">
            <a:extLst>
              <a:ext uri="{FF2B5EF4-FFF2-40B4-BE49-F238E27FC236}">
                <a16:creationId xmlns:a16="http://schemas.microsoft.com/office/drawing/2014/main" id="{24E42AA2-4364-3B64-540C-A4DBAFDD088A}"/>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3702" t="8999" r="4124" b="9208"/>
          <a:stretch/>
        </p:blipFill>
        <p:spPr>
          <a:xfrm>
            <a:off x="939993" y="4822014"/>
            <a:ext cx="1331591" cy="428820"/>
          </a:xfrm>
          <a:prstGeom prst="rect">
            <a:avLst/>
          </a:prstGeom>
        </p:spPr>
      </p:pic>
      <p:sp>
        <p:nvSpPr>
          <p:cNvPr id="23" name="Chevron 24">
            <a:extLst>
              <a:ext uri="{FF2B5EF4-FFF2-40B4-BE49-F238E27FC236}">
                <a16:creationId xmlns:a16="http://schemas.microsoft.com/office/drawing/2014/main" id="{980795F9-DA84-D12B-27AF-98277BD51ADB}"/>
              </a:ext>
            </a:extLst>
          </p:cNvPr>
          <p:cNvSpPr/>
          <p:nvPr/>
        </p:nvSpPr>
        <p:spPr>
          <a:xfrm rot="19678703">
            <a:off x="2462425" y="4076208"/>
            <a:ext cx="529246" cy="1278536"/>
          </a:xfrm>
          <a:prstGeom prst="chevron">
            <a:avLst>
              <a:gd name="adj" fmla="val 62310"/>
            </a:avLst>
          </a:prstGeom>
          <a:solidFill>
            <a:srgbClr val="F15D23"/>
          </a:solidFill>
        </p:spPr>
        <p:style>
          <a:lnRef idx="0">
            <a:schemeClr val="lt1">
              <a:hueOff val="0"/>
              <a:satOff val="0"/>
              <a:lumOff val="0"/>
              <a:alphaOff val="0"/>
            </a:schemeClr>
          </a:lnRef>
          <a:fillRef idx="1">
            <a:schemeClr val="accent5">
              <a:hueOff val="-7353344"/>
              <a:satOff val="-10228"/>
              <a:lumOff val="-3922"/>
              <a:alphaOff val="0"/>
            </a:schemeClr>
          </a:fillRef>
          <a:effectRef idx="0">
            <a:schemeClr val="accent5">
              <a:hueOff val="-7353344"/>
              <a:satOff val="-10228"/>
              <a:lumOff val="-3922"/>
              <a:alphaOff val="0"/>
            </a:schemeClr>
          </a:effectRef>
          <a:fontRef idx="minor">
            <a:schemeClr val="lt1"/>
          </a:fontRef>
        </p:style>
        <p:txBody>
          <a:bodyPr/>
          <a:lstStyle/>
          <a:p>
            <a:endParaRPr lang="en-US"/>
          </a:p>
        </p:txBody>
      </p:sp>
      <p:sp>
        <p:nvSpPr>
          <p:cNvPr id="24" name="Chevron 24">
            <a:extLst>
              <a:ext uri="{FF2B5EF4-FFF2-40B4-BE49-F238E27FC236}">
                <a16:creationId xmlns:a16="http://schemas.microsoft.com/office/drawing/2014/main" id="{980795F9-DA84-D12B-27AF-98277BD51ADB}"/>
              </a:ext>
            </a:extLst>
          </p:cNvPr>
          <p:cNvSpPr/>
          <p:nvPr/>
        </p:nvSpPr>
        <p:spPr>
          <a:xfrm rot="12205651" flipH="1">
            <a:off x="2635643" y="1975894"/>
            <a:ext cx="534060" cy="1853263"/>
          </a:xfrm>
          <a:prstGeom prst="chevron">
            <a:avLst>
              <a:gd name="adj" fmla="val 62310"/>
            </a:avLst>
          </a:prstGeom>
          <a:solidFill>
            <a:srgbClr val="F15D23"/>
          </a:solidFill>
        </p:spPr>
        <p:style>
          <a:lnRef idx="0">
            <a:schemeClr val="lt1">
              <a:hueOff val="0"/>
              <a:satOff val="0"/>
              <a:lumOff val="0"/>
              <a:alphaOff val="0"/>
            </a:schemeClr>
          </a:lnRef>
          <a:fillRef idx="1">
            <a:schemeClr val="accent5">
              <a:hueOff val="-7353344"/>
              <a:satOff val="-10228"/>
              <a:lumOff val="-3922"/>
              <a:alphaOff val="0"/>
            </a:schemeClr>
          </a:fillRef>
          <a:effectRef idx="0">
            <a:schemeClr val="accent5">
              <a:hueOff val="-7353344"/>
              <a:satOff val="-10228"/>
              <a:lumOff val="-3922"/>
              <a:alphaOff val="0"/>
            </a:schemeClr>
          </a:effectRef>
          <a:fontRef idx="minor">
            <a:schemeClr val="lt1"/>
          </a:fontRef>
        </p:style>
        <p:txBody>
          <a:bodyPr/>
          <a:lstStyle/>
          <a:p>
            <a:endParaRPr lang="en-US"/>
          </a:p>
        </p:txBody>
      </p:sp>
      <p:sp>
        <p:nvSpPr>
          <p:cNvPr id="25" name="TextBox 24">
            <a:extLst>
              <a:ext uri="{FF2B5EF4-FFF2-40B4-BE49-F238E27FC236}">
                <a16:creationId xmlns:a16="http://schemas.microsoft.com/office/drawing/2014/main" id="{E922E7C4-D732-9064-1EFC-9557E3765A55}"/>
              </a:ext>
            </a:extLst>
          </p:cNvPr>
          <p:cNvSpPr txBox="1"/>
          <p:nvPr/>
        </p:nvSpPr>
        <p:spPr>
          <a:xfrm>
            <a:off x="3006848" y="4198298"/>
            <a:ext cx="1735476" cy="264304"/>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algn="ctr" defTabSz="533387">
              <a:lnSpc>
                <a:spcPct val="90000"/>
              </a:lnSpc>
              <a:spcBef>
                <a:spcPct val="0"/>
              </a:spcBef>
              <a:spcAft>
                <a:spcPct val="35000"/>
              </a:spcAft>
            </a:pPr>
            <a:r>
              <a:rPr lang="en-US" sz="1600" b="1"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Analytical base table</a:t>
            </a:r>
            <a:endParaRPr lang="en-US" sz="1600" b="1" dirty="0">
              <a:solidFill>
                <a:srgbClr val="000000">
                  <a:hueOff val="0"/>
                  <a:satOff val="0"/>
                  <a:lumOff val="0"/>
                  <a:alphaOff val="0"/>
                </a:srgbClr>
              </a:solidFill>
              <a:latin typeface="Times New Roman" panose="02020603050405020304" pitchFamily="18" charset="0"/>
              <a:cs typeface="Times New Roman" panose="02020603050405020304" pitchFamily="18" charset="0"/>
            </a:endParaRPr>
          </a:p>
        </p:txBody>
      </p:sp>
      <p:sp>
        <p:nvSpPr>
          <p:cNvPr id="26" name="Chevron 24">
            <a:extLst>
              <a:ext uri="{FF2B5EF4-FFF2-40B4-BE49-F238E27FC236}">
                <a16:creationId xmlns:a16="http://schemas.microsoft.com/office/drawing/2014/main" id="{980795F9-DA84-D12B-27AF-98277BD51ADB}"/>
              </a:ext>
            </a:extLst>
          </p:cNvPr>
          <p:cNvSpPr/>
          <p:nvPr/>
        </p:nvSpPr>
        <p:spPr>
          <a:xfrm rot="10800000" flipH="1">
            <a:off x="4681013" y="2825618"/>
            <a:ext cx="530293" cy="1842129"/>
          </a:xfrm>
          <a:prstGeom prst="chevron">
            <a:avLst>
              <a:gd name="adj" fmla="val 62310"/>
            </a:avLst>
          </a:prstGeom>
          <a:solidFill>
            <a:srgbClr val="F15D23"/>
          </a:solidFill>
        </p:spPr>
        <p:style>
          <a:lnRef idx="0">
            <a:schemeClr val="lt1">
              <a:hueOff val="0"/>
              <a:satOff val="0"/>
              <a:lumOff val="0"/>
              <a:alphaOff val="0"/>
            </a:schemeClr>
          </a:lnRef>
          <a:fillRef idx="1">
            <a:schemeClr val="accent5">
              <a:hueOff val="-7353344"/>
              <a:satOff val="-10228"/>
              <a:lumOff val="-3922"/>
              <a:alphaOff val="0"/>
            </a:schemeClr>
          </a:fillRef>
          <a:effectRef idx="0">
            <a:schemeClr val="accent5">
              <a:hueOff val="-7353344"/>
              <a:satOff val="-10228"/>
              <a:lumOff val="-3922"/>
              <a:alphaOff val="0"/>
            </a:schemeClr>
          </a:effectRef>
          <a:fontRef idx="minor">
            <a:schemeClr val="lt1"/>
          </a:fontRef>
        </p:style>
        <p:txBody>
          <a:bodyPr/>
          <a:lstStyle/>
          <a:p>
            <a:endParaRPr lang="en-US"/>
          </a:p>
        </p:txBody>
      </p:sp>
      <p:sp>
        <p:nvSpPr>
          <p:cNvPr id="27" name="Freeform: Shape 25">
            <a:extLst>
              <a:ext uri="{FF2B5EF4-FFF2-40B4-BE49-F238E27FC236}">
                <a16:creationId xmlns:a16="http://schemas.microsoft.com/office/drawing/2014/main" id="{5372290A-0799-C1EC-28FB-7B2112E7C3B0}"/>
              </a:ext>
            </a:extLst>
          </p:cNvPr>
          <p:cNvSpPr/>
          <p:nvPr/>
        </p:nvSpPr>
        <p:spPr>
          <a:xfrm>
            <a:off x="5150941" y="3400765"/>
            <a:ext cx="1198185" cy="909039"/>
          </a:xfrm>
          <a:custGeom>
            <a:avLst/>
            <a:gdLst>
              <a:gd name="connsiteX0" fmla="*/ 0 w 1275873"/>
              <a:gd name="connsiteY0" fmla="*/ 0 h 893111"/>
              <a:gd name="connsiteX1" fmla="*/ 1275873 w 1275873"/>
              <a:gd name="connsiteY1" fmla="*/ 0 h 893111"/>
              <a:gd name="connsiteX2" fmla="*/ 1275873 w 1275873"/>
              <a:gd name="connsiteY2" fmla="*/ 893111 h 893111"/>
              <a:gd name="connsiteX3" fmla="*/ 0 w 1275873"/>
              <a:gd name="connsiteY3" fmla="*/ 893111 h 893111"/>
              <a:gd name="connsiteX4" fmla="*/ 0 w 1275873"/>
              <a:gd name="connsiteY4" fmla="*/ 0 h 893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5873" h="893111">
                <a:moveTo>
                  <a:pt x="0" y="0"/>
                </a:moveTo>
                <a:lnTo>
                  <a:pt x="1275873" y="0"/>
                </a:lnTo>
                <a:lnTo>
                  <a:pt x="1275873" y="893111"/>
                </a:lnTo>
                <a:lnTo>
                  <a:pt x="0" y="893111"/>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600" b="1" kern="1200"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Correlation Analysis</a:t>
            </a:r>
            <a:endParaRPr lang="en-US" sz="1600" b="1" kern="1200" dirty="0">
              <a:solidFill>
                <a:srgbClr val="000000">
                  <a:hueOff val="0"/>
                  <a:satOff val="0"/>
                  <a:lumOff val="0"/>
                  <a:alphaOff val="0"/>
                </a:srgbClr>
              </a:solidFill>
              <a:latin typeface="Times New Roman" panose="02020603050405020304" pitchFamily="18" charset="0"/>
              <a:cs typeface="Times New Roman" panose="02020603050405020304" pitchFamily="18" charset="0"/>
            </a:endParaRPr>
          </a:p>
        </p:txBody>
      </p:sp>
      <p:sp>
        <p:nvSpPr>
          <p:cNvPr id="28" name="Chevron 24">
            <a:extLst>
              <a:ext uri="{FF2B5EF4-FFF2-40B4-BE49-F238E27FC236}">
                <a16:creationId xmlns:a16="http://schemas.microsoft.com/office/drawing/2014/main" id="{980795F9-DA84-D12B-27AF-98277BD51ADB}"/>
              </a:ext>
            </a:extLst>
          </p:cNvPr>
          <p:cNvSpPr/>
          <p:nvPr/>
        </p:nvSpPr>
        <p:spPr>
          <a:xfrm rot="10800000" flipH="1">
            <a:off x="6136346" y="2892213"/>
            <a:ext cx="530293" cy="1842129"/>
          </a:xfrm>
          <a:prstGeom prst="chevron">
            <a:avLst>
              <a:gd name="adj" fmla="val 62310"/>
            </a:avLst>
          </a:prstGeom>
          <a:solidFill>
            <a:srgbClr val="F15D23"/>
          </a:solidFill>
        </p:spPr>
        <p:style>
          <a:lnRef idx="0">
            <a:schemeClr val="lt1">
              <a:hueOff val="0"/>
              <a:satOff val="0"/>
              <a:lumOff val="0"/>
              <a:alphaOff val="0"/>
            </a:schemeClr>
          </a:lnRef>
          <a:fillRef idx="1">
            <a:schemeClr val="accent5">
              <a:hueOff val="-7353344"/>
              <a:satOff val="-10228"/>
              <a:lumOff val="-3922"/>
              <a:alphaOff val="0"/>
            </a:schemeClr>
          </a:fillRef>
          <a:effectRef idx="0">
            <a:schemeClr val="accent5">
              <a:hueOff val="-7353344"/>
              <a:satOff val="-10228"/>
              <a:lumOff val="-3922"/>
              <a:alphaOff val="0"/>
            </a:schemeClr>
          </a:effectRef>
          <a:fontRef idx="minor">
            <a:schemeClr val="lt1"/>
          </a:fontRef>
        </p:style>
        <p:txBody>
          <a:bodyPr/>
          <a:lstStyle/>
          <a:p>
            <a:endParaRPr lang="en-US"/>
          </a:p>
        </p:txBody>
      </p:sp>
      <p:sp>
        <p:nvSpPr>
          <p:cNvPr id="29" name="Freeform: Shape 25">
            <a:extLst>
              <a:ext uri="{FF2B5EF4-FFF2-40B4-BE49-F238E27FC236}">
                <a16:creationId xmlns:a16="http://schemas.microsoft.com/office/drawing/2014/main" id="{5372290A-0799-C1EC-28FB-7B2112E7C3B0}"/>
              </a:ext>
            </a:extLst>
          </p:cNvPr>
          <p:cNvSpPr/>
          <p:nvPr/>
        </p:nvSpPr>
        <p:spPr>
          <a:xfrm>
            <a:off x="6749548" y="3383791"/>
            <a:ext cx="1198185" cy="909039"/>
          </a:xfrm>
          <a:custGeom>
            <a:avLst/>
            <a:gdLst>
              <a:gd name="connsiteX0" fmla="*/ 0 w 1275873"/>
              <a:gd name="connsiteY0" fmla="*/ 0 h 893111"/>
              <a:gd name="connsiteX1" fmla="*/ 1275873 w 1275873"/>
              <a:gd name="connsiteY1" fmla="*/ 0 h 893111"/>
              <a:gd name="connsiteX2" fmla="*/ 1275873 w 1275873"/>
              <a:gd name="connsiteY2" fmla="*/ 893111 h 893111"/>
              <a:gd name="connsiteX3" fmla="*/ 0 w 1275873"/>
              <a:gd name="connsiteY3" fmla="*/ 893111 h 893111"/>
              <a:gd name="connsiteX4" fmla="*/ 0 w 1275873"/>
              <a:gd name="connsiteY4" fmla="*/ 0 h 893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5873" h="893111">
                <a:moveTo>
                  <a:pt x="0" y="0"/>
                </a:moveTo>
                <a:lnTo>
                  <a:pt x="1275873" y="0"/>
                </a:lnTo>
                <a:lnTo>
                  <a:pt x="1275873" y="893111"/>
                </a:lnTo>
                <a:lnTo>
                  <a:pt x="0" y="893111"/>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600" b="1" kern="1200"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Feature Engineering</a:t>
            </a:r>
            <a:endParaRPr lang="en-US" sz="1600" b="1" kern="1200" dirty="0">
              <a:solidFill>
                <a:srgbClr val="000000">
                  <a:hueOff val="0"/>
                  <a:satOff val="0"/>
                  <a:lumOff val="0"/>
                  <a:alphaOff val="0"/>
                </a:srgbClr>
              </a:solidFill>
              <a:latin typeface="Times New Roman" panose="02020603050405020304" pitchFamily="18" charset="0"/>
              <a:cs typeface="Times New Roman" panose="02020603050405020304" pitchFamily="18" charset="0"/>
            </a:endParaRPr>
          </a:p>
        </p:txBody>
      </p:sp>
      <p:sp>
        <p:nvSpPr>
          <p:cNvPr id="30" name="Chevron 24">
            <a:extLst>
              <a:ext uri="{FF2B5EF4-FFF2-40B4-BE49-F238E27FC236}">
                <a16:creationId xmlns:a16="http://schemas.microsoft.com/office/drawing/2014/main" id="{980795F9-DA84-D12B-27AF-98277BD51ADB}"/>
              </a:ext>
            </a:extLst>
          </p:cNvPr>
          <p:cNvSpPr/>
          <p:nvPr/>
        </p:nvSpPr>
        <p:spPr>
          <a:xfrm rot="10800000" flipH="1">
            <a:off x="7787645" y="2892214"/>
            <a:ext cx="530293" cy="1842129"/>
          </a:xfrm>
          <a:prstGeom prst="chevron">
            <a:avLst>
              <a:gd name="adj" fmla="val 62310"/>
            </a:avLst>
          </a:prstGeom>
          <a:solidFill>
            <a:srgbClr val="F15D23"/>
          </a:solidFill>
        </p:spPr>
        <p:style>
          <a:lnRef idx="0">
            <a:schemeClr val="lt1">
              <a:hueOff val="0"/>
              <a:satOff val="0"/>
              <a:lumOff val="0"/>
              <a:alphaOff val="0"/>
            </a:schemeClr>
          </a:lnRef>
          <a:fillRef idx="1">
            <a:schemeClr val="accent5">
              <a:hueOff val="-7353344"/>
              <a:satOff val="-10228"/>
              <a:lumOff val="-3922"/>
              <a:alphaOff val="0"/>
            </a:schemeClr>
          </a:fillRef>
          <a:effectRef idx="0">
            <a:schemeClr val="accent5">
              <a:hueOff val="-7353344"/>
              <a:satOff val="-10228"/>
              <a:lumOff val="-3922"/>
              <a:alphaOff val="0"/>
            </a:schemeClr>
          </a:effectRef>
          <a:fontRef idx="minor">
            <a:schemeClr val="lt1"/>
          </a:fontRef>
        </p:style>
        <p:txBody>
          <a:bodyPr/>
          <a:lstStyle/>
          <a:p>
            <a:endParaRPr lang="en-US"/>
          </a:p>
        </p:txBody>
      </p:sp>
      <p:sp>
        <p:nvSpPr>
          <p:cNvPr id="31" name="Freeform: Shape 25">
            <a:extLst>
              <a:ext uri="{FF2B5EF4-FFF2-40B4-BE49-F238E27FC236}">
                <a16:creationId xmlns:a16="http://schemas.microsoft.com/office/drawing/2014/main" id="{5372290A-0799-C1EC-28FB-7B2112E7C3B0}"/>
              </a:ext>
            </a:extLst>
          </p:cNvPr>
          <p:cNvSpPr/>
          <p:nvPr/>
        </p:nvSpPr>
        <p:spPr>
          <a:xfrm>
            <a:off x="8263464" y="3386776"/>
            <a:ext cx="1355093" cy="909039"/>
          </a:xfrm>
          <a:custGeom>
            <a:avLst/>
            <a:gdLst>
              <a:gd name="connsiteX0" fmla="*/ 0 w 1275873"/>
              <a:gd name="connsiteY0" fmla="*/ 0 h 893111"/>
              <a:gd name="connsiteX1" fmla="*/ 1275873 w 1275873"/>
              <a:gd name="connsiteY1" fmla="*/ 0 h 893111"/>
              <a:gd name="connsiteX2" fmla="*/ 1275873 w 1275873"/>
              <a:gd name="connsiteY2" fmla="*/ 893111 h 893111"/>
              <a:gd name="connsiteX3" fmla="*/ 0 w 1275873"/>
              <a:gd name="connsiteY3" fmla="*/ 893111 h 893111"/>
              <a:gd name="connsiteX4" fmla="*/ 0 w 1275873"/>
              <a:gd name="connsiteY4" fmla="*/ 0 h 8931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75873" h="893111">
                <a:moveTo>
                  <a:pt x="0" y="0"/>
                </a:moveTo>
                <a:lnTo>
                  <a:pt x="1275873" y="0"/>
                </a:lnTo>
                <a:lnTo>
                  <a:pt x="1275873" y="893111"/>
                </a:lnTo>
                <a:lnTo>
                  <a:pt x="0" y="893111"/>
                </a:lnTo>
                <a:lnTo>
                  <a:pt x="0" y="0"/>
                </a:lnTo>
                <a:close/>
              </a:path>
            </a:pathLst>
          </a:custGeom>
          <a:noFill/>
          <a:ln>
            <a:noFill/>
          </a:ln>
          <a:effectLst/>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600" b="1" dirty="0" smtClean="0">
                <a:solidFill>
                  <a:srgbClr val="000000">
                    <a:hueOff val="0"/>
                    <a:satOff val="0"/>
                    <a:lumOff val="0"/>
                    <a:alphaOff val="0"/>
                  </a:srgbClr>
                </a:solidFill>
                <a:latin typeface="Times New Roman" panose="02020603050405020304" pitchFamily="18" charset="0"/>
                <a:cs typeface="Times New Roman" panose="02020603050405020304" pitchFamily="18" charset="0"/>
              </a:rPr>
              <a:t>Classification Model Development</a:t>
            </a:r>
            <a:endParaRPr lang="en-US" sz="1600" b="1" kern="1200" dirty="0">
              <a:solidFill>
                <a:srgbClr val="000000">
                  <a:hueOff val="0"/>
                  <a:satOff val="0"/>
                  <a:lumOff val="0"/>
                  <a:alphaOff val="0"/>
                </a:srgbClr>
              </a:solidFill>
              <a:latin typeface="Times New Roman" panose="02020603050405020304" pitchFamily="18" charset="0"/>
              <a:cs typeface="Times New Roman" panose="02020603050405020304" pitchFamily="18" charset="0"/>
            </a:endParaRPr>
          </a:p>
        </p:txBody>
      </p:sp>
      <p:sp>
        <p:nvSpPr>
          <p:cNvPr id="33" name="Chevron 24">
            <a:extLst>
              <a:ext uri="{FF2B5EF4-FFF2-40B4-BE49-F238E27FC236}">
                <a16:creationId xmlns:a16="http://schemas.microsoft.com/office/drawing/2014/main" id="{980795F9-DA84-D12B-27AF-98277BD51ADB}"/>
              </a:ext>
            </a:extLst>
          </p:cNvPr>
          <p:cNvSpPr/>
          <p:nvPr/>
        </p:nvSpPr>
        <p:spPr>
          <a:xfrm rot="10800000" flipH="1">
            <a:off x="9392301" y="2892214"/>
            <a:ext cx="530293" cy="1842129"/>
          </a:xfrm>
          <a:prstGeom prst="chevron">
            <a:avLst>
              <a:gd name="adj" fmla="val 62310"/>
            </a:avLst>
          </a:prstGeom>
          <a:solidFill>
            <a:srgbClr val="F15D23"/>
          </a:solidFill>
        </p:spPr>
        <p:style>
          <a:lnRef idx="0">
            <a:schemeClr val="lt1">
              <a:hueOff val="0"/>
              <a:satOff val="0"/>
              <a:lumOff val="0"/>
              <a:alphaOff val="0"/>
            </a:schemeClr>
          </a:lnRef>
          <a:fillRef idx="1">
            <a:schemeClr val="accent5">
              <a:hueOff val="-7353344"/>
              <a:satOff val="-10228"/>
              <a:lumOff val="-3922"/>
              <a:alphaOff val="0"/>
            </a:schemeClr>
          </a:fillRef>
          <a:effectRef idx="0">
            <a:schemeClr val="accent5">
              <a:hueOff val="-7353344"/>
              <a:satOff val="-10228"/>
              <a:lumOff val="-3922"/>
              <a:alphaOff val="0"/>
            </a:schemeClr>
          </a:effectRef>
          <a:fontRef idx="minor">
            <a:schemeClr val="lt1"/>
          </a:fontRef>
        </p:style>
        <p:txBody>
          <a:bodyPr/>
          <a:lstStyle/>
          <a:p>
            <a:endParaRPr lang="en-US"/>
          </a:p>
        </p:txBody>
      </p:sp>
      <p:sp>
        <p:nvSpPr>
          <p:cNvPr id="34" name="Freeform: Shape 28">
            <a:extLst>
              <a:ext uri="{FF2B5EF4-FFF2-40B4-BE49-F238E27FC236}">
                <a16:creationId xmlns:a16="http://schemas.microsoft.com/office/drawing/2014/main" id="{9EDF6500-EDF9-0050-E7FF-EC434DE63625}"/>
              </a:ext>
            </a:extLst>
          </p:cNvPr>
          <p:cNvSpPr/>
          <p:nvPr/>
        </p:nvSpPr>
        <p:spPr>
          <a:xfrm>
            <a:off x="9968909" y="2507641"/>
            <a:ext cx="2149381" cy="2182211"/>
          </a:xfrm>
          <a:custGeom>
            <a:avLst/>
            <a:gdLst>
              <a:gd name="connsiteX0" fmla="*/ 0 w 2306059"/>
              <a:gd name="connsiteY0" fmla="*/ 1170642 h 2341284"/>
              <a:gd name="connsiteX1" fmla="*/ 1153030 w 2306059"/>
              <a:gd name="connsiteY1" fmla="*/ 0 h 2341284"/>
              <a:gd name="connsiteX2" fmla="*/ 2306060 w 2306059"/>
              <a:gd name="connsiteY2" fmla="*/ 1170642 h 2341284"/>
              <a:gd name="connsiteX3" fmla="*/ 1153030 w 2306059"/>
              <a:gd name="connsiteY3" fmla="*/ 2341284 h 2341284"/>
              <a:gd name="connsiteX4" fmla="*/ 0 w 2306059"/>
              <a:gd name="connsiteY4" fmla="*/ 1170642 h 23412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6059" h="2341284">
                <a:moveTo>
                  <a:pt x="0" y="1170642"/>
                </a:moveTo>
                <a:cubicBezTo>
                  <a:pt x="0" y="524114"/>
                  <a:pt x="516229" y="0"/>
                  <a:pt x="1153030" y="0"/>
                </a:cubicBezTo>
                <a:cubicBezTo>
                  <a:pt x="1789831" y="0"/>
                  <a:pt x="2306060" y="524114"/>
                  <a:pt x="2306060" y="1170642"/>
                </a:cubicBezTo>
                <a:cubicBezTo>
                  <a:pt x="2306060" y="1817170"/>
                  <a:pt x="1789831" y="2341284"/>
                  <a:pt x="1153030" y="2341284"/>
                </a:cubicBezTo>
                <a:cubicBezTo>
                  <a:pt x="516229" y="2341284"/>
                  <a:pt x="0" y="1817170"/>
                  <a:pt x="0" y="1170642"/>
                </a:cubicBezTo>
                <a:close/>
              </a:path>
            </a:pathLst>
          </a:custGeom>
          <a:solidFill>
            <a:srgbClr val="005981"/>
          </a:solidFill>
        </p:spPr>
        <p:style>
          <a:lnRef idx="0">
            <a:schemeClr val="lt1">
              <a:hueOff val="0"/>
              <a:satOff val="0"/>
              <a:lumOff val="0"/>
              <a:alphaOff val="0"/>
            </a:schemeClr>
          </a:lnRef>
          <a:fillRef idx="3">
            <a:schemeClr val="accent3">
              <a:hueOff val="0"/>
              <a:satOff val="0"/>
              <a:lumOff val="0"/>
              <a:alphaOff val="0"/>
            </a:schemeClr>
          </a:fillRef>
          <a:effectRef idx="2">
            <a:schemeClr val="accent3">
              <a:hueOff val="0"/>
              <a:satOff val="0"/>
              <a:lumOff val="0"/>
              <a:alphaOff val="0"/>
            </a:schemeClr>
          </a:effectRef>
          <a:fontRef idx="minor">
            <a:schemeClr val="lt1"/>
          </a:fontRef>
        </p:style>
        <p:txBody>
          <a:bodyPr spcFirstLastPara="0" vert="horz" wrap="square" lIns="372005" tIns="377163" rIns="372005" bIns="377163" numCol="1" spcCol="1270" anchor="ctr" anchorCtr="0">
            <a:noAutofit/>
          </a:bodyPr>
          <a:lstStyle/>
          <a:p>
            <a:pPr marL="0" lvl="0" indent="0" algn="ctr" defTabSz="400050">
              <a:lnSpc>
                <a:spcPct val="90000"/>
              </a:lnSpc>
              <a:spcBef>
                <a:spcPct val="0"/>
              </a:spcBef>
              <a:spcAft>
                <a:spcPct val="35000"/>
              </a:spcAft>
              <a:buNone/>
            </a:pPr>
            <a:r>
              <a:rPr lang="en-US" sz="1200" b="1" kern="1200" dirty="0">
                <a:solidFill>
                  <a:schemeClr val="bg1"/>
                </a:solidFill>
                <a:latin typeface="Trebuchet MS" panose="020B0603020202020204" pitchFamily="34" charset="0"/>
              </a:rPr>
              <a:t>Automated </a:t>
            </a:r>
            <a:r>
              <a:rPr lang="en-US" sz="1200" b="1" dirty="0">
                <a:solidFill>
                  <a:schemeClr val="bg1"/>
                </a:solidFill>
                <a:latin typeface="Trebuchet MS" panose="020B0603020202020204" pitchFamily="34" charset="0"/>
              </a:rPr>
              <a:t>Promotion</a:t>
            </a:r>
            <a:r>
              <a:rPr lang="en-US" sz="1200" b="1" kern="1200" dirty="0">
                <a:solidFill>
                  <a:schemeClr val="bg1"/>
                </a:solidFill>
                <a:latin typeface="Trebuchet MS" panose="020B0603020202020204" pitchFamily="34" charset="0"/>
              </a:rPr>
              <a:t> Analytics &amp; reports</a:t>
            </a:r>
            <a:endParaRPr lang="en-US" sz="1200" kern="1200" dirty="0">
              <a:solidFill>
                <a:schemeClr val="bg1"/>
              </a:solidFill>
              <a:latin typeface="Trebuchet MS" panose="020B0603020202020204" pitchFamily="34" charset="0"/>
            </a:endParaRPr>
          </a:p>
        </p:txBody>
      </p:sp>
      <p:sp>
        <p:nvSpPr>
          <p:cNvPr id="35" name="Oval 34">
            <a:extLst>
              <a:ext uri="{FF2B5EF4-FFF2-40B4-BE49-F238E27FC236}">
                <a16:creationId xmlns:a16="http://schemas.microsoft.com/office/drawing/2014/main" id="{9BCC0693-05F2-9C1D-8AEA-9BCF224BB6E3}"/>
              </a:ext>
            </a:extLst>
          </p:cNvPr>
          <p:cNvSpPr/>
          <p:nvPr/>
        </p:nvSpPr>
        <p:spPr>
          <a:xfrm>
            <a:off x="10966947" y="2811785"/>
            <a:ext cx="156027" cy="156094"/>
          </a:xfrm>
          <a:prstGeom prst="ellipse">
            <a:avLst/>
          </a:pr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a:lstStyle/>
          <a:p>
            <a:endParaRPr lang="en-US"/>
          </a:p>
        </p:txBody>
      </p:sp>
      <p:sp>
        <p:nvSpPr>
          <p:cNvPr id="36" name="Oval 35">
            <a:extLst>
              <a:ext uri="{FF2B5EF4-FFF2-40B4-BE49-F238E27FC236}">
                <a16:creationId xmlns:a16="http://schemas.microsoft.com/office/drawing/2014/main" id="{F5E5D3B3-9F27-A495-2F53-00773338EB68}"/>
              </a:ext>
            </a:extLst>
          </p:cNvPr>
          <p:cNvSpPr/>
          <p:nvPr/>
        </p:nvSpPr>
        <p:spPr>
          <a:xfrm>
            <a:off x="10597605" y="4174991"/>
            <a:ext cx="113134" cy="113135"/>
          </a:xfrm>
          <a:prstGeom prst="ellipse">
            <a:avLst/>
          </a:prstGeom>
        </p:spPr>
        <p:style>
          <a:lnRef idx="0">
            <a:schemeClr val="lt1">
              <a:hueOff val="0"/>
              <a:satOff val="0"/>
              <a:lumOff val="0"/>
              <a:alphaOff val="0"/>
            </a:schemeClr>
          </a:lnRef>
          <a:fillRef idx="3">
            <a:schemeClr val="accent4">
              <a:hueOff val="700064"/>
              <a:satOff val="-2913"/>
              <a:lumOff val="686"/>
              <a:alphaOff val="0"/>
            </a:schemeClr>
          </a:fillRef>
          <a:effectRef idx="2">
            <a:schemeClr val="accent4">
              <a:hueOff val="700064"/>
              <a:satOff val="-2913"/>
              <a:lumOff val="686"/>
              <a:alphaOff val="0"/>
            </a:schemeClr>
          </a:effectRef>
          <a:fontRef idx="minor">
            <a:schemeClr val="lt1"/>
          </a:fontRef>
        </p:style>
        <p:txBody>
          <a:bodyPr/>
          <a:lstStyle/>
          <a:p>
            <a:endParaRPr lang="en-US"/>
          </a:p>
        </p:txBody>
      </p:sp>
      <p:sp>
        <p:nvSpPr>
          <p:cNvPr id="37" name="Oval 36">
            <a:extLst>
              <a:ext uri="{FF2B5EF4-FFF2-40B4-BE49-F238E27FC236}">
                <a16:creationId xmlns:a16="http://schemas.microsoft.com/office/drawing/2014/main" id="{2CCC7A93-B56D-F350-47CA-87183143E23A}"/>
              </a:ext>
            </a:extLst>
          </p:cNvPr>
          <p:cNvSpPr/>
          <p:nvPr/>
        </p:nvSpPr>
        <p:spPr>
          <a:xfrm>
            <a:off x="11659860" y="3445346"/>
            <a:ext cx="113134" cy="113135"/>
          </a:xfrm>
          <a:prstGeom prst="ellipse">
            <a:avLst/>
          </a:prstGeom>
        </p:spPr>
        <p:style>
          <a:lnRef idx="0">
            <a:schemeClr val="lt1">
              <a:hueOff val="0"/>
              <a:satOff val="0"/>
              <a:lumOff val="0"/>
              <a:alphaOff val="0"/>
            </a:schemeClr>
          </a:lnRef>
          <a:fillRef idx="3">
            <a:schemeClr val="accent4">
              <a:hueOff val="1400127"/>
              <a:satOff val="-5825"/>
              <a:lumOff val="1373"/>
              <a:alphaOff val="0"/>
            </a:schemeClr>
          </a:fillRef>
          <a:effectRef idx="2">
            <a:schemeClr val="accent4">
              <a:hueOff val="1400127"/>
              <a:satOff val="-5825"/>
              <a:lumOff val="1373"/>
              <a:alphaOff val="0"/>
            </a:schemeClr>
          </a:effectRef>
          <a:fontRef idx="minor">
            <a:schemeClr val="lt1"/>
          </a:fontRef>
        </p:style>
        <p:txBody>
          <a:bodyPr/>
          <a:lstStyle/>
          <a:p>
            <a:endParaRPr lang="en-US"/>
          </a:p>
        </p:txBody>
      </p:sp>
      <p:sp>
        <p:nvSpPr>
          <p:cNvPr id="38" name="Oval 37">
            <a:extLst>
              <a:ext uri="{FF2B5EF4-FFF2-40B4-BE49-F238E27FC236}">
                <a16:creationId xmlns:a16="http://schemas.microsoft.com/office/drawing/2014/main" id="{C1801B3C-31D3-701D-634C-1BBBF524EAE6}"/>
              </a:ext>
            </a:extLst>
          </p:cNvPr>
          <p:cNvSpPr/>
          <p:nvPr/>
        </p:nvSpPr>
        <p:spPr>
          <a:xfrm>
            <a:off x="11119233" y="4295341"/>
            <a:ext cx="156027" cy="156094"/>
          </a:xfrm>
          <a:prstGeom prst="ellipse">
            <a:avLst/>
          </a:prstGeom>
        </p:spPr>
        <p:style>
          <a:lnRef idx="0">
            <a:schemeClr val="lt1">
              <a:hueOff val="0"/>
              <a:satOff val="0"/>
              <a:lumOff val="0"/>
              <a:alphaOff val="0"/>
            </a:schemeClr>
          </a:lnRef>
          <a:fillRef idx="3">
            <a:schemeClr val="accent4">
              <a:hueOff val="2100191"/>
              <a:satOff val="-8738"/>
              <a:lumOff val="2059"/>
              <a:alphaOff val="0"/>
            </a:schemeClr>
          </a:fillRef>
          <a:effectRef idx="2">
            <a:schemeClr val="accent4">
              <a:hueOff val="2100191"/>
              <a:satOff val="-8738"/>
              <a:lumOff val="2059"/>
              <a:alphaOff val="0"/>
            </a:schemeClr>
          </a:effectRef>
          <a:fontRef idx="minor">
            <a:schemeClr val="lt1"/>
          </a:fontRef>
        </p:style>
        <p:txBody>
          <a:bodyPr/>
          <a:lstStyle/>
          <a:p>
            <a:endParaRPr lang="en-US"/>
          </a:p>
        </p:txBody>
      </p:sp>
      <p:sp>
        <p:nvSpPr>
          <p:cNvPr id="39" name="Oval 38">
            <a:extLst>
              <a:ext uri="{FF2B5EF4-FFF2-40B4-BE49-F238E27FC236}">
                <a16:creationId xmlns:a16="http://schemas.microsoft.com/office/drawing/2014/main" id="{BE23E013-34EF-64E1-7BDC-66FB1B34E8BE}"/>
              </a:ext>
            </a:extLst>
          </p:cNvPr>
          <p:cNvSpPr/>
          <p:nvPr/>
        </p:nvSpPr>
        <p:spPr>
          <a:xfrm>
            <a:off x="10629272" y="3033629"/>
            <a:ext cx="113134" cy="113135"/>
          </a:xfrm>
          <a:prstGeom prst="ellipse">
            <a:avLst/>
          </a:prstGeom>
        </p:spPr>
        <p:style>
          <a:lnRef idx="0">
            <a:schemeClr val="lt1">
              <a:hueOff val="0"/>
              <a:satOff val="0"/>
              <a:lumOff val="0"/>
              <a:alphaOff val="0"/>
            </a:schemeClr>
          </a:lnRef>
          <a:fillRef idx="3">
            <a:schemeClr val="accent4">
              <a:hueOff val="2800255"/>
              <a:satOff val="-11651"/>
              <a:lumOff val="2745"/>
              <a:alphaOff val="0"/>
            </a:schemeClr>
          </a:fillRef>
          <a:effectRef idx="2">
            <a:schemeClr val="accent4">
              <a:hueOff val="2800255"/>
              <a:satOff val="-11651"/>
              <a:lumOff val="2745"/>
              <a:alphaOff val="0"/>
            </a:schemeClr>
          </a:effectRef>
          <a:fontRef idx="minor">
            <a:schemeClr val="lt1"/>
          </a:fontRef>
        </p:style>
        <p:txBody>
          <a:bodyPr/>
          <a:lstStyle/>
          <a:p>
            <a:endParaRPr lang="en-US"/>
          </a:p>
        </p:txBody>
      </p:sp>
      <p:sp>
        <p:nvSpPr>
          <p:cNvPr id="40" name="Oval 39">
            <a:extLst>
              <a:ext uri="{FF2B5EF4-FFF2-40B4-BE49-F238E27FC236}">
                <a16:creationId xmlns:a16="http://schemas.microsoft.com/office/drawing/2014/main" id="{81D603C5-2230-0EFF-62C2-F90A13C1F8E9}"/>
              </a:ext>
            </a:extLst>
          </p:cNvPr>
          <p:cNvSpPr/>
          <p:nvPr/>
        </p:nvSpPr>
        <p:spPr>
          <a:xfrm>
            <a:off x="10273172" y="3776692"/>
            <a:ext cx="113134" cy="113135"/>
          </a:xfrm>
          <a:prstGeom prst="ellipse">
            <a:avLst/>
          </a:prstGeom>
        </p:spPr>
        <p:style>
          <a:lnRef idx="0">
            <a:schemeClr val="lt1">
              <a:hueOff val="0"/>
              <a:satOff val="0"/>
              <a:lumOff val="0"/>
              <a:alphaOff val="0"/>
            </a:schemeClr>
          </a:lnRef>
          <a:fillRef idx="3">
            <a:schemeClr val="accent4">
              <a:hueOff val="3500318"/>
              <a:satOff val="-14563"/>
              <a:lumOff val="3431"/>
              <a:alphaOff val="0"/>
            </a:schemeClr>
          </a:fillRef>
          <a:effectRef idx="2">
            <a:schemeClr val="accent4">
              <a:hueOff val="3500318"/>
              <a:satOff val="-14563"/>
              <a:lumOff val="3431"/>
              <a:alphaOff val="0"/>
            </a:schemeClr>
          </a:effectRef>
          <a:fontRef idx="minor">
            <a:schemeClr val="lt1"/>
          </a:fontRef>
        </p:style>
        <p:txBody>
          <a:bodyPr/>
          <a:lstStyle/>
          <a:p>
            <a:endParaRPr lang="en-US"/>
          </a:p>
        </p:txBody>
      </p:sp>
      <p:sp>
        <p:nvSpPr>
          <p:cNvPr id="41" name="Oval 40">
            <a:extLst>
              <a:ext uri="{FF2B5EF4-FFF2-40B4-BE49-F238E27FC236}">
                <a16:creationId xmlns:a16="http://schemas.microsoft.com/office/drawing/2014/main" id="{9C3164C4-77B2-CAF2-B248-E39B23C304D1}"/>
              </a:ext>
            </a:extLst>
          </p:cNvPr>
          <p:cNvSpPr/>
          <p:nvPr/>
        </p:nvSpPr>
        <p:spPr>
          <a:xfrm>
            <a:off x="10809193" y="3038549"/>
            <a:ext cx="156027" cy="156094"/>
          </a:xfrm>
          <a:prstGeom prst="ellipse">
            <a:avLst/>
          </a:prstGeom>
        </p:spPr>
        <p:style>
          <a:lnRef idx="0">
            <a:schemeClr val="lt1">
              <a:hueOff val="0"/>
              <a:satOff val="0"/>
              <a:lumOff val="0"/>
              <a:alphaOff val="0"/>
            </a:schemeClr>
          </a:lnRef>
          <a:fillRef idx="3">
            <a:schemeClr val="accent4">
              <a:hueOff val="4900445"/>
              <a:satOff val="-20388"/>
              <a:lumOff val="4804"/>
              <a:alphaOff val="0"/>
            </a:schemeClr>
          </a:fillRef>
          <a:effectRef idx="2">
            <a:schemeClr val="accent4">
              <a:hueOff val="4900445"/>
              <a:satOff val="-20388"/>
              <a:lumOff val="4804"/>
              <a:alphaOff val="0"/>
            </a:schemeClr>
          </a:effectRef>
          <a:fontRef idx="minor">
            <a:schemeClr val="lt1"/>
          </a:fontRef>
        </p:style>
        <p:txBody>
          <a:bodyPr/>
          <a:lstStyle/>
          <a:p>
            <a:endParaRPr lang="en-US"/>
          </a:p>
        </p:txBody>
      </p:sp>
      <p:sp>
        <p:nvSpPr>
          <p:cNvPr id="42" name="Oval 41">
            <a:extLst>
              <a:ext uri="{FF2B5EF4-FFF2-40B4-BE49-F238E27FC236}">
                <a16:creationId xmlns:a16="http://schemas.microsoft.com/office/drawing/2014/main" id="{D521D7D2-496C-402F-83E4-268A98DC4109}"/>
              </a:ext>
            </a:extLst>
          </p:cNvPr>
          <p:cNvSpPr/>
          <p:nvPr/>
        </p:nvSpPr>
        <p:spPr>
          <a:xfrm>
            <a:off x="11458924" y="3254491"/>
            <a:ext cx="156027" cy="156094"/>
          </a:xfrm>
          <a:prstGeom prst="ellipse">
            <a:avLst/>
          </a:prstGeom>
        </p:spPr>
        <p:style>
          <a:lnRef idx="0">
            <a:schemeClr val="lt1">
              <a:hueOff val="0"/>
              <a:satOff val="0"/>
              <a:lumOff val="0"/>
              <a:alphaOff val="0"/>
            </a:schemeClr>
          </a:lnRef>
          <a:fillRef idx="3">
            <a:schemeClr val="accent4">
              <a:hueOff val="7000636"/>
              <a:satOff val="-29126"/>
              <a:lumOff val="6863"/>
              <a:alphaOff val="0"/>
            </a:schemeClr>
          </a:fillRef>
          <a:effectRef idx="2">
            <a:schemeClr val="accent4">
              <a:hueOff val="7000636"/>
              <a:satOff val="-29126"/>
              <a:lumOff val="6863"/>
              <a:alphaOff val="0"/>
            </a:schemeClr>
          </a:effectRef>
          <a:fontRef idx="minor">
            <a:schemeClr val="lt1"/>
          </a:fontRef>
        </p:style>
        <p:txBody>
          <a:bodyPr/>
          <a:lstStyle/>
          <a:p>
            <a:endParaRPr lang="en-US"/>
          </a:p>
        </p:txBody>
      </p:sp>
      <p:sp>
        <p:nvSpPr>
          <p:cNvPr id="43" name="Oval 42">
            <a:extLst>
              <a:ext uri="{FF2B5EF4-FFF2-40B4-BE49-F238E27FC236}">
                <a16:creationId xmlns:a16="http://schemas.microsoft.com/office/drawing/2014/main" id="{D698588A-26DE-1AFB-6D11-9C0063D2F553}"/>
              </a:ext>
            </a:extLst>
          </p:cNvPr>
          <p:cNvSpPr/>
          <p:nvPr/>
        </p:nvSpPr>
        <p:spPr>
          <a:xfrm>
            <a:off x="10801132" y="4041523"/>
            <a:ext cx="113134" cy="113135"/>
          </a:xfrm>
          <a:prstGeom prst="ellipse">
            <a:avLst/>
          </a:prstGeom>
        </p:spPr>
        <p:style>
          <a:lnRef idx="0">
            <a:schemeClr val="lt1">
              <a:hueOff val="0"/>
              <a:satOff val="0"/>
              <a:lumOff val="0"/>
              <a:alphaOff val="0"/>
            </a:schemeClr>
          </a:lnRef>
          <a:fillRef idx="3">
            <a:schemeClr val="accent4">
              <a:hueOff val="8400764"/>
              <a:satOff val="-34952"/>
              <a:lumOff val="8235"/>
              <a:alphaOff val="0"/>
            </a:schemeClr>
          </a:fillRef>
          <a:effectRef idx="2">
            <a:schemeClr val="accent4">
              <a:hueOff val="8400764"/>
              <a:satOff val="-34952"/>
              <a:lumOff val="8235"/>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253426796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2165"/>
            <a:ext cx="10515600" cy="531813"/>
          </a:xfrm>
        </p:spPr>
        <p:txBody>
          <a:bodyPr>
            <a:noAutofit/>
          </a:bodyPr>
          <a:lstStyle/>
          <a:p>
            <a:pPr algn="ctr"/>
            <a:r>
              <a:rPr lang="en-US" b="1" dirty="0">
                <a:solidFill>
                  <a:srgbClr val="000000"/>
                </a:solidFill>
                <a:latin typeface="Times New Roman" panose="02020603050405020304" pitchFamily="18" charset="0"/>
                <a:ea typeface="+mn-lt"/>
                <a:cs typeface="Times New Roman" panose="02020603050405020304" pitchFamily="18" charset="0"/>
              </a:rPr>
              <a:t>Efforts Estimates</a:t>
            </a:r>
            <a:endParaRPr lang="en-US" b="1" dirty="0">
              <a:solidFill>
                <a:srgbClr val="F15D23"/>
              </a:solidFill>
              <a:latin typeface="Times New Roman" panose="02020603050405020304" pitchFamily="18" charset="0"/>
              <a:ea typeface="+mn-lt"/>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0EA680-D336-4FF7-8B7A-9848BB0A1C32}" type="slidenum">
              <a:rPr lang="en-US" smtClean="0"/>
              <a:t>7</a:t>
            </a:fld>
            <a:endParaRPr lang="en-US"/>
          </a:p>
        </p:txBody>
      </p:sp>
      <p:graphicFrame>
        <p:nvGraphicFramePr>
          <p:cNvPr id="22" name="Object 21">
            <a:extLst>
              <a:ext uri="{FF2B5EF4-FFF2-40B4-BE49-F238E27FC236}">
                <a16:creationId xmlns:a16="http://schemas.microsoft.com/office/drawing/2014/main" id="{916C8FDB-97B2-CA08-754A-DD911A808420}"/>
              </a:ext>
            </a:extLst>
          </p:cNvPr>
          <p:cNvGraphicFramePr>
            <a:graphicFrameLocks noChangeAspect="1"/>
          </p:cNvGraphicFramePr>
          <p:nvPr>
            <p:extLst>
              <p:ext uri="{D42A27DB-BD31-4B8C-83A1-F6EECF244321}">
                <p14:modId xmlns:p14="http://schemas.microsoft.com/office/powerpoint/2010/main" val="1766835995"/>
              </p:ext>
            </p:extLst>
          </p:nvPr>
        </p:nvGraphicFramePr>
        <p:xfrm>
          <a:off x="2257878" y="1389063"/>
          <a:ext cx="7181850" cy="2049462"/>
        </p:xfrm>
        <a:graphic>
          <a:graphicData uri="http://schemas.openxmlformats.org/presentationml/2006/ole">
            <mc:AlternateContent xmlns:mc="http://schemas.openxmlformats.org/markup-compatibility/2006">
              <mc:Choice xmlns:v="urn:schemas-microsoft-com:vml" Requires="v">
                <p:oleObj spid="_x0000_s1049" name="Worksheet" r:id="rId4" imgW="4705489" imgH="1343222" progId="Excel.Sheet.12">
                  <p:embed/>
                </p:oleObj>
              </mc:Choice>
              <mc:Fallback>
                <p:oleObj name="Worksheet" r:id="rId4" imgW="4705489" imgH="1343222" progId="Excel.Sheet.12">
                  <p:embed/>
                  <p:pic>
                    <p:nvPicPr>
                      <p:cNvPr id="22" name="Object 21">
                        <a:extLst>
                          <a:ext uri="{FF2B5EF4-FFF2-40B4-BE49-F238E27FC236}">
                            <a16:creationId xmlns:a16="http://schemas.microsoft.com/office/drawing/2014/main" id="{916C8FDB-97B2-CA08-754A-DD911A808420}"/>
                          </a:ext>
                        </a:extLst>
                      </p:cNvPr>
                      <p:cNvPicPr/>
                      <p:nvPr/>
                    </p:nvPicPr>
                    <p:blipFill>
                      <a:blip r:embed="rId5"/>
                      <a:stretch>
                        <a:fillRect/>
                      </a:stretch>
                    </p:blipFill>
                    <p:spPr>
                      <a:xfrm>
                        <a:off x="2257878" y="1389063"/>
                        <a:ext cx="7181850" cy="2049462"/>
                      </a:xfrm>
                      <a:prstGeom prst="rect">
                        <a:avLst/>
                      </a:prstGeom>
                    </p:spPr>
                  </p:pic>
                </p:oleObj>
              </mc:Fallback>
            </mc:AlternateContent>
          </a:graphicData>
        </a:graphic>
      </p:graphicFrame>
      <p:sp>
        <p:nvSpPr>
          <p:cNvPr id="23" name="TextBox 22">
            <a:extLst>
              <a:ext uri="{FF2B5EF4-FFF2-40B4-BE49-F238E27FC236}">
                <a16:creationId xmlns:a16="http://schemas.microsoft.com/office/drawing/2014/main" id="{6F64E689-DAEF-4B6B-8DDC-9B0234E73B60}"/>
              </a:ext>
            </a:extLst>
          </p:cNvPr>
          <p:cNvSpPr txBox="1"/>
          <p:nvPr/>
        </p:nvSpPr>
        <p:spPr>
          <a:xfrm>
            <a:off x="1827395" y="4185951"/>
            <a:ext cx="8537209" cy="923330"/>
          </a:xfrm>
          <a:prstGeom prst="rect">
            <a:avLst/>
          </a:prstGeom>
          <a:noFill/>
        </p:spPr>
        <p:txBody>
          <a:bodyPr wrap="none" rtlCol="0">
            <a:spAutoFit/>
          </a:bodyPr>
          <a:lstStyle/>
          <a:p>
            <a:r>
              <a:rPr lang="en-US" dirty="0"/>
              <a:t>*Note: </a:t>
            </a:r>
          </a:p>
          <a:p>
            <a:r>
              <a:rPr lang="en-US" dirty="0"/>
              <a:t>1. Once the pilot framework is ready, PAN India implementation will take lesser time.</a:t>
            </a:r>
          </a:p>
          <a:p>
            <a:r>
              <a:rPr lang="en-US" dirty="0"/>
              <a:t>2. Above is indicative estimates and this may change based on scope finalization &amp; sign-off</a:t>
            </a:r>
          </a:p>
        </p:txBody>
      </p:sp>
      <p:pic>
        <p:nvPicPr>
          <p:cNvPr id="6" name="Picture 5"/>
          <p:cNvPicPr>
            <a:picLocks noChangeAspect="1"/>
          </p:cNvPicPr>
          <p:nvPr/>
        </p:nvPicPr>
        <p:blipFill>
          <a:blip r:embed="rId6"/>
          <a:stretch>
            <a:fillRect/>
          </a:stretch>
        </p:blipFill>
        <p:spPr>
          <a:xfrm>
            <a:off x="9753260" y="5419524"/>
            <a:ext cx="2438740" cy="1438476"/>
          </a:xfrm>
          <a:prstGeom prst="rect">
            <a:avLst/>
          </a:prstGeom>
        </p:spPr>
      </p:pic>
    </p:spTree>
    <p:extLst>
      <p:ext uri="{BB962C8B-B14F-4D97-AF65-F5344CB8AC3E}">
        <p14:creationId xmlns:p14="http://schemas.microsoft.com/office/powerpoint/2010/main" val="33680451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2165"/>
            <a:ext cx="10515600" cy="531813"/>
          </a:xfrm>
        </p:spPr>
        <p:txBody>
          <a:bodyPr>
            <a:noAutofit/>
          </a:bodyPr>
          <a:lstStyle/>
          <a:p>
            <a:pPr algn="ctr"/>
            <a:r>
              <a:rPr lang="en-US" b="1" dirty="0">
                <a:solidFill>
                  <a:srgbClr val="000000"/>
                </a:solidFill>
                <a:latin typeface="Times New Roman" panose="02020603050405020304" pitchFamily="18" charset="0"/>
                <a:ea typeface="+mn-lt"/>
                <a:cs typeface="Times New Roman" panose="02020603050405020304" pitchFamily="18" charset="0"/>
              </a:rPr>
              <a:t>High Level Plan (Indicative)</a:t>
            </a:r>
            <a:endParaRPr lang="en-US" b="1" dirty="0">
              <a:solidFill>
                <a:srgbClr val="F15D23"/>
              </a:solidFill>
              <a:latin typeface="Times New Roman" panose="02020603050405020304" pitchFamily="18" charset="0"/>
              <a:ea typeface="+mn-lt"/>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0EA680-D336-4FF7-8B7A-9848BB0A1C32}" type="slidenum">
              <a:rPr lang="en-US" smtClean="0"/>
              <a:t>8</a:t>
            </a:fld>
            <a:endParaRPr lang="en-US"/>
          </a:p>
        </p:txBody>
      </p:sp>
      <p:sp>
        <p:nvSpPr>
          <p:cNvPr id="6" name="TextBox 5">
            <a:extLst>
              <a:ext uri="{FF2B5EF4-FFF2-40B4-BE49-F238E27FC236}">
                <a16:creationId xmlns:a16="http://schemas.microsoft.com/office/drawing/2014/main" id="{51198948-81C4-62FB-F3CA-9C17C463F44D}"/>
              </a:ext>
            </a:extLst>
          </p:cNvPr>
          <p:cNvSpPr txBox="1"/>
          <p:nvPr/>
        </p:nvSpPr>
        <p:spPr>
          <a:xfrm>
            <a:off x="1024497" y="5270643"/>
            <a:ext cx="8386783" cy="369332"/>
          </a:xfrm>
          <a:prstGeom prst="rect">
            <a:avLst/>
          </a:prstGeom>
          <a:noFill/>
        </p:spPr>
        <p:txBody>
          <a:bodyPr wrap="none" rtlCol="0">
            <a:spAutoFit/>
          </a:bodyPr>
          <a:lstStyle/>
          <a:p>
            <a:r>
              <a:rPr lang="en-US" dirty="0"/>
              <a:t>Note: Above is indicative plan and this may change based on scope finalization &amp; sign-off</a:t>
            </a:r>
          </a:p>
        </p:txBody>
      </p:sp>
      <p:graphicFrame>
        <p:nvGraphicFramePr>
          <p:cNvPr id="7" name="Object 6">
            <a:extLst>
              <a:ext uri="{FF2B5EF4-FFF2-40B4-BE49-F238E27FC236}">
                <a16:creationId xmlns:a16="http://schemas.microsoft.com/office/drawing/2014/main" id="{B2679898-5CDE-A3E0-DF65-39E322C3DF9F}"/>
              </a:ext>
            </a:extLst>
          </p:cNvPr>
          <p:cNvGraphicFramePr>
            <a:graphicFrameLocks noChangeAspect="1"/>
          </p:cNvGraphicFramePr>
          <p:nvPr>
            <p:extLst>
              <p:ext uri="{D42A27DB-BD31-4B8C-83A1-F6EECF244321}">
                <p14:modId xmlns:p14="http://schemas.microsoft.com/office/powerpoint/2010/main" val="1961814312"/>
              </p:ext>
            </p:extLst>
          </p:nvPr>
        </p:nvGraphicFramePr>
        <p:xfrm>
          <a:off x="307181" y="1461181"/>
          <a:ext cx="11577637" cy="2649537"/>
        </p:xfrm>
        <a:graphic>
          <a:graphicData uri="http://schemas.openxmlformats.org/presentationml/2006/ole">
            <mc:AlternateContent xmlns:mc="http://schemas.openxmlformats.org/markup-compatibility/2006">
              <mc:Choice xmlns:v="urn:schemas-microsoft-com:vml" Requires="v">
                <p:oleObj spid="_x0000_s2073" name="Worksheet" r:id="rId4" imgW="9162966" imgH="2086093" progId="Excel.Sheet.12">
                  <p:embed/>
                </p:oleObj>
              </mc:Choice>
              <mc:Fallback>
                <p:oleObj name="Worksheet" r:id="rId4" imgW="9162966" imgH="2086093" progId="Excel.Sheet.12">
                  <p:embed/>
                  <p:pic>
                    <p:nvPicPr>
                      <p:cNvPr id="7" name="Object 6">
                        <a:extLst>
                          <a:ext uri="{FF2B5EF4-FFF2-40B4-BE49-F238E27FC236}">
                            <a16:creationId xmlns:a16="http://schemas.microsoft.com/office/drawing/2014/main" id="{B2679898-5CDE-A3E0-DF65-39E322C3DF9F}"/>
                          </a:ext>
                        </a:extLst>
                      </p:cNvPr>
                      <p:cNvPicPr/>
                      <p:nvPr/>
                    </p:nvPicPr>
                    <p:blipFill>
                      <a:blip r:embed="rId5"/>
                      <a:stretch>
                        <a:fillRect/>
                      </a:stretch>
                    </p:blipFill>
                    <p:spPr>
                      <a:xfrm>
                        <a:off x="307181" y="1461181"/>
                        <a:ext cx="11577637" cy="2649537"/>
                      </a:xfrm>
                      <a:prstGeom prst="rect">
                        <a:avLst/>
                      </a:prstGeom>
                    </p:spPr>
                  </p:pic>
                </p:oleObj>
              </mc:Fallback>
            </mc:AlternateContent>
          </a:graphicData>
        </a:graphic>
      </p:graphicFrame>
      <p:pic>
        <p:nvPicPr>
          <p:cNvPr id="8" name="Picture 7"/>
          <p:cNvPicPr>
            <a:picLocks noChangeAspect="1"/>
          </p:cNvPicPr>
          <p:nvPr/>
        </p:nvPicPr>
        <p:blipFill>
          <a:blip r:embed="rId6"/>
          <a:stretch>
            <a:fillRect/>
          </a:stretch>
        </p:blipFill>
        <p:spPr>
          <a:xfrm>
            <a:off x="9753260" y="5419524"/>
            <a:ext cx="2438740" cy="1438476"/>
          </a:xfrm>
          <a:prstGeom prst="rect">
            <a:avLst/>
          </a:prstGeom>
        </p:spPr>
      </p:pic>
    </p:spTree>
    <p:extLst>
      <p:ext uri="{BB962C8B-B14F-4D97-AF65-F5344CB8AC3E}">
        <p14:creationId xmlns:p14="http://schemas.microsoft.com/office/powerpoint/2010/main" val="12882443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2165"/>
            <a:ext cx="10515600" cy="531813"/>
          </a:xfrm>
        </p:spPr>
        <p:txBody>
          <a:bodyPr>
            <a:noAutofit/>
          </a:bodyPr>
          <a:lstStyle/>
          <a:p>
            <a:pPr algn="ctr"/>
            <a:r>
              <a:rPr lang="en-US" b="1" dirty="0">
                <a:solidFill>
                  <a:srgbClr val="000000"/>
                </a:solidFill>
                <a:latin typeface="Times New Roman" panose="02020603050405020304" pitchFamily="18" charset="0"/>
                <a:ea typeface="+mn-lt"/>
                <a:cs typeface="Times New Roman" panose="02020603050405020304" pitchFamily="18" charset="0"/>
              </a:rPr>
              <a:t>Indicative Cost</a:t>
            </a:r>
            <a:endParaRPr lang="en-US" b="1" dirty="0">
              <a:solidFill>
                <a:srgbClr val="F15D23"/>
              </a:solidFill>
              <a:latin typeface="Times New Roman" panose="02020603050405020304" pitchFamily="18" charset="0"/>
              <a:ea typeface="+mn-lt"/>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330EA680-D336-4FF7-8B7A-9848BB0A1C32}" type="slidenum">
              <a:rPr lang="en-US" smtClean="0"/>
              <a:t>9</a:t>
            </a:fld>
            <a:endParaRPr lang="en-US"/>
          </a:p>
        </p:txBody>
      </p:sp>
      <p:sp>
        <p:nvSpPr>
          <p:cNvPr id="3" name="TextBox 2">
            <a:extLst>
              <a:ext uri="{FF2B5EF4-FFF2-40B4-BE49-F238E27FC236}">
                <a16:creationId xmlns:a16="http://schemas.microsoft.com/office/drawing/2014/main" id="{63B5CB37-82AE-2C39-51E6-F39983F3D39E}"/>
              </a:ext>
            </a:extLst>
          </p:cNvPr>
          <p:cNvSpPr txBox="1"/>
          <p:nvPr/>
        </p:nvSpPr>
        <p:spPr>
          <a:xfrm>
            <a:off x="1024497" y="5270643"/>
            <a:ext cx="8386783" cy="369332"/>
          </a:xfrm>
          <a:prstGeom prst="rect">
            <a:avLst/>
          </a:prstGeom>
          <a:noFill/>
        </p:spPr>
        <p:txBody>
          <a:bodyPr wrap="none" rtlCol="0">
            <a:spAutoFit/>
          </a:bodyPr>
          <a:lstStyle/>
          <a:p>
            <a:r>
              <a:rPr lang="en-US" dirty="0"/>
              <a:t>Note: Above is indicative cost and this may change based on scope finalization &amp; sign-off</a:t>
            </a:r>
          </a:p>
        </p:txBody>
      </p:sp>
      <p:graphicFrame>
        <p:nvGraphicFramePr>
          <p:cNvPr id="7" name="Object 6">
            <a:extLst>
              <a:ext uri="{FF2B5EF4-FFF2-40B4-BE49-F238E27FC236}">
                <a16:creationId xmlns:a16="http://schemas.microsoft.com/office/drawing/2014/main" id="{1206FB66-B347-A6B8-EA94-74D5A8214E80}"/>
              </a:ext>
            </a:extLst>
          </p:cNvPr>
          <p:cNvGraphicFramePr>
            <a:graphicFrameLocks noChangeAspect="1"/>
          </p:cNvGraphicFramePr>
          <p:nvPr>
            <p:extLst/>
          </p:nvPr>
        </p:nvGraphicFramePr>
        <p:xfrm>
          <a:off x="1131271" y="2250040"/>
          <a:ext cx="9487990" cy="1559122"/>
        </p:xfrm>
        <a:graphic>
          <a:graphicData uri="http://schemas.openxmlformats.org/presentationml/2006/ole">
            <mc:AlternateContent xmlns:mc="http://schemas.openxmlformats.org/markup-compatibility/2006">
              <mc:Choice xmlns:v="urn:schemas-microsoft-com:vml" Requires="v">
                <p:oleObj spid="_x0000_s3094" name="Worksheet" r:id="rId4" imgW="4521299" imgH="742884" progId="Excel.Sheet.12">
                  <p:embed/>
                </p:oleObj>
              </mc:Choice>
              <mc:Fallback>
                <p:oleObj name="Worksheet" r:id="rId4" imgW="4521299" imgH="742884" progId="Excel.Sheet.12">
                  <p:embed/>
                  <p:pic>
                    <p:nvPicPr>
                      <p:cNvPr id="7" name="Object 6">
                        <a:extLst>
                          <a:ext uri="{FF2B5EF4-FFF2-40B4-BE49-F238E27FC236}">
                            <a16:creationId xmlns:a16="http://schemas.microsoft.com/office/drawing/2014/main" id="{1206FB66-B347-A6B8-EA94-74D5A8214E80}"/>
                          </a:ext>
                        </a:extLst>
                      </p:cNvPr>
                      <p:cNvPicPr/>
                      <p:nvPr/>
                    </p:nvPicPr>
                    <p:blipFill>
                      <a:blip r:embed="rId5"/>
                      <a:stretch>
                        <a:fillRect/>
                      </a:stretch>
                    </p:blipFill>
                    <p:spPr>
                      <a:xfrm>
                        <a:off x="1131271" y="2250040"/>
                        <a:ext cx="9487990" cy="1559122"/>
                      </a:xfrm>
                      <a:prstGeom prst="rect">
                        <a:avLst/>
                      </a:prstGeom>
                    </p:spPr>
                  </p:pic>
                </p:oleObj>
              </mc:Fallback>
            </mc:AlternateContent>
          </a:graphicData>
        </a:graphic>
      </p:graphicFrame>
      <p:pic>
        <p:nvPicPr>
          <p:cNvPr id="6" name="Picture 5"/>
          <p:cNvPicPr>
            <a:picLocks noChangeAspect="1"/>
          </p:cNvPicPr>
          <p:nvPr/>
        </p:nvPicPr>
        <p:blipFill>
          <a:blip r:embed="rId6"/>
          <a:stretch>
            <a:fillRect/>
          </a:stretch>
        </p:blipFill>
        <p:spPr>
          <a:xfrm>
            <a:off x="9753260" y="5419524"/>
            <a:ext cx="2438740" cy="1438476"/>
          </a:xfrm>
          <a:prstGeom prst="rect">
            <a:avLst/>
          </a:prstGeom>
        </p:spPr>
      </p:pic>
    </p:spTree>
    <p:extLst>
      <p:ext uri="{BB962C8B-B14F-4D97-AF65-F5344CB8AC3E}">
        <p14:creationId xmlns:p14="http://schemas.microsoft.com/office/powerpoint/2010/main" val="17656334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descr="A blue and orange background with lines&#10;&#10;Description automatically generated">
            <a:extLst>
              <a:ext uri="{FF2B5EF4-FFF2-40B4-BE49-F238E27FC236}">
                <a16:creationId xmlns:a16="http://schemas.microsoft.com/office/drawing/2014/main" id="{1123DB50-2B9F-82A4-C897-12462D26886C}"/>
              </a:ext>
            </a:extLst>
          </p:cNvPr>
          <p:cNvPicPr>
            <a:picLocks noChangeAspect="1"/>
          </p:cNvPicPr>
          <p:nvPr/>
        </p:nvPicPr>
        <p:blipFill>
          <a:blip r:embed="rId2"/>
          <a:stretch>
            <a:fillRect/>
          </a:stretch>
        </p:blipFill>
        <p:spPr>
          <a:xfrm>
            <a:off x="-1494" y="0"/>
            <a:ext cx="12193494" cy="6862108"/>
          </a:xfrm>
          <a:prstGeom prst="rect">
            <a:avLst/>
          </a:prstGeom>
        </p:spPr>
      </p:pic>
      <p:sp>
        <p:nvSpPr>
          <p:cNvPr id="35" name="TextBox 34">
            <a:extLst>
              <a:ext uri="{FF2B5EF4-FFF2-40B4-BE49-F238E27FC236}">
                <a16:creationId xmlns:a16="http://schemas.microsoft.com/office/drawing/2014/main" id="{147F6B6F-A520-6003-4C46-732752836BCB}"/>
              </a:ext>
            </a:extLst>
          </p:cNvPr>
          <p:cNvSpPr txBox="1"/>
          <p:nvPr/>
        </p:nvSpPr>
        <p:spPr>
          <a:xfrm>
            <a:off x="522941" y="2988235"/>
            <a:ext cx="236070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a:solidFill>
                  <a:srgbClr val="FFFFFF"/>
                </a:solidFill>
                <a:cs typeface="Calibri"/>
              </a:rPr>
              <a:t>Thank You!</a:t>
            </a:r>
          </a:p>
        </p:txBody>
      </p:sp>
      <p:pic>
        <p:nvPicPr>
          <p:cNvPr id="2" name="Picture 1" descr="A black and white logo&#10;&#10;Description automatically generated">
            <a:extLst>
              <a:ext uri="{FF2B5EF4-FFF2-40B4-BE49-F238E27FC236}">
                <a16:creationId xmlns:a16="http://schemas.microsoft.com/office/drawing/2014/main" id="{51C65C79-E27F-AAB0-89AD-080A69E2F4D5}"/>
              </a:ext>
            </a:extLst>
          </p:cNvPr>
          <p:cNvPicPr>
            <a:picLocks noChangeAspect="1"/>
          </p:cNvPicPr>
          <p:nvPr/>
        </p:nvPicPr>
        <p:blipFill>
          <a:blip r:embed="rId3"/>
          <a:stretch>
            <a:fillRect/>
          </a:stretch>
        </p:blipFill>
        <p:spPr>
          <a:xfrm>
            <a:off x="660307" y="3777129"/>
            <a:ext cx="2085975" cy="1066800"/>
          </a:xfrm>
          <a:prstGeom prst="rect">
            <a:avLst/>
          </a:prstGeom>
        </p:spPr>
      </p:pic>
    </p:spTree>
    <p:extLst>
      <p:ext uri="{BB962C8B-B14F-4D97-AF65-F5344CB8AC3E}">
        <p14:creationId xmlns:p14="http://schemas.microsoft.com/office/powerpoint/2010/main" val="39726452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2660</TotalTime>
  <Words>331</Words>
  <Application>Microsoft Office PowerPoint</Application>
  <PresentationFormat>Widescreen</PresentationFormat>
  <Paragraphs>49</Paragraphs>
  <Slides>10</Slides>
  <Notes>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10</vt:i4>
      </vt:variant>
    </vt:vector>
  </HeadingPairs>
  <TitlesOfParts>
    <vt:vector size="18" baseType="lpstr">
      <vt:lpstr>Arial</vt:lpstr>
      <vt:lpstr>Calibri</vt:lpstr>
      <vt:lpstr>Calibri Light</vt:lpstr>
      <vt:lpstr>Times New Roman</vt:lpstr>
      <vt:lpstr>Trebuchet MS</vt:lpstr>
      <vt:lpstr>Office Theme</vt:lpstr>
      <vt:lpstr>Microsoft Excel Worksheet</vt:lpstr>
      <vt:lpstr>Worksheet</vt:lpstr>
      <vt:lpstr>Diageo SMART Distillery Analytics</vt:lpstr>
      <vt:lpstr>Executive Summary</vt:lpstr>
      <vt:lpstr>Problem Statement</vt:lpstr>
      <vt:lpstr>PowerPoint Presentation</vt:lpstr>
      <vt:lpstr>PowerPoint Presentation</vt:lpstr>
      <vt:lpstr>PowerPoint Presentation</vt:lpstr>
      <vt:lpstr>Efforts Estimates</vt:lpstr>
      <vt:lpstr>High Level Plan (Indicative)</vt:lpstr>
      <vt:lpstr>Indicative Cost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Diageo Smart Distillery Analytics</dc:title>
  <dc:creator>admin</dc:creator>
  <cp:lastModifiedBy>admin</cp:lastModifiedBy>
  <cp:revision>30</cp:revision>
  <dcterms:created xsi:type="dcterms:W3CDTF">2024-09-23T06:17:06Z</dcterms:created>
  <dcterms:modified xsi:type="dcterms:W3CDTF">2024-09-27T06:37:01Z</dcterms:modified>
</cp:coreProperties>
</file>