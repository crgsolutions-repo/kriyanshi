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38"/>
  </p:notesMasterIdLst>
  <p:sldIdLst>
    <p:sldId id="256" r:id="rId5"/>
    <p:sldId id="385" r:id="rId6"/>
    <p:sldId id="273" r:id="rId7"/>
    <p:sldId id="394" r:id="rId8"/>
    <p:sldId id="288" r:id="rId9"/>
    <p:sldId id="403" r:id="rId10"/>
    <p:sldId id="404" r:id="rId11"/>
    <p:sldId id="406" r:id="rId12"/>
    <p:sldId id="396" r:id="rId13"/>
    <p:sldId id="397" r:id="rId14"/>
    <p:sldId id="395" r:id="rId15"/>
    <p:sldId id="398" r:id="rId16"/>
    <p:sldId id="415" r:id="rId17"/>
    <p:sldId id="410" r:id="rId18"/>
    <p:sldId id="411" r:id="rId19"/>
    <p:sldId id="413" r:id="rId20"/>
    <p:sldId id="417" r:id="rId21"/>
    <p:sldId id="434" r:id="rId22"/>
    <p:sldId id="422" r:id="rId23"/>
    <p:sldId id="430" r:id="rId24"/>
    <p:sldId id="423" r:id="rId25"/>
    <p:sldId id="429" r:id="rId26"/>
    <p:sldId id="424" r:id="rId27"/>
    <p:sldId id="431" r:id="rId28"/>
    <p:sldId id="425" r:id="rId29"/>
    <p:sldId id="432" r:id="rId30"/>
    <p:sldId id="426" r:id="rId31"/>
    <p:sldId id="427" r:id="rId32"/>
    <p:sldId id="444" r:id="rId33"/>
    <p:sldId id="433" r:id="rId34"/>
    <p:sldId id="435" r:id="rId35"/>
    <p:sldId id="414" r:id="rId36"/>
    <p:sldId id="421" r:id="rId37"/>
    <p:sldId id="416" r:id="rId38"/>
    <p:sldId id="436" r:id="rId39"/>
    <p:sldId id="446" r:id="rId40"/>
    <p:sldId id="445" r:id="rId41"/>
    <p:sldId id="437" r:id="rId42"/>
    <p:sldId id="438" r:id="rId43"/>
    <p:sldId id="439" r:id="rId44"/>
    <p:sldId id="441" r:id="rId45"/>
    <p:sldId id="442" r:id="rId46"/>
    <p:sldId id="428" r:id="rId47"/>
    <p:sldId id="443" r:id="rId48"/>
    <p:sldId id="448" r:id="rId49"/>
    <p:sldId id="447" r:id="rId50"/>
    <p:sldId id="449" r:id="rId51"/>
    <p:sldId id="450" r:id="rId52"/>
    <p:sldId id="451" r:id="rId53"/>
    <p:sldId id="452" r:id="rId54"/>
    <p:sldId id="453" r:id="rId55"/>
    <p:sldId id="454" r:id="rId56"/>
    <p:sldId id="455" r:id="rId57"/>
    <p:sldId id="456" r:id="rId58"/>
    <p:sldId id="457" r:id="rId59"/>
    <p:sldId id="465" r:id="rId60"/>
    <p:sldId id="458" r:id="rId61"/>
    <p:sldId id="464" r:id="rId62"/>
    <p:sldId id="459" r:id="rId63"/>
    <p:sldId id="466" r:id="rId64"/>
    <p:sldId id="460" r:id="rId65"/>
    <p:sldId id="467" r:id="rId66"/>
    <p:sldId id="461" r:id="rId67"/>
    <p:sldId id="470" r:id="rId68"/>
    <p:sldId id="462" r:id="rId69"/>
    <p:sldId id="468" r:id="rId70"/>
    <p:sldId id="463" r:id="rId71"/>
    <p:sldId id="469" r:id="rId72"/>
    <p:sldId id="471" r:id="rId73"/>
    <p:sldId id="472" r:id="rId74"/>
    <p:sldId id="480" r:id="rId75"/>
    <p:sldId id="473" r:id="rId76"/>
    <p:sldId id="474" r:id="rId77"/>
    <p:sldId id="475" r:id="rId78"/>
    <p:sldId id="477" r:id="rId79"/>
    <p:sldId id="476" r:id="rId80"/>
    <p:sldId id="479" r:id="rId81"/>
    <p:sldId id="478" r:id="rId82"/>
    <p:sldId id="481" r:id="rId83"/>
    <p:sldId id="482" r:id="rId84"/>
    <p:sldId id="484" r:id="rId85"/>
    <p:sldId id="485" r:id="rId86"/>
    <p:sldId id="483" r:id="rId87"/>
    <p:sldId id="488" r:id="rId88"/>
    <p:sldId id="487" r:id="rId89"/>
    <p:sldId id="486" r:id="rId90"/>
    <p:sldId id="491" r:id="rId91"/>
    <p:sldId id="490" r:id="rId92"/>
    <p:sldId id="489" r:id="rId93"/>
    <p:sldId id="494" r:id="rId94"/>
    <p:sldId id="493" r:id="rId95"/>
    <p:sldId id="492" r:id="rId96"/>
    <p:sldId id="497" r:id="rId97"/>
    <p:sldId id="496" r:id="rId98"/>
    <p:sldId id="495" r:id="rId99"/>
    <p:sldId id="500" r:id="rId100"/>
    <p:sldId id="499" r:id="rId101"/>
    <p:sldId id="498" r:id="rId102"/>
    <p:sldId id="503" r:id="rId103"/>
    <p:sldId id="502" r:id="rId104"/>
    <p:sldId id="501" r:id="rId105"/>
    <p:sldId id="504" r:id="rId106"/>
    <p:sldId id="505" r:id="rId107"/>
    <p:sldId id="506" r:id="rId108"/>
    <p:sldId id="507" r:id="rId109"/>
    <p:sldId id="509" r:id="rId110"/>
    <p:sldId id="510" r:id="rId111"/>
    <p:sldId id="511" r:id="rId112"/>
    <p:sldId id="512" r:id="rId113"/>
    <p:sldId id="513" r:id="rId114"/>
    <p:sldId id="508" r:id="rId115"/>
    <p:sldId id="514" r:id="rId116"/>
    <p:sldId id="515" r:id="rId117"/>
    <p:sldId id="516" r:id="rId118"/>
    <p:sldId id="517" r:id="rId119"/>
    <p:sldId id="520" r:id="rId120"/>
    <p:sldId id="519" r:id="rId121"/>
    <p:sldId id="518" r:id="rId122"/>
    <p:sldId id="521" r:id="rId123"/>
    <p:sldId id="525" r:id="rId124"/>
    <p:sldId id="526" r:id="rId125"/>
    <p:sldId id="527" r:id="rId126"/>
    <p:sldId id="522" r:id="rId127"/>
    <p:sldId id="523" r:id="rId128"/>
    <p:sldId id="524" r:id="rId129"/>
    <p:sldId id="528" r:id="rId130"/>
    <p:sldId id="529" r:id="rId131"/>
    <p:sldId id="530" r:id="rId132"/>
    <p:sldId id="531" r:id="rId133"/>
    <p:sldId id="532" r:id="rId134"/>
    <p:sldId id="533" r:id="rId135"/>
    <p:sldId id="534" r:id="rId136"/>
    <p:sldId id="264" r:id="rId1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14B1D"/>
    <a:srgbClr val="F36C37"/>
    <a:srgbClr val="F15D23"/>
    <a:srgbClr val="FAE2D9"/>
    <a:srgbClr val="F69670"/>
    <a:srgbClr val="005880"/>
    <a:srgbClr val="4472C4"/>
    <a:srgbClr val="EB8056"/>
    <a:srgbClr val="4E90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41087-0890-71C1-34DB-4074E3AFF75C}" v="930" dt="2026-01-06T10:07:42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presProps" Target="pres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F8E68-25E2-4A50-9ABD-A538A098D583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</dgm:pt>
    <dgm:pt modelId="{64F78AD7-94DE-4C92-B3AB-E2471EEF8564}">
      <dgm:prSet phldrT="[Text]"/>
      <dgm:spPr/>
      <dgm:t>
        <a:bodyPr/>
        <a:lstStyle/>
        <a:p>
          <a:r>
            <a:rPr lang="en-US"/>
            <a:t>ANOVA</a:t>
          </a:r>
          <a:endParaRPr lang="en-IN"/>
        </a:p>
      </dgm:t>
    </dgm:pt>
    <dgm:pt modelId="{EA2A1769-40FA-4EFA-8AD3-55E273524F05}" type="parTrans" cxnId="{F32C1583-C393-4BAF-B631-094F3E7A5000}">
      <dgm:prSet/>
      <dgm:spPr/>
      <dgm:t>
        <a:bodyPr/>
        <a:lstStyle/>
        <a:p>
          <a:endParaRPr lang="en-IN"/>
        </a:p>
      </dgm:t>
    </dgm:pt>
    <dgm:pt modelId="{6A28390D-CD66-4603-8AEB-F7E3992CDA81}" type="sibTrans" cxnId="{F32C1583-C393-4BAF-B631-094F3E7A5000}">
      <dgm:prSet/>
      <dgm:spPr/>
      <dgm:t>
        <a:bodyPr/>
        <a:lstStyle/>
        <a:p>
          <a:endParaRPr lang="en-IN"/>
        </a:p>
      </dgm:t>
    </dgm:pt>
    <dgm:pt modelId="{A9C7FE1A-0614-4961-B8FA-D0A8C49FFE6F}">
      <dgm:prSet phldrT="[Text]"/>
      <dgm:spPr/>
      <dgm:t>
        <a:bodyPr/>
        <a:lstStyle/>
        <a:p>
          <a:r>
            <a:rPr lang="en-US"/>
            <a:t>PCA</a:t>
          </a:r>
          <a:endParaRPr lang="en-IN"/>
        </a:p>
      </dgm:t>
    </dgm:pt>
    <dgm:pt modelId="{F4B8393D-4066-40BC-9DBF-1360348C3B0C}" type="parTrans" cxnId="{37B37ACE-4842-4674-8B92-5C050BFD1634}">
      <dgm:prSet/>
      <dgm:spPr/>
      <dgm:t>
        <a:bodyPr/>
        <a:lstStyle/>
        <a:p>
          <a:endParaRPr lang="en-IN"/>
        </a:p>
      </dgm:t>
    </dgm:pt>
    <dgm:pt modelId="{F9FFBAA4-D01B-4CC4-B9BF-F2E58659F015}" type="sibTrans" cxnId="{37B37ACE-4842-4674-8B92-5C050BFD1634}">
      <dgm:prSet/>
      <dgm:spPr/>
      <dgm:t>
        <a:bodyPr/>
        <a:lstStyle/>
        <a:p>
          <a:endParaRPr lang="en-IN"/>
        </a:p>
      </dgm:t>
    </dgm:pt>
    <dgm:pt modelId="{563E949B-A0D0-409F-9C51-CB51FBA71E75}">
      <dgm:prSet phldrT="[Text]"/>
      <dgm:spPr/>
      <dgm:t>
        <a:bodyPr/>
        <a:lstStyle/>
        <a:p>
          <a:r>
            <a:rPr lang="en-US">
              <a:latin typeface="Calibri"/>
            </a:rPr>
            <a:t>OLS</a:t>
          </a:r>
          <a:endParaRPr lang="en-US"/>
        </a:p>
      </dgm:t>
    </dgm:pt>
    <dgm:pt modelId="{539DDF00-9A69-4B8E-AB0C-4C7953B667A0}" type="parTrans" cxnId="{FEBD6609-DFE1-4E01-BD97-F0739D0CC1C8}">
      <dgm:prSet/>
      <dgm:spPr/>
      <dgm:t>
        <a:bodyPr/>
        <a:lstStyle/>
        <a:p>
          <a:endParaRPr lang="en-IN"/>
        </a:p>
      </dgm:t>
    </dgm:pt>
    <dgm:pt modelId="{CE3419AD-D4DD-496C-9E50-910DEC4044D2}" type="sibTrans" cxnId="{FEBD6609-DFE1-4E01-BD97-F0739D0CC1C8}">
      <dgm:prSet/>
      <dgm:spPr/>
      <dgm:t>
        <a:bodyPr/>
        <a:lstStyle/>
        <a:p>
          <a:endParaRPr lang="en-IN"/>
        </a:p>
      </dgm:t>
    </dgm:pt>
    <dgm:pt modelId="{02DB405F-ACE2-47DE-9211-08E63C552649}">
      <dgm:prSet/>
      <dgm:spPr/>
      <dgm:t>
        <a:bodyPr/>
        <a:lstStyle/>
        <a:p>
          <a:pPr rtl="0"/>
          <a:r>
            <a:rPr lang="en-US">
              <a:latin typeface="Calibri"/>
            </a:rPr>
            <a:t>ELBOW METHOD</a:t>
          </a:r>
          <a:endParaRPr lang="en-US"/>
        </a:p>
      </dgm:t>
    </dgm:pt>
    <dgm:pt modelId="{54CEACD2-112F-4BE6-BD2C-9E19C369046C}" type="parTrans" cxnId="{D2B0CBE5-F859-4619-BBAA-72851F4F498D}">
      <dgm:prSet/>
      <dgm:spPr/>
      <dgm:t>
        <a:bodyPr/>
        <a:lstStyle/>
        <a:p>
          <a:endParaRPr lang="en-IN"/>
        </a:p>
      </dgm:t>
    </dgm:pt>
    <dgm:pt modelId="{417D5317-B24F-44C0-875D-EE299D286F72}" type="sibTrans" cxnId="{D2B0CBE5-F859-4619-BBAA-72851F4F498D}">
      <dgm:prSet/>
      <dgm:spPr/>
      <dgm:t>
        <a:bodyPr/>
        <a:lstStyle/>
        <a:p>
          <a:endParaRPr lang="en-IN"/>
        </a:p>
      </dgm:t>
    </dgm:pt>
    <dgm:pt modelId="{E21E6401-D421-4D4B-B6DD-CD3296980140}" type="pres">
      <dgm:prSet presAssocID="{8A0F8E68-25E2-4A50-9ABD-A538A098D583}" presName="CompostProcess" presStyleCnt="0">
        <dgm:presLayoutVars>
          <dgm:dir/>
          <dgm:resizeHandles val="exact"/>
        </dgm:presLayoutVars>
      </dgm:prSet>
      <dgm:spPr/>
    </dgm:pt>
    <dgm:pt modelId="{0902BE59-097B-4CA8-A11E-B1E78E90C779}" type="pres">
      <dgm:prSet presAssocID="{8A0F8E68-25E2-4A50-9ABD-A538A098D583}" presName="arrow" presStyleLbl="bgShp" presStyleIdx="0" presStyleCnt="1"/>
      <dgm:spPr/>
    </dgm:pt>
    <dgm:pt modelId="{28242F30-C652-48DB-9BE0-5964E3F81E51}" type="pres">
      <dgm:prSet presAssocID="{8A0F8E68-25E2-4A50-9ABD-A538A098D583}" presName="linearProcess" presStyleCnt="0"/>
      <dgm:spPr/>
    </dgm:pt>
    <dgm:pt modelId="{32229519-1C10-436B-B39D-FB8828EBACB7}" type="pres">
      <dgm:prSet presAssocID="{64F78AD7-94DE-4C92-B3AB-E2471EEF8564}" presName="textNode" presStyleLbl="node1" presStyleIdx="0" presStyleCnt="4" custScaleX="51815" custLinFactNeighborX="-99479" custLinFactNeighborY="-2183">
        <dgm:presLayoutVars>
          <dgm:bulletEnabled val="1"/>
        </dgm:presLayoutVars>
      </dgm:prSet>
      <dgm:spPr/>
    </dgm:pt>
    <dgm:pt modelId="{9270BD08-4977-4960-BEE7-A770156D9535}" type="pres">
      <dgm:prSet presAssocID="{6A28390D-CD66-4603-8AEB-F7E3992CDA81}" presName="sibTrans" presStyleCnt="0"/>
      <dgm:spPr/>
    </dgm:pt>
    <dgm:pt modelId="{A47F0F01-0AD4-42E3-A255-6C8B3855A2B7}" type="pres">
      <dgm:prSet presAssocID="{A9C7FE1A-0614-4961-B8FA-D0A8C49FFE6F}" presName="textNode" presStyleLbl="node1" presStyleIdx="1" presStyleCnt="4" custScaleX="48619" custLinFactX="-5948" custLinFactNeighborX="-100000" custLinFactNeighborY="-3275">
        <dgm:presLayoutVars>
          <dgm:bulletEnabled val="1"/>
        </dgm:presLayoutVars>
      </dgm:prSet>
      <dgm:spPr/>
    </dgm:pt>
    <dgm:pt modelId="{5B74FBC3-7B59-4ADA-AC2E-F20B54170CFD}" type="pres">
      <dgm:prSet presAssocID="{F9FFBAA4-D01B-4CC4-B9BF-F2E58659F015}" presName="sibTrans" presStyleCnt="0"/>
      <dgm:spPr/>
    </dgm:pt>
    <dgm:pt modelId="{CB75F921-C843-4419-B5BA-350D75085F58}" type="pres">
      <dgm:prSet presAssocID="{02DB405F-ACE2-47DE-9211-08E63C552649}" presName="textNode" presStyleLbl="node1" presStyleIdx="2" presStyleCnt="4" custScaleX="54312" custLinFactX="-8517" custLinFactNeighborX="-100000" custLinFactNeighborY="-4367">
        <dgm:presLayoutVars>
          <dgm:bulletEnabled val="1"/>
        </dgm:presLayoutVars>
      </dgm:prSet>
      <dgm:spPr/>
    </dgm:pt>
    <dgm:pt modelId="{B9EA02D5-698D-47E6-A2F2-29004C05C6DC}" type="pres">
      <dgm:prSet presAssocID="{417D5317-B24F-44C0-875D-EE299D286F72}" presName="sibTrans" presStyleCnt="0"/>
      <dgm:spPr/>
    </dgm:pt>
    <dgm:pt modelId="{38194265-FC40-4740-9AE1-35098FC2512B}" type="pres">
      <dgm:prSet presAssocID="{563E949B-A0D0-409F-9C51-CB51FBA71E75}" presName="textNode" presStyleLbl="node1" presStyleIdx="3" presStyleCnt="4" custScaleX="52648" custLinFactX="-13391" custLinFactNeighborX="-100000" custLinFactNeighborY="-6174">
        <dgm:presLayoutVars>
          <dgm:bulletEnabled val="1"/>
        </dgm:presLayoutVars>
      </dgm:prSet>
      <dgm:spPr/>
    </dgm:pt>
  </dgm:ptLst>
  <dgm:cxnLst>
    <dgm:cxn modelId="{FEBD6609-DFE1-4E01-BD97-F0739D0CC1C8}" srcId="{8A0F8E68-25E2-4A50-9ABD-A538A098D583}" destId="{563E949B-A0D0-409F-9C51-CB51FBA71E75}" srcOrd="3" destOrd="0" parTransId="{539DDF00-9A69-4B8E-AB0C-4C7953B667A0}" sibTransId="{CE3419AD-D4DD-496C-9E50-910DEC4044D2}"/>
    <dgm:cxn modelId="{7E47471E-91F7-4760-BA3C-6EF5292EACA2}" type="presOf" srcId="{563E949B-A0D0-409F-9C51-CB51FBA71E75}" destId="{38194265-FC40-4740-9AE1-35098FC2512B}" srcOrd="0" destOrd="0" presId="urn:microsoft.com/office/officeart/2005/8/layout/hProcess9"/>
    <dgm:cxn modelId="{2703657C-59C7-4055-B23A-0B45A2BE2809}" type="presOf" srcId="{64F78AD7-94DE-4C92-B3AB-E2471EEF8564}" destId="{32229519-1C10-436B-B39D-FB8828EBACB7}" srcOrd="0" destOrd="0" presId="urn:microsoft.com/office/officeart/2005/8/layout/hProcess9"/>
    <dgm:cxn modelId="{F32C1583-C393-4BAF-B631-094F3E7A5000}" srcId="{8A0F8E68-25E2-4A50-9ABD-A538A098D583}" destId="{64F78AD7-94DE-4C92-B3AB-E2471EEF8564}" srcOrd="0" destOrd="0" parTransId="{EA2A1769-40FA-4EFA-8AD3-55E273524F05}" sibTransId="{6A28390D-CD66-4603-8AEB-F7E3992CDA81}"/>
    <dgm:cxn modelId="{EE4711B0-3513-4BC9-A8D6-56915A28C942}" type="presOf" srcId="{A9C7FE1A-0614-4961-B8FA-D0A8C49FFE6F}" destId="{A47F0F01-0AD4-42E3-A255-6C8B3855A2B7}" srcOrd="0" destOrd="0" presId="urn:microsoft.com/office/officeart/2005/8/layout/hProcess9"/>
    <dgm:cxn modelId="{37B37ACE-4842-4674-8B92-5C050BFD1634}" srcId="{8A0F8E68-25E2-4A50-9ABD-A538A098D583}" destId="{A9C7FE1A-0614-4961-B8FA-D0A8C49FFE6F}" srcOrd="1" destOrd="0" parTransId="{F4B8393D-4066-40BC-9DBF-1360348C3B0C}" sibTransId="{F9FFBAA4-D01B-4CC4-B9BF-F2E58659F015}"/>
    <dgm:cxn modelId="{F3EB34DF-F944-4B6B-A73F-573DFD216690}" type="presOf" srcId="{8A0F8E68-25E2-4A50-9ABD-A538A098D583}" destId="{E21E6401-D421-4D4B-B6DD-CD3296980140}" srcOrd="0" destOrd="0" presId="urn:microsoft.com/office/officeart/2005/8/layout/hProcess9"/>
    <dgm:cxn modelId="{D2B0CBE5-F859-4619-BBAA-72851F4F498D}" srcId="{8A0F8E68-25E2-4A50-9ABD-A538A098D583}" destId="{02DB405F-ACE2-47DE-9211-08E63C552649}" srcOrd="2" destOrd="0" parTransId="{54CEACD2-112F-4BE6-BD2C-9E19C369046C}" sibTransId="{417D5317-B24F-44C0-875D-EE299D286F72}"/>
    <dgm:cxn modelId="{8F0348F5-16AD-46FD-9A08-6D1FE61198A8}" type="presOf" srcId="{02DB405F-ACE2-47DE-9211-08E63C552649}" destId="{CB75F921-C843-4419-B5BA-350D75085F58}" srcOrd="0" destOrd="0" presId="urn:microsoft.com/office/officeart/2005/8/layout/hProcess9"/>
    <dgm:cxn modelId="{380E1268-2613-4C8C-B7B0-7F67488563A7}" type="presParOf" srcId="{E21E6401-D421-4D4B-B6DD-CD3296980140}" destId="{0902BE59-097B-4CA8-A11E-B1E78E90C779}" srcOrd="0" destOrd="0" presId="urn:microsoft.com/office/officeart/2005/8/layout/hProcess9"/>
    <dgm:cxn modelId="{88A75268-17C8-4DCA-B69D-4B056E0F7467}" type="presParOf" srcId="{E21E6401-D421-4D4B-B6DD-CD3296980140}" destId="{28242F30-C652-48DB-9BE0-5964E3F81E51}" srcOrd="1" destOrd="0" presId="urn:microsoft.com/office/officeart/2005/8/layout/hProcess9"/>
    <dgm:cxn modelId="{CF04DC14-2E05-42CC-8F04-EC2CA7CA2CEB}" type="presParOf" srcId="{28242F30-C652-48DB-9BE0-5964E3F81E51}" destId="{32229519-1C10-436B-B39D-FB8828EBACB7}" srcOrd="0" destOrd="0" presId="urn:microsoft.com/office/officeart/2005/8/layout/hProcess9"/>
    <dgm:cxn modelId="{B8EE565C-67B5-4859-85CD-08D8F507B9B6}" type="presParOf" srcId="{28242F30-C652-48DB-9BE0-5964E3F81E51}" destId="{9270BD08-4977-4960-BEE7-A770156D9535}" srcOrd="1" destOrd="0" presId="urn:microsoft.com/office/officeart/2005/8/layout/hProcess9"/>
    <dgm:cxn modelId="{55A4F6CC-147A-40C0-9145-D0CFEBC1FA91}" type="presParOf" srcId="{28242F30-C652-48DB-9BE0-5964E3F81E51}" destId="{A47F0F01-0AD4-42E3-A255-6C8B3855A2B7}" srcOrd="2" destOrd="0" presId="urn:microsoft.com/office/officeart/2005/8/layout/hProcess9"/>
    <dgm:cxn modelId="{CA386619-019E-4D3F-8E2E-4B13256C7986}" type="presParOf" srcId="{28242F30-C652-48DB-9BE0-5964E3F81E51}" destId="{5B74FBC3-7B59-4ADA-AC2E-F20B54170CFD}" srcOrd="3" destOrd="0" presId="urn:microsoft.com/office/officeart/2005/8/layout/hProcess9"/>
    <dgm:cxn modelId="{9FF1B037-EAAA-4F4F-AD9E-A87BA833B64F}" type="presParOf" srcId="{28242F30-C652-48DB-9BE0-5964E3F81E51}" destId="{CB75F921-C843-4419-B5BA-350D75085F58}" srcOrd="4" destOrd="0" presId="urn:microsoft.com/office/officeart/2005/8/layout/hProcess9"/>
    <dgm:cxn modelId="{CDBB36DE-C98B-4786-9B1A-D22B5419D78F}" type="presParOf" srcId="{28242F30-C652-48DB-9BE0-5964E3F81E51}" destId="{B9EA02D5-698D-47E6-A2F2-29004C05C6DC}" srcOrd="5" destOrd="0" presId="urn:microsoft.com/office/officeart/2005/8/layout/hProcess9"/>
    <dgm:cxn modelId="{D12F35D7-ADC2-40BC-9752-AFA7A505BCC9}" type="presParOf" srcId="{28242F30-C652-48DB-9BE0-5964E3F81E51}" destId="{38194265-FC40-4740-9AE1-35098FC2512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76BB3B-03B5-451C-9E4D-5EB5E9C94262}" type="doc">
      <dgm:prSet loTypeId="urn:microsoft.com/office/officeart/2005/8/layout/process5" loCatId="process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83623F6C-D4F4-4F3B-903E-887B3FA36942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Data preparation (mashing, fermentation, wash still, spirit still)</a:t>
          </a:r>
          <a:endParaRPr lang="en-US"/>
        </a:p>
      </dgm:t>
    </dgm:pt>
    <dgm:pt modelId="{906CA976-A619-4083-BBEC-AE0E9B8949E1}" type="parTrans" cxnId="{5FD4A1FE-03D2-4C93-84BA-D22CD23B29DD}">
      <dgm:prSet/>
      <dgm:spPr/>
      <dgm:t>
        <a:bodyPr/>
        <a:lstStyle/>
        <a:p>
          <a:endParaRPr lang="en-US"/>
        </a:p>
      </dgm:t>
    </dgm:pt>
    <dgm:pt modelId="{0EC7DC25-2C04-4A53-BCC7-9FA5AFB980C3}" type="sibTrans" cxnId="{5FD4A1FE-03D2-4C93-84BA-D22CD23B29DD}">
      <dgm:prSet/>
      <dgm:spPr/>
      <dgm:t>
        <a:bodyPr/>
        <a:lstStyle/>
        <a:p>
          <a:endParaRPr lang="en-US"/>
        </a:p>
      </dgm:t>
    </dgm:pt>
    <dgm:pt modelId="{1A59A968-68BE-4B5F-839B-E668F55113C6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Correlation analysis</a:t>
          </a:r>
          <a:endParaRPr lang="en-US"/>
        </a:p>
      </dgm:t>
    </dgm:pt>
    <dgm:pt modelId="{0BA8D9A3-FC5A-4C12-8D3C-D1472052C21C}" type="parTrans" cxnId="{D1C43D46-CA78-417D-AF16-137815F567AA}">
      <dgm:prSet/>
      <dgm:spPr/>
      <dgm:t>
        <a:bodyPr/>
        <a:lstStyle/>
        <a:p>
          <a:endParaRPr lang="en-US"/>
        </a:p>
      </dgm:t>
    </dgm:pt>
    <dgm:pt modelId="{D6142C6E-3501-4CF8-AFE5-0C3AE13DA7A4}" type="sibTrans" cxnId="{D1C43D46-CA78-417D-AF16-137815F567AA}">
      <dgm:prSet/>
      <dgm:spPr/>
      <dgm:t>
        <a:bodyPr/>
        <a:lstStyle/>
        <a:p>
          <a:endParaRPr lang="en-US"/>
        </a:p>
      </dgm:t>
    </dgm:pt>
    <dgm:pt modelId="{D6F1A5AF-F1B6-4DDF-AAA8-828267B460B5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Modelling (p-value, logistic regression, Naïve Bayes)</a:t>
          </a:r>
          <a:endParaRPr lang="en-US"/>
        </a:p>
      </dgm:t>
    </dgm:pt>
    <dgm:pt modelId="{67D4920D-602D-49D2-B6C3-2B65DFDC1E34}" type="parTrans" cxnId="{918BE7B7-23C4-46FE-8A1C-47C6ECF12B87}">
      <dgm:prSet/>
      <dgm:spPr/>
      <dgm:t>
        <a:bodyPr/>
        <a:lstStyle/>
        <a:p>
          <a:endParaRPr lang="en-US"/>
        </a:p>
      </dgm:t>
    </dgm:pt>
    <dgm:pt modelId="{4DE0A418-D399-4A93-BC45-5791F0A38249}" type="sibTrans" cxnId="{918BE7B7-23C4-46FE-8A1C-47C6ECF12B87}">
      <dgm:prSet/>
      <dgm:spPr/>
      <dgm:t>
        <a:bodyPr/>
        <a:lstStyle/>
        <a:p>
          <a:endParaRPr lang="en-US"/>
        </a:p>
      </dgm:t>
    </dgm:pt>
    <dgm:pt modelId="{1ECA17E2-4319-4133-9E52-DA48393C54D2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SCADA data dis and calculate the correlation and modelling but didn't get the critical feature </a:t>
          </a:r>
          <a:endParaRPr lang="en-US"/>
        </a:p>
      </dgm:t>
    </dgm:pt>
    <dgm:pt modelId="{3DCB927D-C0B9-4C14-861C-BFF3A383BF30}" type="parTrans" cxnId="{F47BDB99-234E-4E50-8591-5DF8E230F115}">
      <dgm:prSet/>
      <dgm:spPr/>
      <dgm:t>
        <a:bodyPr/>
        <a:lstStyle/>
        <a:p>
          <a:endParaRPr lang="en-US"/>
        </a:p>
      </dgm:t>
    </dgm:pt>
    <dgm:pt modelId="{36DE40E0-EE81-42AD-BF39-FBB54292CC32}" type="sibTrans" cxnId="{F47BDB99-234E-4E50-8591-5DF8E230F115}">
      <dgm:prSet/>
      <dgm:spPr/>
      <dgm:t>
        <a:bodyPr/>
        <a:lstStyle/>
        <a:p>
          <a:endParaRPr lang="en-US"/>
        </a:p>
      </dgm:t>
    </dgm:pt>
    <dgm:pt modelId="{657651DB-C532-4108-A550-1D7FD3080FED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Cal VIF (Variance Inflation Factor)</a:t>
          </a:r>
          <a:endParaRPr lang="en-US"/>
        </a:p>
      </dgm:t>
    </dgm:pt>
    <dgm:pt modelId="{35196431-5326-40B0-81BE-B836CFB048F8}" type="parTrans" cxnId="{88FC24DF-48C0-44D7-B3A9-F409EC5E503F}">
      <dgm:prSet/>
      <dgm:spPr/>
      <dgm:t>
        <a:bodyPr/>
        <a:lstStyle/>
        <a:p>
          <a:endParaRPr lang="en-US"/>
        </a:p>
      </dgm:t>
    </dgm:pt>
    <dgm:pt modelId="{B052B662-B6F9-4E54-9D43-D663AE87353B}" type="sibTrans" cxnId="{88FC24DF-48C0-44D7-B3A9-F409EC5E503F}">
      <dgm:prSet/>
      <dgm:spPr/>
      <dgm:t>
        <a:bodyPr/>
        <a:lstStyle/>
        <a:p>
          <a:endParaRPr lang="en-US"/>
        </a:p>
      </dgm:t>
    </dgm:pt>
    <dgm:pt modelId="{E287B542-DFD8-4775-857D-6712742C9F92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ANNOVA +PCA (elbow method)</a:t>
          </a:r>
          <a:endParaRPr lang="en-US"/>
        </a:p>
      </dgm:t>
    </dgm:pt>
    <dgm:pt modelId="{CFB1C81D-CF52-4179-89AC-8A3AB1B29468}" type="parTrans" cxnId="{F0BF8CDB-A95A-4D7E-989C-D766AD69DF0A}">
      <dgm:prSet/>
      <dgm:spPr/>
      <dgm:t>
        <a:bodyPr/>
        <a:lstStyle/>
        <a:p>
          <a:endParaRPr lang="en-US"/>
        </a:p>
      </dgm:t>
    </dgm:pt>
    <dgm:pt modelId="{8E4753D2-2E38-40B4-9B3A-06FF1CA641A2}" type="sibTrans" cxnId="{F0BF8CDB-A95A-4D7E-989C-D766AD69DF0A}">
      <dgm:prSet/>
      <dgm:spPr/>
      <dgm:t>
        <a:bodyPr/>
        <a:lstStyle/>
        <a:p>
          <a:endParaRPr lang="en-US"/>
        </a:p>
      </dgm:t>
    </dgm:pt>
    <dgm:pt modelId="{E7589520-2572-4BFE-B992-AB01657052AD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OLS regression and got the features having highest importance with respect to each flavor</a:t>
          </a:r>
          <a:endParaRPr lang="en-US"/>
        </a:p>
      </dgm:t>
    </dgm:pt>
    <dgm:pt modelId="{7BCC8A23-542E-403F-8489-798CB6F007A0}" type="parTrans" cxnId="{D477E910-E212-4E52-80A3-7238230ED486}">
      <dgm:prSet/>
      <dgm:spPr/>
      <dgm:t>
        <a:bodyPr/>
        <a:lstStyle/>
        <a:p>
          <a:endParaRPr lang="en-US"/>
        </a:p>
      </dgm:t>
    </dgm:pt>
    <dgm:pt modelId="{31F1FE58-A3C7-41CC-91C2-52643A15855E}" type="sibTrans" cxnId="{D477E910-E212-4E52-80A3-7238230ED486}">
      <dgm:prSet/>
      <dgm:spPr/>
      <dgm:t>
        <a:bodyPr/>
        <a:lstStyle/>
        <a:p>
          <a:endParaRPr lang="en-US"/>
        </a:p>
      </dgm:t>
    </dgm:pt>
    <dgm:pt modelId="{BE9A6196-9EDA-4632-A416-8AADAC37181B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Model development (Logistic regression and other model )</a:t>
          </a:r>
          <a:endParaRPr lang="en-US"/>
        </a:p>
      </dgm:t>
    </dgm:pt>
    <dgm:pt modelId="{B5B9FAC5-A039-463C-A913-7D669B561A9E}" type="parTrans" cxnId="{034BCB94-5CA6-49C6-AF09-971B4825CB19}">
      <dgm:prSet/>
      <dgm:spPr/>
      <dgm:t>
        <a:bodyPr/>
        <a:lstStyle/>
        <a:p>
          <a:endParaRPr lang="en-US"/>
        </a:p>
      </dgm:t>
    </dgm:pt>
    <dgm:pt modelId="{3FBDA197-6DFB-4B4E-A5A3-94256A5D86A8}" type="sibTrans" cxnId="{034BCB94-5CA6-49C6-AF09-971B4825CB19}">
      <dgm:prSet/>
      <dgm:spPr/>
      <dgm:t>
        <a:bodyPr/>
        <a:lstStyle/>
        <a:p>
          <a:endParaRPr lang="en-US"/>
        </a:p>
      </dgm:t>
    </dgm:pt>
    <dgm:pt modelId="{A44AB021-41A3-4788-A780-178779079482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Used SCADA data with respect to target variable and applied ANNOVA+PCA+OLS</a:t>
          </a:r>
          <a:endParaRPr lang="en-US"/>
        </a:p>
      </dgm:t>
    </dgm:pt>
    <dgm:pt modelId="{41B7A72B-B23B-4EFC-AFE2-0DFC26BBC40B}" type="parTrans" cxnId="{44D9EC7D-CD17-43FF-974B-900BE6EBE23D}">
      <dgm:prSet/>
      <dgm:spPr/>
      <dgm:t>
        <a:bodyPr/>
        <a:lstStyle/>
        <a:p>
          <a:endParaRPr lang="en-US"/>
        </a:p>
      </dgm:t>
    </dgm:pt>
    <dgm:pt modelId="{189E8EB6-A113-4D1F-A57F-35513B1527E4}" type="sibTrans" cxnId="{44D9EC7D-CD17-43FF-974B-900BE6EBE23D}">
      <dgm:prSet/>
      <dgm:spPr/>
      <dgm:t>
        <a:bodyPr/>
        <a:lstStyle/>
        <a:p>
          <a:endParaRPr lang="en-US"/>
        </a:p>
      </dgm:t>
    </dgm:pt>
    <dgm:pt modelId="{618AD189-C7E2-4A73-A7C2-2B088E3B7371}" type="pres">
      <dgm:prSet presAssocID="{5976BB3B-03B5-451C-9E4D-5EB5E9C94262}" presName="diagram" presStyleCnt="0">
        <dgm:presLayoutVars>
          <dgm:dir/>
          <dgm:resizeHandles val="exact"/>
        </dgm:presLayoutVars>
      </dgm:prSet>
      <dgm:spPr/>
    </dgm:pt>
    <dgm:pt modelId="{C4C1E3A5-B20A-436E-A108-71445C47E1B7}" type="pres">
      <dgm:prSet presAssocID="{83623F6C-D4F4-4F3B-903E-887B3FA36942}" presName="node" presStyleLbl="node1" presStyleIdx="0" presStyleCnt="9">
        <dgm:presLayoutVars>
          <dgm:bulletEnabled val="1"/>
        </dgm:presLayoutVars>
      </dgm:prSet>
      <dgm:spPr/>
    </dgm:pt>
    <dgm:pt modelId="{9BF3C466-A8EC-4EB2-B35D-8CC5DE34CEA8}" type="pres">
      <dgm:prSet presAssocID="{0EC7DC25-2C04-4A53-BCC7-9FA5AFB980C3}" presName="sibTrans" presStyleLbl="sibTrans2D1" presStyleIdx="0" presStyleCnt="8"/>
      <dgm:spPr/>
    </dgm:pt>
    <dgm:pt modelId="{BA1446E8-F18E-4AFA-9D59-96D9D155D3FE}" type="pres">
      <dgm:prSet presAssocID="{0EC7DC25-2C04-4A53-BCC7-9FA5AFB980C3}" presName="connectorText" presStyleLbl="sibTrans2D1" presStyleIdx="0" presStyleCnt="8"/>
      <dgm:spPr/>
    </dgm:pt>
    <dgm:pt modelId="{509D6A7A-109E-45E3-B8A5-DDF27C09EDF3}" type="pres">
      <dgm:prSet presAssocID="{1A59A968-68BE-4B5F-839B-E668F55113C6}" presName="node" presStyleLbl="node1" presStyleIdx="1" presStyleCnt="9">
        <dgm:presLayoutVars>
          <dgm:bulletEnabled val="1"/>
        </dgm:presLayoutVars>
      </dgm:prSet>
      <dgm:spPr/>
    </dgm:pt>
    <dgm:pt modelId="{E47B44CB-C06F-4F5A-A6E9-23EA042C2D60}" type="pres">
      <dgm:prSet presAssocID="{D6142C6E-3501-4CF8-AFE5-0C3AE13DA7A4}" presName="sibTrans" presStyleLbl="sibTrans2D1" presStyleIdx="1" presStyleCnt="8"/>
      <dgm:spPr/>
    </dgm:pt>
    <dgm:pt modelId="{69FD5B57-FC14-4B44-A85D-DA234882E766}" type="pres">
      <dgm:prSet presAssocID="{D6142C6E-3501-4CF8-AFE5-0C3AE13DA7A4}" presName="connectorText" presStyleLbl="sibTrans2D1" presStyleIdx="1" presStyleCnt="8"/>
      <dgm:spPr/>
    </dgm:pt>
    <dgm:pt modelId="{BA760FAE-5C08-4049-8745-629A5F6842B6}" type="pres">
      <dgm:prSet presAssocID="{D6F1A5AF-F1B6-4DDF-AAA8-828267B460B5}" presName="node" presStyleLbl="node1" presStyleIdx="2" presStyleCnt="9">
        <dgm:presLayoutVars>
          <dgm:bulletEnabled val="1"/>
        </dgm:presLayoutVars>
      </dgm:prSet>
      <dgm:spPr/>
    </dgm:pt>
    <dgm:pt modelId="{4C334059-FC59-4FA0-B162-DA2F7BF51669}" type="pres">
      <dgm:prSet presAssocID="{4DE0A418-D399-4A93-BC45-5791F0A38249}" presName="sibTrans" presStyleLbl="sibTrans2D1" presStyleIdx="2" presStyleCnt="8"/>
      <dgm:spPr/>
    </dgm:pt>
    <dgm:pt modelId="{46E927EA-0254-4020-B836-BEAFA15C441B}" type="pres">
      <dgm:prSet presAssocID="{4DE0A418-D399-4A93-BC45-5791F0A38249}" presName="connectorText" presStyleLbl="sibTrans2D1" presStyleIdx="2" presStyleCnt="8"/>
      <dgm:spPr/>
    </dgm:pt>
    <dgm:pt modelId="{E7EE09FB-6FE0-465C-BB95-43D2080BBA26}" type="pres">
      <dgm:prSet presAssocID="{1ECA17E2-4319-4133-9E52-DA48393C54D2}" presName="node" presStyleLbl="node1" presStyleIdx="3" presStyleCnt="9">
        <dgm:presLayoutVars>
          <dgm:bulletEnabled val="1"/>
        </dgm:presLayoutVars>
      </dgm:prSet>
      <dgm:spPr/>
    </dgm:pt>
    <dgm:pt modelId="{56F0380D-F54C-4BE7-93C6-BC485ADA910A}" type="pres">
      <dgm:prSet presAssocID="{36DE40E0-EE81-42AD-BF39-FBB54292CC32}" presName="sibTrans" presStyleLbl="sibTrans2D1" presStyleIdx="3" presStyleCnt="8"/>
      <dgm:spPr/>
    </dgm:pt>
    <dgm:pt modelId="{28B0A997-DCC1-41B9-B674-33283A5BE774}" type="pres">
      <dgm:prSet presAssocID="{36DE40E0-EE81-42AD-BF39-FBB54292CC32}" presName="connectorText" presStyleLbl="sibTrans2D1" presStyleIdx="3" presStyleCnt="8"/>
      <dgm:spPr/>
    </dgm:pt>
    <dgm:pt modelId="{849B96A0-5BF2-4F65-8E8D-EB312DBDB314}" type="pres">
      <dgm:prSet presAssocID="{657651DB-C532-4108-A550-1D7FD3080FED}" presName="node" presStyleLbl="node1" presStyleIdx="4" presStyleCnt="9">
        <dgm:presLayoutVars>
          <dgm:bulletEnabled val="1"/>
        </dgm:presLayoutVars>
      </dgm:prSet>
      <dgm:spPr/>
    </dgm:pt>
    <dgm:pt modelId="{076C2780-0507-4560-9E37-E725E3F87983}" type="pres">
      <dgm:prSet presAssocID="{B052B662-B6F9-4E54-9D43-D663AE87353B}" presName="sibTrans" presStyleLbl="sibTrans2D1" presStyleIdx="4" presStyleCnt="8"/>
      <dgm:spPr/>
    </dgm:pt>
    <dgm:pt modelId="{105722A7-6066-4C7C-97E6-13F049DBD0D1}" type="pres">
      <dgm:prSet presAssocID="{B052B662-B6F9-4E54-9D43-D663AE87353B}" presName="connectorText" presStyleLbl="sibTrans2D1" presStyleIdx="4" presStyleCnt="8"/>
      <dgm:spPr/>
    </dgm:pt>
    <dgm:pt modelId="{276797F9-05A3-4B23-80DA-56AE658B6F54}" type="pres">
      <dgm:prSet presAssocID="{E287B542-DFD8-4775-857D-6712742C9F92}" presName="node" presStyleLbl="node1" presStyleIdx="5" presStyleCnt="9">
        <dgm:presLayoutVars>
          <dgm:bulletEnabled val="1"/>
        </dgm:presLayoutVars>
      </dgm:prSet>
      <dgm:spPr/>
    </dgm:pt>
    <dgm:pt modelId="{F864B552-ADEE-43CF-ABBC-37086DF07CED}" type="pres">
      <dgm:prSet presAssocID="{8E4753D2-2E38-40B4-9B3A-06FF1CA641A2}" presName="sibTrans" presStyleLbl="sibTrans2D1" presStyleIdx="5" presStyleCnt="8"/>
      <dgm:spPr/>
    </dgm:pt>
    <dgm:pt modelId="{1208CCC4-CCBC-45A1-BE06-D97C9E72EE09}" type="pres">
      <dgm:prSet presAssocID="{8E4753D2-2E38-40B4-9B3A-06FF1CA641A2}" presName="connectorText" presStyleLbl="sibTrans2D1" presStyleIdx="5" presStyleCnt="8"/>
      <dgm:spPr/>
    </dgm:pt>
    <dgm:pt modelId="{F3F562E3-F21C-4991-81F7-6A0EBE735E28}" type="pres">
      <dgm:prSet presAssocID="{E7589520-2572-4BFE-B992-AB01657052AD}" presName="node" presStyleLbl="node1" presStyleIdx="6" presStyleCnt="9">
        <dgm:presLayoutVars>
          <dgm:bulletEnabled val="1"/>
        </dgm:presLayoutVars>
      </dgm:prSet>
      <dgm:spPr/>
    </dgm:pt>
    <dgm:pt modelId="{69990016-6708-490C-9F3B-541020997542}" type="pres">
      <dgm:prSet presAssocID="{31F1FE58-A3C7-41CC-91C2-52643A15855E}" presName="sibTrans" presStyleLbl="sibTrans2D1" presStyleIdx="6" presStyleCnt="8"/>
      <dgm:spPr/>
    </dgm:pt>
    <dgm:pt modelId="{363CDFCC-B932-46B7-83FC-26FE01E6B976}" type="pres">
      <dgm:prSet presAssocID="{31F1FE58-A3C7-41CC-91C2-52643A15855E}" presName="connectorText" presStyleLbl="sibTrans2D1" presStyleIdx="6" presStyleCnt="8"/>
      <dgm:spPr/>
    </dgm:pt>
    <dgm:pt modelId="{ADCBE31E-CCAA-48FF-B4B4-77C6F66F53B5}" type="pres">
      <dgm:prSet presAssocID="{BE9A6196-9EDA-4632-A416-8AADAC37181B}" presName="node" presStyleLbl="node1" presStyleIdx="7" presStyleCnt="9">
        <dgm:presLayoutVars>
          <dgm:bulletEnabled val="1"/>
        </dgm:presLayoutVars>
      </dgm:prSet>
      <dgm:spPr/>
    </dgm:pt>
    <dgm:pt modelId="{AE76C9C1-0D7A-416B-BA09-7383A7C868B4}" type="pres">
      <dgm:prSet presAssocID="{3FBDA197-6DFB-4B4E-A5A3-94256A5D86A8}" presName="sibTrans" presStyleLbl="sibTrans2D1" presStyleIdx="7" presStyleCnt="8"/>
      <dgm:spPr/>
    </dgm:pt>
    <dgm:pt modelId="{62D6C08C-8299-40BC-85FC-8D1CDD9DA746}" type="pres">
      <dgm:prSet presAssocID="{3FBDA197-6DFB-4B4E-A5A3-94256A5D86A8}" presName="connectorText" presStyleLbl="sibTrans2D1" presStyleIdx="7" presStyleCnt="8"/>
      <dgm:spPr/>
    </dgm:pt>
    <dgm:pt modelId="{EC9DE736-9E58-427D-BD0F-65339E3B9F7E}" type="pres">
      <dgm:prSet presAssocID="{A44AB021-41A3-4788-A780-178779079482}" presName="node" presStyleLbl="node1" presStyleIdx="8" presStyleCnt="9">
        <dgm:presLayoutVars>
          <dgm:bulletEnabled val="1"/>
        </dgm:presLayoutVars>
      </dgm:prSet>
      <dgm:spPr/>
    </dgm:pt>
  </dgm:ptLst>
  <dgm:cxnLst>
    <dgm:cxn modelId="{C7B26603-304F-48F3-88B4-6F2B00BFD684}" type="presOf" srcId="{1A59A968-68BE-4B5F-839B-E668F55113C6}" destId="{509D6A7A-109E-45E3-B8A5-DDF27C09EDF3}" srcOrd="0" destOrd="0" presId="urn:microsoft.com/office/officeart/2005/8/layout/process5"/>
    <dgm:cxn modelId="{BF84C210-6D59-451A-8FDD-4EBD339B58BB}" type="presOf" srcId="{0EC7DC25-2C04-4A53-BCC7-9FA5AFB980C3}" destId="{9BF3C466-A8EC-4EB2-B35D-8CC5DE34CEA8}" srcOrd="0" destOrd="0" presId="urn:microsoft.com/office/officeart/2005/8/layout/process5"/>
    <dgm:cxn modelId="{D477E910-E212-4E52-80A3-7238230ED486}" srcId="{5976BB3B-03B5-451C-9E4D-5EB5E9C94262}" destId="{E7589520-2572-4BFE-B992-AB01657052AD}" srcOrd="6" destOrd="0" parTransId="{7BCC8A23-542E-403F-8489-798CB6F007A0}" sibTransId="{31F1FE58-A3C7-41CC-91C2-52643A15855E}"/>
    <dgm:cxn modelId="{709A6F12-0DE7-49A9-BC62-0D67F473F328}" type="presOf" srcId="{1ECA17E2-4319-4133-9E52-DA48393C54D2}" destId="{E7EE09FB-6FE0-465C-BB95-43D2080BBA26}" srcOrd="0" destOrd="0" presId="urn:microsoft.com/office/officeart/2005/8/layout/process5"/>
    <dgm:cxn modelId="{8454E619-D84A-42D2-87F7-A357B2FDE203}" type="presOf" srcId="{B052B662-B6F9-4E54-9D43-D663AE87353B}" destId="{105722A7-6066-4C7C-97E6-13F049DBD0D1}" srcOrd="1" destOrd="0" presId="urn:microsoft.com/office/officeart/2005/8/layout/process5"/>
    <dgm:cxn modelId="{F61C2623-4DF3-4B81-B7A4-AD96678164C5}" type="presOf" srcId="{A44AB021-41A3-4788-A780-178779079482}" destId="{EC9DE736-9E58-427D-BD0F-65339E3B9F7E}" srcOrd="0" destOrd="0" presId="urn:microsoft.com/office/officeart/2005/8/layout/process5"/>
    <dgm:cxn modelId="{C9A1BD23-8A2D-4179-B1E9-27DAF1D8841E}" type="presOf" srcId="{8E4753D2-2E38-40B4-9B3A-06FF1CA641A2}" destId="{F864B552-ADEE-43CF-ABBC-37086DF07CED}" srcOrd="0" destOrd="0" presId="urn:microsoft.com/office/officeart/2005/8/layout/process5"/>
    <dgm:cxn modelId="{10AF2938-21B7-494E-80DD-3037AB9CDA51}" type="presOf" srcId="{E287B542-DFD8-4775-857D-6712742C9F92}" destId="{276797F9-05A3-4B23-80DA-56AE658B6F54}" srcOrd="0" destOrd="0" presId="urn:microsoft.com/office/officeart/2005/8/layout/process5"/>
    <dgm:cxn modelId="{9D826D5D-90B7-4FED-9EF8-1C1E8234FAE5}" type="presOf" srcId="{3FBDA197-6DFB-4B4E-A5A3-94256A5D86A8}" destId="{62D6C08C-8299-40BC-85FC-8D1CDD9DA746}" srcOrd="1" destOrd="0" presId="urn:microsoft.com/office/officeart/2005/8/layout/process5"/>
    <dgm:cxn modelId="{E0259443-EC6D-4720-A29E-3316C3C53C57}" type="presOf" srcId="{657651DB-C532-4108-A550-1D7FD3080FED}" destId="{849B96A0-5BF2-4F65-8E8D-EB312DBDB314}" srcOrd="0" destOrd="0" presId="urn:microsoft.com/office/officeart/2005/8/layout/process5"/>
    <dgm:cxn modelId="{B1593466-52F2-42F3-B4C3-439EE441AC38}" type="presOf" srcId="{E7589520-2572-4BFE-B992-AB01657052AD}" destId="{F3F562E3-F21C-4991-81F7-6A0EBE735E28}" srcOrd="0" destOrd="0" presId="urn:microsoft.com/office/officeart/2005/8/layout/process5"/>
    <dgm:cxn modelId="{D1C43D46-CA78-417D-AF16-137815F567AA}" srcId="{5976BB3B-03B5-451C-9E4D-5EB5E9C94262}" destId="{1A59A968-68BE-4B5F-839B-E668F55113C6}" srcOrd="1" destOrd="0" parTransId="{0BA8D9A3-FC5A-4C12-8D3C-D1472052C21C}" sibTransId="{D6142C6E-3501-4CF8-AFE5-0C3AE13DA7A4}"/>
    <dgm:cxn modelId="{1509D34B-6BC9-4360-8E05-02CA4F483C66}" type="presOf" srcId="{D6142C6E-3501-4CF8-AFE5-0C3AE13DA7A4}" destId="{E47B44CB-C06F-4F5A-A6E9-23EA042C2D60}" srcOrd="0" destOrd="0" presId="urn:microsoft.com/office/officeart/2005/8/layout/process5"/>
    <dgm:cxn modelId="{B746E559-02DA-4ACA-85C0-5CF999C5A5A3}" type="presOf" srcId="{36DE40E0-EE81-42AD-BF39-FBB54292CC32}" destId="{56F0380D-F54C-4BE7-93C6-BC485ADA910A}" srcOrd="0" destOrd="0" presId="urn:microsoft.com/office/officeart/2005/8/layout/process5"/>
    <dgm:cxn modelId="{790CDC7A-B5DE-43E4-8043-2CDDC7C4EBDA}" type="presOf" srcId="{36DE40E0-EE81-42AD-BF39-FBB54292CC32}" destId="{28B0A997-DCC1-41B9-B674-33283A5BE774}" srcOrd="1" destOrd="0" presId="urn:microsoft.com/office/officeart/2005/8/layout/process5"/>
    <dgm:cxn modelId="{E217307D-0136-485D-9B32-978CDC63AE61}" type="presOf" srcId="{5976BB3B-03B5-451C-9E4D-5EB5E9C94262}" destId="{618AD189-C7E2-4A73-A7C2-2B088E3B7371}" srcOrd="0" destOrd="0" presId="urn:microsoft.com/office/officeart/2005/8/layout/process5"/>
    <dgm:cxn modelId="{44D9EC7D-CD17-43FF-974B-900BE6EBE23D}" srcId="{5976BB3B-03B5-451C-9E4D-5EB5E9C94262}" destId="{A44AB021-41A3-4788-A780-178779079482}" srcOrd="8" destOrd="0" parTransId="{41B7A72B-B23B-4EFC-AFE2-0DFC26BBC40B}" sibTransId="{189E8EB6-A113-4D1F-A57F-35513B1527E4}"/>
    <dgm:cxn modelId="{A88AE980-CB6B-458D-9EAD-64BADCC7CAE8}" type="presOf" srcId="{31F1FE58-A3C7-41CC-91C2-52643A15855E}" destId="{363CDFCC-B932-46B7-83FC-26FE01E6B976}" srcOrd="1" destOrd="0" presId="urn:microsoft.com/office/officeart/2005/8/layout/process5"/>
    <dgm:cxn modelId="{B6B21D81-80CE-4579-85D7-3CE6B6753433}" type="presOf" srcId="{BE9A6196-9EDA-4632-A416-8AADAC37181B}" destId="{ADCBE31E-CCAA-48FF-B4B4-77C6F66F53B5}" srcOrd="0" destOrd="0" presId="urn:microsoft.com/office/officeart/2005/8/layout/process5"/>
    <dgm:cxn modelId="{7B09FE8C-DDDF-4956-95FD-E6FA428F8877}" type="presOf" srcId="{31F1FE58-A3C7-41CC-91C2-52643A15855E}" destId="{69990016-6708-490C-9F3B-541020997542}" srcOrd="0" destOrd="0" presId="urn:microsoft.com/office/officeart/2005/8/layout/process5"/>
    <dgm:cxn modelId="{688CA794-A3A9-4A9F-BEAF-5FB31F8F3302}" type="presOf" srcId="{D6F1A5AF-F1B6-4DDF-AAA8-828267B460B5}" destId="{BA760FAE-5C08-4049-8745-629A5F6842B6}" srcOrd="0" destOrd="0" presId="urn:microsoft.com/office/officeart/2005/8/layout/process5"/>
    <dgm:cxn modelId="{034BCB94-5CA6-49C6-AF09-971B4825CB19}" srcId="{5976BB3B-03B5-451C-9E4D-5EB5E9C94262}" destId="{BE9A6196-9EDA-4632-A416-8AADAC37181B}" srcOrd="7" destOrd="0" parTransId="{B5B9FAC5-A039-463C-A913-7D669B561A9E}" sibTransId="{3FBDA197-6DFB-4B4E-A5A3-94256A5D86A8}"/>
    <dgm:cxn modelId="{F47BDB99-234E-4E50-8591-5DF8E230F115}" srcId="{5976BB3B-03B5-451C-9E4D-5EB5E9C94262}" destId="{1ECA17E2-4319-4133-9E52-DA48393C54D2}" srcOrd="3" destOrd="0" parTransId="{3DCB927D-C0B9-4C14-861C-BFF3A383BF30}" sibTransId="{36DE40E0-EE81-42AD-BF39-FBB54292CC32}"/>
    <dgm:cxn modelId="{4C59329E-F25E-4848-A9DA-B03702C1A32F}" type="presOf" srcId="{D6142C6E-3501-4CF8-AFE5-0C3AE13DA7A4}" destId="{69FD5B57-FC14-4B44-A85D-DA234882E766}" srcOrd="1" destOrd="0" presId="urn:microsoft.com/office/officeart/2005/8/layout/process5"/>
    <dgm:cxn modelId="{84059AAB-28F2-42D4-BE6D-5EC0AEDBD2BB}" type="presOf" srcId="{8E4753D2-2E38-40B4-9B3A-06FF1CA641A2}" destId="{1208CCC4-CCBC-45A1-BE06-D97C9E72EE09}" srcOrd="1" destOrd="0" presId="urn:microsoft.com/office/officeart/2005/8/layout/process5"/>
    <dgm:cxn modelId="{80B9D9AC-83E9-4BCB-BADB-D68D9F8DD9EB}" type="presOf" srcId="{B052B662-B6F9-4E54-9D43-D663AE87353B}" destId="{076C2780-0507-4560-9E37-E725E3F87983}" srcOrd="0" destOrd="0" presId="urn:microsoft.com/office/officeart/2005/8/layout/process5"/>
    <dgm:cxn modelId="{918BE7B7-23C4-46FE-8A1C-47C6ECF12B87}" srcId="{5976BB3B-03B5-451C-9E4D-5EB5E9C94262}" destId="{D6F1A5AF-F1B6-4DDF-AAA8-828267B460B5}" srcOrd="2" destOrd="0" parTransId="{67D4920D-602D-49D2-B6C3-2B65DFDC1E34}" sibTransId="{4DE0A418-D399-4A93-BC45-5791F0A38249}"/>
    <dgm:cxn modelId="{928986C3-2B86-4CB6-8374-C282C17A2E89}" type="presOf" srcId="{3FBDA197-6DFB-4B4E-A5A3-94256A5D86A8}" destId="{AE76C9C1-0D7A-416B-BA09-7383A7C868B4}" srcOrd="0" destOrd="0" presId="urn:microsoft.com/office/officeart/2005/8/layout/process5"/>
    <dgm:cxn modelId="{A5B637D2-06EE-4869-AB74-AEA43EF3215B}" type="presOf" srcId="{0EC7DC25-2C04-4A53-BCC7-9FA5AFB980C3}" destId="{BA1446E8-F18E-4AFA-9D59-96D9D155D3FE}" srcOrd="1" destOrd="0" presId="urn:microsoft.com/office/officeart/2005/8/layout/process5"/>
    <dgm:cxn modelId="{F0BF8CDB-A95A-4D7E-989C-D766AD69DF0A}" srcId="{5976BB3B-03B5-451C-9E4D-5EB5E9C94262}" destId="{E287B542-DFD8-4775-857D-6712742C9F92}" srcOrd="5" destOrd="0" parTransId="{CFB1C81D-CF52-4179-89AC-8A3AB1B29468}" sibTransId="{8E4753D2-2E38-40B4-9B3A-06FF1CA641A2}"/>
    <dgm:cxn modelId="{B7CB42DC-2E89-441C-A3D8-6F2E50F3BF50}" type="presOf" srcId="{83623F6C-D4F4-4F3B-903E-887B3FA36942}" destId="{C4C1E3A5-B20A-436E-A108-71445C47E1B7}" srcOrd="0" destOrd="0" presId="urn:microsoft.com/office/officeart/2005/8/layout/process5"/>
    <dgm:cxn modelId="{88FC24DF-48C0-44D7-B3A9-F409EC5E503F}" srcId="{5976BB3B-03B5-451C-9E4D-5EB5E9C94262}" destId="{657651DB-C532-4108-A550-1D7FD3080FED}" srcOrd="4" destOrd="0" parTransId="{35196431-5326-40B0-81BE-B836CFB048F8}" sibTransId="{B052B662-B6F9-4E54-9D43-D663AE87353B}"/>
    <dgm:cxn modelId="{A69CEAFC-80A4-4BB9-8BDF-B0D393E00AFF}" type="presOf" srcId="{4DE0A418-D399-4A93-BC45-5791F0A38249}" destId="{46E927EA-0254-4020-B836-BEAFA15C441B}" srcOrd="1" destOrd="0" presId="urn:microsoft.com/office/officeart/2005/8/layout/process5"/>
    <dgm:cxn modelId="{C5C775FE-2090-4A2F-862A-4D26E696783A}" type="presOf" srcId="{4DE0A418-D399-4A93-BC45-5791F0A38249}" destId="{4C334059-FC59-4FA0-B162-DA2F7BF51669}" srcOrd="0" destOrd="0" presId="urn:microsoft.com/office/officeart/2005/8/layout/process5"/>
    <dgm:cxn modelId="{5FD4A1FE-03D2-4C93-84BA-D22CD23B29DD}" srcId="{5976BB3B-03B5-451C-9E4D-5EB5E9C94262}" destId="{83623F6C-D4F4-4F3B-903E-887B3FA36942}" srcOrd="0" destOrd="0" parTransId="{906CA976-A619-4083-BBEC-AE0E9B8949E1}" sibTransId="{0EC7DC25-2C04-4A53-BCC7-9FA5AFB980C3}"/>
    <dgm:cxn modelId="{5E96AD07-E46F-4B84-B405-42F8F9F68974}" type="presParOf" srcId="{618AD189-C7E2-4A73-A7C2-2B088E3B7371}" destId="{C4C1E3A5-B20A-436E-A108-71445C47E1B7}" srcOrd="0" destOrd="0" presId="urn:microsoft.com/office/officeart/2005/8/layout/process5"/>
    <dgm:cxn modelId="{F970D89D-353B-4806-B573-FB1009647E02}" type="presParOf" srcId="{618AD189-C7E2-4A73-A7C2-2B088E3B7371}" destId="{9BF3C466-A8EC-4EB2-B35D-8CC5DE34CEA8}" srcOrd="1" destOrd="0" presId="urn:microsoft.com/office/officeart/2005/8/layout/process5"/>
    <dgm:cxn modelId="{8CA957A1-98FD-44A3-B3B5-529AE536843F}" type="presParOf" srcId="{9BF3C466-A8EC-4EB2-B35D-8CC5DE34CEA8}" destId="{BA1446E8-F18E-4AFA-9D59-96D9D155D3FE}" srcOrd="0" destOrd="0" presId="urn:microsoft.com/office/officeart/2005/8/layout/process5"/>
    <dgm:cxn modelId="{C760972A-3C20-476D-8C02-6F7A4957EB6E}" type="presParOf" srcId="{618AD189-C7E2-4A73-A7C2-2B088E3B7371}" destId="{509D6A7A-109E-45E3-B8A5-DDF27C09EDF3}" srcOrd="2" destOrd="0" presId="urn:microsoft.com/office/officeart/2005/8/layout/process5"/>
    <dgm:cxn modelId="{314DA84C-B981-49B9-9D7D-9EE0F6B4F86A}" type="presParOf" srcId="{618AD189-C7E2-4A73-A7C2-2B088E3B7371}" destId="{E47B44CB-C06F-4F5A-A6E9-23EA042C2D60}" srcOrd="3" destOrd="0" presId="urn:microsoft.com/office/officeart/2005/8/layout/process5"/>
    <dgm:cxn modelId="{DE1A3617-6BBE-4847-A008-97EEED89C8C7}" type="presParOf" srcId="{E47B44CB-C06F-4F5A-A6E9-23EA042C2D60}" destId="{69FD5B57-FC14-4B44-A85D-DA234882E766}" srcOrd="0" destOrd="0" presId="urn:microsoft.com/office/officeart/2005/8/layout/process5"/>
    <dgm:cxn modelId="{A552087B-BEA5-43C6-B1C5-1128D6CE92C9}" type="presParOf" srcId="{618AD189-C7E2-4A73-A7C2-2B088E3B7371}" destId="{BA760FAE-5C08-4049-8745-629A5F6842B6}" srcOrd="4" destOrd="0" presId="urn:microsoft.com/office/officeart/2005/8/layout/process5"/>
    <dgm:cxn modelId="{5A28A6AE-A479-453F-890E-F2A81C93D4D2}" type="presParOf" srcId="{618AD189-C7E2-4A73-A7C2-2B088E3B7371}" destId="{4C334059-FC59-4FA0-B162-DA2F7BF51669}" srcOrd="5" destOrd="0" presId="urn:microsoft.com/office/officeart/2005/8/layout/process5"/>
    <dgm:cxn modelId="{412D3480-A5D5-4DC8-9FA4-E3A8D83C1BBD}" type="presParOf" srcId="{4C334059-FC59-4FA0-B162-DA2F7BF51669}" destId="{46E927EA-0254-4020-B836-BEAFA15C441B}" srcOrd="0" destOrd="0" presId="urn:microsoft.com/office/officeart/2005/8/layout/process5"/>
    <dgm:cxn modelId="{2F8A71B6-13F8-4735-B9DE-95E80B0FEA5B}" type="presParOf" srcId="{618AD189-C7E2-4A73-A7C2-2B088E3B7371}" destId="{E7EE09FB-6FE0-465C-BB95-43D2080BBA26}" srcOrd="6" destOrd="0" presId="urn:microsoft.com/office/officeart/2005/8/layout/process5"/>
    <dgm:cxn modelId="{E011C4EC-703A-4E95-B7C7-98BE71898E83}" type="presParOf" srcId="{618AD189-C7E2-4A73-A7C2-2B088E3B7371}" destId="{56F0380D-F54C-4BE7-93C6-BC485ADA910A}" srcOrd="7" destOrd="0" presId="urn:microsoft.com/office/officeart/2005/8/layout/process5"/>
    <dgm:cxn modelId="{0D94578E-94E0-47CF-84E8-F83AD3556977}" type="presParOf" srcId="{56F0380D-F54C-4BE7-93C6-BC485ADA910A}" destId="{28B0A997-DCC1-41B9-B674-33283A5BE774}" srcOrd="0" destOrd="0" presId="urn:microsoft.com/office/officeart/2005/8/layout/process5"/>
    <dgm:cxn modelId="{F453E794-E276-4136-A402-7416B78382CC}" type="presParOf" srcId="{618AD189-C7E2-4A73-A7C2-2B088E3B7371}" destId="{849B96A0-5BF2-4F65-8E8D-EB312DBDB314}" srcOrd="8" destOrd="0" presId="urn:microsoft.com/office/officeart/2005/8/layout/process5"/>
    <dgm:cxn modelId="{5E44B822-5AF3-4702-B9B8-B778FF109A5C}" type="presParOf" srcId="{618AD189-C7E2-4A73-A7C2-2B088E3B7371}" destId="{076C2780-0507-4560-9E37-E725E3F87983}" srcOrd="9" destOrd="0" presId="urn:microsoft.com/office/officeart/2005/8/layout/process5"/>
    <dgm:cxn modelId="{5B125460-0E89-4D09-A437-2E4B6DE4DA09}" type="presParOf" srcId="{076C2780-0507-4560-9E37-E725E3F87983}" destId="{105722A7-6066-4C7C-97E6-13F049DBD0D1}" srcOrd="0" destOrd="0" presId="urn:microsoft.com/office/officeart/2005/8/layout/process5"/>
    <dgm:cxn modelId="{8B5ACAFA-14C1-49C6-9218-1B5B2F435909}" type="presParOf" srcId="{618AD189-C7E2-4A73-A7C2-2B088E3B7371}" destId="{276797F9-05A3-4B23-80DA-56AE658B6F54}" srcOrd="10" destOrd="0" presId="urn:microsoft.com/office/officeart/2005/8/layout/process5"/>
    <dgm:cxn modelId="{7EC4504E-49DE-49F4-A34E-CE3CFFF3CAF2}" type="presParOf" srcId="{618AD189-C7E2-4A73-A7C2-2B088E3B7371}" destId="{F864B552-ADEE-43CF-ABBC-37086DF07CED}" srcOrd="11" destOrd="0" presId="urn:microsoft.com/office/officeart/2005/8/layout/process5"/>
    <dgm:cxn modelId="{BEDE6C6F-9ACB-48B1-B570-48CA02AFE72B}" type="presParOf" srcId="{F864B552-ADEE-43CF-ABBC-37086DF07CED}" destId="{1208CCC4-CCBC-45A1-BE06-D97C9E72EE09}" srcOrd="0" destOrd="0" presId="urn:microsoft.com/office/officeart/2005/8/layout/process5"/>
    <dgm:cxn modelId="{2B826335-2231-4B90-92BF-3EAB7C228553}" type="presParOf" srcId="{618AD189-C7E2-4A73-A7C2-2B088E3B7371}" destId="{F3F562E3-F21C-4991-81F7-6A0EBE735E28}" srcOrd="12" destOrd="0" presId="urn:microsoft.com/office/officeart/2005/8/layout/process5"/>
    <dgm:cxn modelId="{0D5136D7-18B5-41E6-B4C8-84D92AB1B383}" type="presParOf" srcId="{618AD189-C7E2-4A73-A7C2-2B088E3B7371}" destId="{69990016-6708-490C-9F3B-541020997542}" srcOrd="13" destOrd="0" presId="urn:microsoft.com/office/officeart/2005/8/layout/process5"/>
    <dgm:cxn modelId="{4E942B5D-5D22-4494-8AEA-84EFEFE48F3E}" type="presParOf" srcId="{69990016-6708-490C-9F3B-541020997542}" destId="{363CDFCC-B932-46B7-83FC-26FE01E6B976}" srcOrd="0" destOrd="0" presId="urn:microsoft.com/office/officeart/2005/8/layout/process5"/>
    <dgm:cxn modelId="{2DF632E6-83CB-4B85-8FB2-FE30CC5866BD}" type="presParOf" srcId="{618AD189-C7E2-4A73-A7C2-2B088E3B7371}" destId="{ADCBE31E-CCAA-48FF-B4B4-77C6F66F53B5}" srcOrd="14" destOrd="0" presId="urn:microsoft.com/office/officeart/2005/8/layout/process5"/>
    <dgm:cxn modelId="{FE582CB1-A96F-4D77-9A0F-48EB2384D193}" type="presParOf" srcId="{618AD189-C7E2-4A73-A7C2-2B088E3B7371}" destId="{AE76C9C1-0D7A-416B-BA09-7383A7C868B4}" srcOrd="15" destOrd="0" presId="urn:microsoft.com/office/officeart/2005/8/layout/process5"/>
    <dgm:cxn modelId="{1E2D50B1-2EBA-45B3-B2CA-353F9064E204}" type="presParOf" srcId="{AE76C9C1-0D7A-416B-BA09-7383A7C868B4}" destId="{62D6C08C-8299-40BC-85FC-8D1CDD9DA746}" srcOrd="0" destOrd="0" presId="urn:microsoft.com/office/officeart/2005/8/layout/process5"/>
    <dgm:cxn modelId="{84A50056-084C-4373-8DD9-FA5CE390B6E5}" type="presParOf" srcId="{618AD189-C7E2-4A73-A7C2-2B088E3B7371}" destId="{EC9DE736-9E58-427D-BD0F-65339E3B9F7E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2BE59-097B-4CA8-A11E-B1E78E90C779}">
      <dsp:nvSpPr>
        <dsp:cNvPr id="0" name=""/>
        <dsp:cNvSpPr/>
      </dsp:nvSpPr>
      <dsp:spPr>
        <a:xfrm>
          <a:off x="802576" y="0"/>
          <a:ext cx="9095864" cy="3125337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29519-1C10-436B-B39D-FB8828EBACB7}">
      <dsp:nvSpPr>
        <dsp:cNvPr id="0" name=""/>
        <dsp:cNvSpPr/>
      </dsp:nvSpPr>
      <dsp:spPr>
        <a:xfrm>
          <a:off x="443940" y="910310"/>
          <a:ext cx="1784710" cy="125013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ANOVA</a:t>
          </a:r>
          <a:endParaRPr lang="en-IN" sz="3100" kern="1200"/>
        </a:p>
      </dsp:txBody>
      <dsp:txXfrm>
        <a:off x="504967" y="971337"/>
        <a:ext cx="1662656" cy="1128080"/>
      </dsp:txXfrm>
    </dsp:sp>
    <dsp:sp modelId="{A47F0F01-0AD4-42E3-A255-6C8B3855A2B7}">
      <dsp:nvSpPr>
        <dsp:cNvPr id="0" name=""/>
        <dsp:cNvSpPr/>
      </dsp:nvSpPr>
      <dsp:spPr>
        <a:xfrm>
          <a:off x="2556041" y="896659"/>
          <a:ext cx="1674627" cy="125013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PCA</a:t>
          </a:r>
          <a:endParaRPr lang="en-IN" sz="3100" kern="1200"/>
        </a:p>
      </dsp:txBody>
      <dsp:txXfrm>
        <a:off x="2617068" y="957686"/>
        <a:ext cx="1552573" cy="1128080"/>
      </dsp:txXfrm>
    </dsp:sp>
    <dsp:sp modelId="{CB75F921-C843-4419-B5BA-350D75085F58}">
      <dsp:nvSpPr>
        <dsp:cNvPr id="0" name=""/>
        <dsp:cNvSpPr/>
      </dsp:nvSpPr>
      <dsp:spPr>
        <a:xfrm>
          <a:off x="4677233" y="883007"/>
          <a:ext cx="1870717" cy="125013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"/>
            </a:rPr>
            <a:t>ELBOW METHOD</a:t>
          </a:r>
          <a:endParaRPr lang="en-US" sz="3100" kern="1200"/>
        </a:p>
      </dsp:txBody>
      <dsp:txXfrm>
        <a:off x="4738260" y="944034"/>
        <a:ext cx="1748663" cy="1128080"/>
      </dsp:txXfrm>
    </dsp:sp>
    <dsp:sp modelId="{38194265-FC40-4740-9AE1-35098FC2512B}">
      <dsp:nvSpPr>
        <dsp:cNvPr id="0" name=""/>
        <dsp:cNvSpPr/>
      </dsp:nvSpPr>
      <dsp:spPr>
        <a:xfrm>
          <a:off x="6915122" y="860417"/>
          <a:ext cx="1813402" cy="125013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"/>
            </a:rPr>
            <a:t>OLS</a:t>
          </a:r>
          <a:endParaRPr lang="en-US" sz="3100" kern="1200"/>
        </a:p>
      </dsp:txBody>
      <dsp:txXfrm>
        <a:off x="6976149" y="921444"/>
        <a:ext cx="1691348" cy="1128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1E3A5-B20A-436E-A108-71445C47E1B7}">
      <dsp:nvSpPr>
        <dsp:cNvPr id="0" name=""/>
        <dsp:cNvSpPr/>
      </dsp:nvSpPr>
      <dsp:spPr>
        <a:xfrm>
          <a:off x="174680" y="408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Data preparation (mashing, fermentation, wash still, spirit still)</a:t>
          </a:r>
          <a:endParaRPr lang="en-US" sz="1400" kern="1200"/>
        </a:p>
      </dsp:txBody>
      <dsp:txXfrm>
        <a:off x="209697" y="35425"/>
        <a:ext cx="1922574" cy="1125531"/>
      </dsp:txXfrm>
    </dsp:sp>
    <dsp:sp modelId="{9BF3C466-A8EC-4EB2-B35D-8CC5DE34CEA8}">
      <dsp:nvSpPr>
        <dsp:cNvPr id="0" name=""/>
        <dsp:cNvSpPr/>
      </dsp:nvSpPr>
      <dsp:spPr>
        <a:xfrm>
          <a:off x="2342638" y="351107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342638" y="449940"/>
        <a:ext cx="295703" cy="296501"/>
      </dsp:txXfrm>
    </dsp:sp>
    <dsp:sp modelId="{509D6A7A-109E-45E3-B8A5-DDF27C09EDF3}">
      <dsp:nvSpPr>
        <dsp:cNvPr id="0" name=""/>
        <dsp:cNvSpPr/>
      </dsp:nvSpPr>
      <dsp:spPr>
        <a:xfrm>
          <a:off x="2964332" y="408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Correlation analysis</a:t>
          </a:r>
          <a:endParaRPr lang="en-US" sz="1400" kern="1200"/>
        </a:p>
      </dsp:txBody>
      <dsp:txXfrm>
        <a:off x="2999349" y="35425"/>
        <a:ext cx="1922574" cy="1125531"/>
      </dsp:txXfrm>
    </dsp:sp>
    <dsp:sp modelId="{E47B44CB-C06F-4F5A-A6E9-23EA042C2D60}">
      <dsp:nvSpPr>
        <dsp:cNvPr id="0" name=""/>
        <dsp:cNvSpPr/>
      </dsp:nvSpPr>
      <dsp:spPr>
        <a:xfrm>
          <a:off x="5132291" y="351107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132291" y="449940"/>
        <a:ext cx="295703" cy="296501"/>
      </dsp:txXfrm>
    </dsp:sp>
    <dsp:sp modelId="{BA760FAE-5C08-4049-8745-629A5F6842B6}">
      <dsp:nvSpPr>
        <dsp:cNvPr id="0" name=""/>
        <dsp:cNvSpPr/>
      </dsp:nvSpPr>
      <dsp:spPr>
        <a:xfrm>
          <a:off x="5753985" y="408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Modelling (p-value, logistic regression, Naïve Bayes)</a:t>
          </a:r>
          <a:endParaRPr lang="en-US" sz="1400" kern="1200"/>
        </a:p>
      </dsp:txBody>
      <dsp:txXfrm>
        <a:off x="5789002" y="35425"/>
        <a:ext cx="1922574" cy="1125531"/>
      </dsp:txXfrm>
    </dsp:sp>
    <dsp:sp modelId="{4C334059-FC59-4FA0-B162-DA2F7BF51669}">
      <dsp:nvSpPr>
        <dsp:cNvPr id="0" name=""/>
        <dsp:cNvSpPr/>
      </dsp:nvSpPr>
      <dsp:spPr>
        <a:xfrm>
          <a:off x="7921943" y="351107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921943" y="449940"/>
        <a:ext cx="295703" cy="296501"/>
      </dsp:txXfrm>
    </dsp:sp>
    <dsp:sp modelId="{E7EE09FB-6FE0-465C-BB95-43D2080BBA26}">
      <dsp:nvSpPr>
        <dsp:cNvPr id="0" name=""/>
        <dsp:cNvSpPr/>
      </dsp:nvSpPr>
      <dsp:spPr>
        <a:xfrm>
          <a:off x="8543637" y="408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SCADA data dis and calculate the correlation and modelling but didn't get the critical feature </a:t>
          </a:r>
          <a:endParaRPr lang="en-US" sz="1400" kern="1200"/>
        </a:p>
      </dsp:txBody>
      <dsp:txXfrm>
        <a:off x="8578654" y="35425"/>
        <a:ext cx="1922574" cy="1125531"/>
      </dsp:txXfrm>
    </dsp:sp>
    <dsp:sp modelId="{56F0380D-F54C-4BE7-93C6-BC485ADA910A}">
      <dsp:nvSpPr>
        <dsp:cNvPr id="0" name=""/>
        <dsp:cNvSpPr/>
      </dsp:nvSpPr>
      <dsp:spPr>
        <a:xfrm rot="5400000">
          <a:off x="9328725" y="1335456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9391691" y="1371323"/>
        <a:ext cx="296501" cy="295703"/>
      </dsp:txXfrm>
    </dsp:sp>
    <dsp:sp modelId="{849B96A0-5BF2-4F65-8E8D-EB312DBDB314}">
      <dsp:nvSpPr>
        <dsp:cNvPr id="0" name=""/>
        <dsp:cNvSpPr/>
      </dsp:nvSpPr>
      <dsp:spPr>
        <a:xfrm>
          <a:off x="8543637" y="1993017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Cal VIF (Variance Inflation Factor)</a:t>
          </a:r>
          <a:endParaRPr lang="en-US" sz="1400" kern="1200"/>
        </a:p>
      </dsp:txBody>
      <dsp:txXfrm>
        <a:off x="8578654" y="2028034"/>
        <a:ext cx="1922574" cy="1125531"/>
      </dsp:txXfrm>
    </dsp:sp>
    <dsp:sp modelId="{076C2780-0507-4560-9E37-E725E3F87983}">
      <dsp:nvSpPr>
        <dsp:cNvPr id="0" name=""/>
        <dsp:cNvSpPr/>
      </dsp:nvSpPr>
      <dsp:spPr>
        <a:xfrm rot="10800000">
          <a:off x="7945855" y="2343716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8072585" y="2442549"/>
        <a:ext cx="295703" cy="296501"/>
      </dsp:txXfrm>
    </dsp:sp>
    <dsp:sp modelId="{276797F9-05A3-4B23-80DA-56AE658B6F54}">
      <dsp:nvSpPr>
        <dsp:cNvPr id="0" name=""/>
        <dsp:cNvSpPr/>
      </dsp:nvSpPr>
      <dsp:spPr>
        <a:xfrm>
          <a:off x="5753985" y="1993017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ANNOVA +PCA (elbow method)</a:t>
          </a:r>
          <a:endParaRPr lang="en-US" sz="1400" kern="1200"/>
        </a:p>
      </dsp:txBody>
      <dsp:txXfrm>
        <a:off x="5789002" y="2028034"/>
        <a:ext cx="1922574" cy="1125531"/>
      </dsp:txXfrm>
    </dsp:sp>
    <dsp:sp modelId="{F864B552-ADEE-43CF-ABBC-37086DF07CED}">
      <dsp:nvSpPr>
        <dsp:cNvPr id="0" name=""/>
        <dsp:cNvSpPr/>
      </dsp:nvSpPr>
      <dsp:spPr>
        <a:xfrm rot="10800000">
          <a:off x="5156202" y="2343716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5282932" y="2442549"/>
        <a:ext cx="295703" cy="296501"/>
      </dsp:txXfrm>
    </dsp:sp>
    <dsp:sp modelId="{F3F562E3-F21C-4991-81F7-6A0EBE735E28}">
      <dsp:nvSpPr>
        <dsp:cNvPr id="0" name=""/>
        <dsp:cNvSpPr/>
      </dsp:nvSpPr>
      <dsp:spPr>
        <a:xfrm>
          <a:off x="2964332" y="1993017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OLS regression and got the features having highest importance with respect to each flavor</a:t>
          </a:r>
          <a:endParaRPr lang="en-US" sz="1400" kern="1200"/>
        </a:p>
      </dsp:txBody>
      <dsp:txXfrm>
        <a:off x="2999349" y="2028034"/>
        <a:ext cx="1922574" cy="1125531"/>
      </dsp:txXfrm>
    </dsp:sp>
    <dsp:sp modelId="{69990016-6708-490C-9F3B-541020997542}">
      <dsp:nvSpPr>
        <dsp:cNvPr id="0" name=""/>
        <dsp:cNvSpPr/>
      </dsp:nvSpPr>
      <dsp:spPr>
        <a:xfrm rot="10800000">
          <a:off x="2366550" y="2343716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493280" y="2442549"/>
        <a:ext cx="295703" cy="296501"/>
      </dsp:txXfrm>
    </dsp:sp>
    <dsp:sp modelId="{ADCBE31E-CCAA-48FF-B4B4-77C6F66F53B5}">
      <dsp:nvSpPr>
        <dsp:cNvPr id="0" name=""/>
        <dsp:cNvSpPr/>
      </dsp:nvSpPr>
      <dsp:spPr>
        <a:xfrm>
          <a:off x="174680" y="1993017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Model development (Logistic regression and other model )</a:t>
          </a:r>
          <a:endParaRPr lang="en-US" sz="1400" kern="1200"/>
        </a:p>
      </dsp:txBody>
      <dsp:txXfrm>
        <a:off x="209697" y="2028034"/>
        <a:ext cx="1922574" cy="1125531"/>
      </dsp:txXfrm>
    </dsp:sp>
    <dsp:sp modelId="{AE76C9C1-0D7A-416B-BA09-7383A7C868B4}">
      <dsp:nvSpPr>
        <dsp:cNvPr id="0" name=""/>
        <dsp:cNvSpPr/>
      </dsp:nvSpPr>
      <dsp:spPr>
        <a:xfrm rot="5400000">
          <a:off x="959768" y="3328065"/>
          <a:ext cx="422433" cy="4941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022734" y="3363932"/>
        <a:ext cx="296501" cy="295703"/>
      </dsp:txXfrm>
    </dsp:sp>
    <dsp:sp modelId="{EC9DE736-9E58-427D-BD0F-65339E3B9F7E}">
      <dsp:nvSpPr>
        <dsp:cNvPr id="0" name=""/>
        <dsp:cNvSpPr/>
      </dsp:nvSpPr>
      <dsp:spPr>
        <a:xfrm>
          <a:off x="174680" y="3985626"/>
          <a:ext cx="1992608" cy="11955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Used SCADA data with respect to target variable and applied ANNOVA+PCA+OLS</a:t>
          </a:r>
          <a:endParaRPr lang="en-US" sz="1400" kern="1200"/>
        </a:p>
      </dsp:txBody>
      <dsp:txXfrm>
        <a:off x="209697" y="4020643"/>
        <a:ext cx="1922574" cy="11255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96DF1-EB42-4F69-B634-CDEC17FEE2F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E8D66-7F33-4FDC-9319-BB6F9C34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8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27092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74568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18736D24-50A5-9B10-E288-06FB05C0A505}"/>
              </a:ext>
            </a:extLst>
          </p:cNvPr>
          <p:cNvSpPr/>
          <p:nvPr userDrawn="1"/>
        </p:nvSpPr>
        <p:spPr>
          <a:xfrm>
            <a:off x="5897217" y="6274904"/>
            <a:ext cx="397565" cy="390938"/>
          </a:xfrm>
          <a:prstGeom prst="ellipse">
            <a:avLst/>
          </a:prstGeom>
          <a:solidFill>
            <a:srgbClr val="0058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82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75266" y="6274904"/>
            <a:ext cx="419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276DDA-B4F6-10A7-1875-A284D9055188}"/>
              </a:ext>
            </a:extLst>
          </p:cNvPr>
          <p:cNvCxnSpPr>
            <a:cxnSpLocks/>
          </p:cNvCxnSpPr>
          <p:nvPr userDrawn="1"/>
        </p:nvCxnSpPr>
        <p:spPr>
          <a:xfrm>
            <a:off x="1808920" y="6503503"/>
            <a:ext cx="3352799" cy="19879"/>
          </a:xfrm>
          <a:prstGeom prst="straightConnector1">
            <a:avLst/>
          </a:prstGeom>
          <a:ln w="28575">
            <a:solidFill>
              <a:srgbClr val="F15D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99B048-68BC-7654-4ECE-6595AF1351CD}"/>
              </a:ext>
            </a:extLst>
          </p:cNvPr>
          <p:cNvCxnSpPr>
            <a:cxnSpLocks/>
          </p:cNvCxnSpPr>
          <p:nvPr userDrawn="1"/>
        </p:nvCxnSpPr>
        <p:spPr>
          <a:xfrm>
            <a:off x="6950763" y="6503502"/>
            <a:ext cx="3352799" cy="19879"/>
          </a:xfrm>
          <a:prstGeom prst="straightConnector1">
            <a:avLst/>
          </a:prstGeom>
          <a:ln w="28575">
            <a:solidFill>
              <a:srgbClr val="F15D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5258000-0EF8-7AB1-06C2-A388B8C913BC}"/>
              </a:ext>
            </a:extLst>
          </p:cNvPr>
          <p:cNvSpPr txBox="1"/>
          <p:nvPr userDrawn="1"/>
        </p:nvSpPr>
        <p:spPr>
          <a:xfrm>
            <a:off x="10389704" y="6294783"/>
            <a:ext cx="16830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 Light"/>
                <a:ea typeface="+mn-lt"/>
                <a:cs typeface="Calibri Light"/>
              </a:rPr>
              <a:t>crgsolutions.co</a:t>
            </a:r>
            <a:endParaRPr lang="en-US">
              <a:latin typeface="Calibri Light"/>
              <a:cs typeface="Calibri Ligh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3D4C48-3FA5-FA54-2EC6-ADC0D6B1C68D}"/>
              </a:ext>
            </a:extLst>
          </p:cNvPr>
          <p:cNvCxnSpPr/>
          <p:nvPr userDrawn="1"/>
        </p:nvCxnSpPr>
        <p:spPr>
          <a:xfrm flipV="1">
            <a:off x="887895" y="500270"/>
            <a:ext cx="2292626" cy="6625"/>
          </a:xfrm>
          <a:prstGeom prst="straightConnector1">
            <a:avLst/>
          </a:prstGeom>
          <a:ln w="57150">
            <a:solidFill>
              <a:srgbClr val="F15D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blue and black circle&#10;&#10;Description automatically generated">
            <a:extLst>
              <a:ext uri="{FF2B5EF4-FFF2-40B4-BE49-F238E27FC236}">
                <a16:creationId xmlns:a16="http://schemas.microsoft.com/office/drawing/2014/main" id="{FF26F4DB-A72C-0E31-69F8-CACFBCBBBAA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940396" y="1962"/>
            <a:ext cx="1248149" cy="13781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0392FA-E65B-93EF-BD63-BF4DD262274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81973" y="6075544"/>
            <a:ext cx="1314875" cy="65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7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microsoft.com/office/2007/relationships/hdphoto" Target="../media/hdphoto5.wdp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3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952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A orange lines on a black background&#10;&#10;Description automatically generated">
            <a:extLst>
              <a:ext uri="{FF2B5EF4-FFF2-40B4-BE49-F238E27FC236}">
                <a16:creationId xmlns:a16="http://schemas.microsoft.com/office/drawing/2014/main" id="{A9E1E7D5-F7D9-EDFE-AF7A-80641D87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048" y="3362"/>
            <a:ext cx="6107952" cy="6854638"/>
          </a:xfrm>
          <a:prstGeom prst="rect">
            <a:avLst/>
          </a:prstGeom>
        </p:spPr>
      </p:pic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48879CD4-82B1-98DE-C26F-EC4E4AC3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82" y="1023937"/>
            <a:ext cx="5160885" cy="5025281"/>
          </a:xfrm>
          <a:prstGeom prst="rect">
            <a:avLst/>
          </a:prstGeom>
        </p:spPr>
      </p:pic>
      <p:pic>
        <p:nvPicPr>
          <p:cNvPr id="7" name="Picture 6" descr="A black and white background with grey squares&#10;&#10;Description automatically generated">
            <a:extLst>
              <a:ext uri="{FF2B5EF4-FFF2-40B4-BE49-F238E27FC236}">
                <a16:creationId xmlns:a16="http://schemas.microsoft.com/office/drawing/2014/main" id="{6BAF61C7-14AD-2EA1-7510-06351FBB0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603376" cy="2996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6360C8-7CD1-B20B-01E9-EBE80B126D88}"/>
              </a:ext>
            </a:extLst>
          </p:cNvPr>
          <p:cNvSpPr txBox="1"/>
          <p:nvPr/>
        </p:nvSpPr>
        <p:spPr>
          <a:xfrm>
            <a:off x="1122718" y="4303934"/>
            <a:ext cx="64604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>
                    <a:lumMod val="75000"/>
                  </a:schemeClr>
                </a:solidFill>
                <a:latin typeface="Trebuchet MS"/>
              </a:rPr>
              <a:t>Smart Distillery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0392FA-E65B-93EF-BD63-BF4DD2622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718" y="2298108"/>
            <a:ext cx="3253408" cy="1615640"/>
          </a:xfrm>
          <a:prstGeom prst="rect">
            <a:avLst/>
          </a:prstGeom>
        </p:spPr>
      </p:pic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559B28CD-B5A8-6C62-9CC9-01D1B2B8B9B2}"/>
              </a:ext>
            </a:extLst>
          </p:cNvPr>
          <p:cNvSpPr txBox="1"/>
          <p:nvPr/>
        </p:nvSpPr>
        <p:spPr>
          <a:xfrm>
            <a:off x="1122718" y="5636676"/>
            <a:ext cx="2904174" cy="4125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IN" sz="1600">
                <a:solidFill>
                  <a:schemeClr val="bg2">
                    <a:lumMod val="75000"/>
                  </a:schemeClr>
                </a:solidFill>
                <a:latin typeface="Trebuchet MS" panose="020B0603020202020204"/>
                <a:ea typeface="Cambria" panose="02040503050406030204"/>
              </a:rPr>
              <a:t>Date: 19</a:t>
            </a:r>
            <a:r>
              <a:rPr lang="en-US" altLang="en-IN" sz="1600" baseline="30000">
                <a:solidFill>
                  <a:schemeClr val="bg2">
                    <a:lumMod val="75000"/>
                  </a:schemeClr>
                </a:solidFill>
                <a:latin typeface="Trebuchet MS" panose="020B0603020202020204"/>
                <a:ea typeface="Cambria" panose="02040503050406030204"/>
              </a:rPr>
              <a:t>th</a:t>
            </a:r>
            <a:r>
              <a:rPr lang="en-US" altLang="en-IN" sz="1600">
                <a:solidFill>
                  <a:schemeClr val="bg2">
                    <a:lumMod val="75000"/>
                  </a:schemeClr>
                </a:solidFill>
                <a:latin typeface="Trebuchet MS" panose="020B0603020202020204"/>
                <a:ea typeface="Cambria" panose="02040503050406030204"/>
              </a:rPr>
              <a:t> September 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hlinkClick r:id="" action="ppaction://noaction"/>
            <a:extLst>
              <a:ext uri="{FF2B5EF4-FFF2-40B4-BE49-F238E27FC236}">
                <a16:creationId xmlns:a16="http://schemas.microsoft.com/office/drawing/2014/main" id="{C42CD640-1EAB-4211-9221-4C4B29C86531}"/>
              </a:ext>
            </a:extLst>
          </p:cNvPr>
          <p:cNvSpPr txBox="1"/>
          <p:nvPr/>
        </p:nvSpPr>
        <p:spPr>
          <a:xfrm>
            <a:off x="4316693" y="3631801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05</a:t>
            </a:r>
          </a:p>
        </p:txBody>
      </p:sp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3B6A8CA2-B632-40EA-BAE8-CD9E52F8A07B}"/>
              </a:ext>
            </a:extLst>
          </p:cNvPr>
          <p:cNvSpPr txBox="1"/>
          <p:nvPr/>
        </p:nvSpPr>
        <p:spPr>
          <a:xfrm>
            <a:off x="4968110" y="1550685"/>
            <a:ext cx="217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005A80"/>
                </a:solidFill>
                <a:latin typeface="Trebuchet MS" panose="020B0603020202020204" pitchFamily="34" charset="0"/>
              </a:rPr>
              <a:t>Problem Statement</a:t>
            </a:r>
            <a:endParaRPr lang="en-IN" sz="1800">
              <a:solidFill>
                <a:srgbClr val="005A8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6424C1CB-4789-495D-86A9-BADDF2B3D93F}"/>
              </a:ext>
            </a:extLst>
          </p:cNvPr>
          <p:cNvSpPr/>
          <p:nvPr/>
        </p:nvSpPr>
        <p:spPr>
          <a:xfrm>
            <a:off x="4946678" y="1522539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solidFill>
                <a:srgbClr val="C14B1D"/>
              </a:solidFill>
              <a:latin typeface="Trebuchet MS"/>
            </a:endParaRPr>
          </a:p>
          <a:p>
            <a:pPr algn="ctr"/>
            <a:endParaRPr lang="en-IN">
              <a:latin typeface="Trebuchet MS" panose="020B06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696F0-273A-4C3F-989E-78874182470E}"/>
              </a:ext>
            </a:extLst>
          </p:cNvPr>
          <p:cNvSpPr/>
          <p:nvPr/>
        </p:nvSpPr>
        <p:spPr>
          <a:xfrm>
            <a:off x="4325465" y="1522539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rebuchet MS" panose="020B0603020202020204" pitchFamily="34" charset="0"/>
            </a:endParaRPr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03EBD68D-ABCA-4C70-905F-60D3D1EAA8BA}"/>
              </a:ext>
            </a:extLst>
          </p:cNvPr>
          <p:cNvSpPr txBox="1"/>
          <p:nvPr/>
        </p:nvSpPr>
        <p:spPr>
          <a:xfrm>
            <a:off x="4325465" y="1522539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01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C1F4F0B7-AE5E-4FDC-9256-07EBA8C9E3B6}"/>
              </a:ext>
            </a:extLst>
          </p:cNvPr>
          <p:cNvSpPr/>
          <p:nvPr/>
        </p:nvSpPr>
        <p:spPr>
          <a:xfrm>
            <a:off x="4946678" y="2052515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rebuchet MS" panose="020B0603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93FFE4-13CD-4FAA-9955-4D7CE68AF673}"/>
              </a:ext>
            </a:extLst>
          </p:cNvPr>
          <p:cNvSpPr/>
          <p:nvPr/>
        </p:nvSpPr>
        <p:spPr>
          <a:xfrm>
            <a:off x="4325465" y="2048269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rebuchet MS" panose="020B0603020202020204" pitchFamily="34" charset="0"/>
            </a:endParaRPr>
          </a:p>
        </p:txBody>
      </p:sp>
      <p:sp>
        <p:nvSpPr>
          <p:cNvPr id="9" name="TextBox 8">
            <a:hlinkClick r:id="rId3" action="ppaction://hlinksldjump"/>
            <a:extLst>
              <a:ext uri="{FF2B5EF4-FFF2-40B4-BE49-F238E27FC236}">
                <a16:creationId xmlns:a16="http://schemas.microsoft.com/office/drawing/2014/main" id="{31CC45AF-E803-4135-A38C-CE017EEDB8B5}"/>
              </a:ext>
            </a:extLst>
          </p:cNvPr>
          <p:cNvSpPr txBox="1"/>
          <p:nvPr/>
        </p:nvSpPr>
        <p:spPr>
          <a:xfrm>
            <a:off x="4308463" y="2026540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02</a:t>
            </a:r>
          </a:p>
        </p:txBody>
      </p:sp>
      <p:sp>
        <p:nvSpPr>
          <p:cNvPr id="10" name="TextBox 9">
            <a:hlinkClick r:id="" action="ppaction://noaction"/>
            <a:extLst>
              <a:ext uri="{FF2B5EF4-FFF2-40B4-BE49-F238E27FC236}">
                <a16:creationId xmlns:a16="http://schemas.microsoft.com/office/drawing/2014/main" id="{87CC07D6-8A60-4F42-AFFB-0819EFE09300}"/>
              </a:ext>
            </a:extLst>
          </p:cNvPr>
          <p:cNvSpPr txBox="1"/>
          <p:nvPr/>
        </p:nvSpPr>
        <p:spPr>
          <a:xfrm>
            <a:off x="4968110" y="2612763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5A80"/>
                </a:solidFill>
                <a:latin typeface="Trebuchet MS" panose="020B0603020202020204" pitchFamily="34" charset="0"/>
              </a:rPr>
              <a:t>C</a:t>
            </a:r>
            <a:r>
              <a:rPr lang="en-IN">
                <a:solidFill>
                  <a:srgbClr val="005A80"/>
                </a:solidFill>
                <a:latin typeface="Trebuchet MS" panose="020B0603020202020204" pitchFamily="34" charset="0"/>
              </a:rPr>
              <a:t>orrelation analysis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FE4D0A6D-99F8-431A-8710-A45608EBB015}"/>
              </a:ext>
            </a:extLst>
          </p:cNvPr>
          <p:cNvSpPr/>
          <p:nvPr/>
        </p:nvSpPr>
        <p:spPr>
          <a:xfrm>
            <a:off x="4946678" y="2587821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rebuchet MS" panose="020B06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882F0B-B03E-4620-8AD6-FC1D7A18B378}"/>
              </a:ext>
            </a:extLst>
          </p:cNvPr>
          <p:cNvSpPr/>
          <p:nvPr/>
        </p:nvSpPr>
        <p:spPr>
          <a:xfrm>
            <a:off x="4325465" y="2573999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rebuchet MS" panose="020B0603020202020204" pitchFamily="34" charset="0"/>
            </a:endParaRPr>
          </a:p>
        </p:txBody>
      </p:sp>
      <p:sp>
        <p:nvSpPr>
          <p:cNvPr id="13" name="TextBox 12">
            <a:hlinkClick r:id="" action="ppaction://noaction"/>
            <a:extLst>
              <a:ext uri="{FF2B5EF4-FFF2-40B4-BE49-F238E27FC236}">
                <a16:creationId xmlns:a16="http://schemas.microsoft.com/office/drawing/2014/main" id="{1802D1C1-2DB8-4CEA-9458-71466B555A99}"/>
              </a:ext>
            </a:extLst>
          </p:cNvPr>
          <p:cNvSpPr txBox="1"/>
          <p:nvPr/>
        </p:nvSpPr>
        <p:spPr>
          <a:xfrm>
            <a:off x="4307662" y="2552093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03</a:t>
            </a:r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641E19F1-FE37-45F9-BA62-54F2AE09CA49}"/>
              </a:ext>
            </a:extLst>
          </p:cNvPr>
          <p:cNvSpPr txBox="1"/>
          <p:nvPr/>
        </p:nvSpPr>
        <p:spPr>
          <a:xfrm>
            <a:off x="4981622" y="3624683"/>
            <a:ext cx="4747005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S</a:t>
            </a:r>
            <a:r>
              <a:rPr lang="en-IN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CADA data distribution and it’s preparation</a:t>
            </a:r>
          </a:p>
          <a:p>
            <a:endParaRPr lang="en-IN" err="1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Rounded Rectangle 18">
            <a:extLst>
              <a:ext uri="{FF2B5EF4-FFF2-40B4-BE49-F238E27FC236}">
                <a16:creationId xmlns:a16="http://schemas.microsoft.com/office/drawing/2014/main" id="{C8C99222-71D0-4DF7-AF35-2A3C3E6F553A}"/>
              </a:ext>
            </a:extLst>
          </p:cNvPr>
          <p:cNvSpPr/>
          <p:nvPr/>
        </p:nvSpPr>
        <p:spPr>
          <a:xfrm>
            <a:off x="4946678" y="3117258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F9E080-6CE0-449C-8821-C009F9E366DC}"/>
              </a:ext>
            </a:extLst>
          </p:cNvPr>
          <p:cNvSpPr/>
          <p:nvPr/>
        </p:nvSpPr>
        <p:spPr>
          <a:xfrm>
            <a:off x="4325465" y="3099729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Box 16">
            <a:hlinkClick r:id="" action="ppaction://noaction"/>
            <a:extLst>
              <a:ext uri="{FF2B5EF4-FFF2-40B4-BE49-F238E27FC236}">
                <a16:creationId xmlns:a16="http://schemas.microsoft.com/office/drawing/2014/main" id="{19704FCD-1ECA-4A00-A302-55C468A44080}"/>
              </a:ext>
            </a:extLst>
          </p:cNvPr>
          <p:cNvSpPr txBox="1"/>
          <p:nvPr/>
        </p:nvSpPr>
        <p:spPr>
          <a:xfrm>
            <a:off x="4302051" y="3077646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86D449-5114-4A26-BEB0-496E435E61B2}"/>
              </a:ext>
            </a:extLst>
          </p:cNvPr>
          <p:cNvSpPr txBox="1"/>
          <p:nvPr/>
        </p:nvSpPr>
        <p:spPr>
          <a:xfrm>
            <a:off x="4222715" y="737912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>
                <a:solidFill>
                  <a:srgbClr val="F15C21"/>
                </a:solidFill>
                <a:latin typeface="Trebuchet MS" panose="020B0603020202020204" pitchFamily="34" charset="0"/>
              </a:rPr>
              <a:t>Content</a:t>
            </a:r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B25B7820-CF5F-42D4-B464-5EEFFE816E11}"/>
              </a:ext>
            </a:extLst>
          </p:cNvPr>
          <p:cNvSpPr/>
          <p:nvPr/>
        </p:nvSpPr>
        <p:spPr>
          <a:xfrm>
            <a:off x="4946678" y="4190066"/>
            <a:ext cx="5227836" cy="41856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TextBox 34">
            <a:hlinkClick r:id="" action="ppaction://noaction"/>
            <a:extLst>
              <a:ext uri="{FF2B5EF4-FFF2-40B4-BE49-F238E27FC236}">
                <a16:creationId xmlns:a16="http://schemas.microsoft.com/office/drawing/2014/main" id="{8BEEF024-D7FB-4509-9BD1-9153972ABDCF}"/>
              </a:ext>
            </a:extLst>
          </p:cNvPr>
          <p:cNvSpPr txBox="1"/>
          <p:nvPr/>
        </p:nvSpPr>
        <p:spPr>
          <a:xfrm>
            <a:off x="4981622" y="4746725"/>
            <a:ext cx="2029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ANNOVA and PCA </a:t>
            </a:r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360E7-87DD-4607-9FB3-3D5E84858C11}"/>
              </a:ext>
            </a:extLst>
          </p:cNvPr>
          <p:cNvSpPr/>
          <p:nvPr/>
        </p:nvSpPr>
        <p:spPr>
          <a:xfrm>
            <a:off x="4325465" y="4190066"/>
            <a:ext cx="448979" cy="41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B1651FA2-CA53-4098-AAF7-634CB99E8012}"/>
              </a:ext>
            </a:extLst>
          </p:cNvPr>
          <p:cNvSpPr/>
          <p:nvPr/>
        </p:nvSpPr>
        <p:spPr>
          <a:xfrm>
            <a:off x="4940054" y="4740030"/>
            <a:ext cx="5227836" cy="41856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82A06C6D-EEA4-408E-9FF8-D9C2B425B3B2}"/>
              </a:ext>
            </a:extLst>
          </p:cNvPr>
          <p:cNvSpPr/>
          <p:nvPr/>
        </p:nvSpPr>
        <p:spPr>
          <a:xfrm>
            <a:off x="4953305" y="3653352"/>
            <a:ext cx="5227836" cy="41856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2" name="TextBox 31">
            <a:hlinkClick r:id="" action="ppaction://noaction"/>
            <a:extLst>
              <a:ext uri="{FF2B5EF4-FFF2-40B4-BE49-F238E27FC236}">
                <a16:creationId xmlns:a16="http://schemas.microsoft.com/office/drawing/2014/main" id="{E983FDD3-4710-4813-BC8D-C6FD1ED0DEE0}"/>
              </a:ext>
            </a:extLst>
          </p:cNvPr>
          <p:cNvSpPr txBox="1"/>
          <p:nvPr/>
        </p:nvSpPr>
        <p:spPr>
          <a:xfrm>
            <a:off x="4939075" y="4183617"/>
            <a:ext cx="5205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VIF </a:t>
            </a:r>
          </a:p>
          <a:p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C3F450ED-A066-3A82-D2DA-848A334FDCA0}"/>
              </a:ext>
            </a:extLst>
          </p:cNvPr>
          <p:cNvSpPr/>
          <p:nvPr/>
        </p:nvSpPr>
        <p:spPr>
          <a:xfrm>
            <a:off x="4951260" y="5289118"/>
            <a:ext cx="5227836" cy="41856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B0A139-4D88-B1D1-87B2-25389BA7753C}"/>
              </a:ext>
            </a:extLst>
          </p:cNvPr>
          <p:cNvSpPr/>
          <p:nvPr/>
        </p:nvSpPr>
        <p:spPr>
          <a:xfrm>
            <a:off x="4330047" y="5289118"/>
            <a:ext cx="448979" cy="41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2E0A72-D01D-6B9E-AB71-6A78FE93672A}"/>
              </a:ext>
            </a:extLst>
          </p:cNvPr>
          <p:cNvSpPr/>
          <p:nvPr/>
        </p:nvSpPr>
        <p:spPr>
          <a:xfrm>
            <a:off x="4323864" y="3646766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1" name="TextBox 40">
            <a:hlinkClick r:id="" action="ppaction://noaction"/>
            <a:extLst>
              <a:ext uri="{FF2B5EF4-FFF2-40B4-BE49-F238E27FC236}">
                <a16:creationId xmlns:a16="http://schemas.microsoft.com/office/drawing/2014/main" id="{1F985938-22A6-964E-7957-8C9133DAC87E}"/>
              </a:ext>
            </a:extLst>
          </p:cNvPr>
          <p:cNvSpPr txBox="1"/>
          <p:nvPr/>
        </p:nvSpPr>
        <p:spPr>
          <a:xfrm>
            <a:off x="4300450" y="3624683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05</a:t>
            </a: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6B7C42B6-2441-DDA4-9A02-B605A8087627}"/>
              </a:ext>
            </a:extLst>
          </p:cNvPr>
          <p:cNvSpPr/>
          <p:nvPr/>
        </p:nvSpPr>
        <p:spPr>
          <a:xfrm>
            <a:off x="4968110" y="3668857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3" name="TextBox 42">
            <a:hlinkClick r:id="" action="ppaction://noaction"/>
            <a:extLst>
              <a:ext uri="{FF2B5EF4-FFF2-40B4-BE49-F238E27FC236}">
                <a16:creationId xmlns:a16="http://schemas.microsoft.com/office/drawing/2014/main" id="{2F5AC73C-3941-9BD0-CEA5-5DD19448D071}"/>
              </a:ext>
            </a:extLst>
          </p:cNvPr>
          <p:cNvSpPr txBox="1"/>
          <p:nvPr/>
        </p:nvSpPr>
        <p:spPr>
          <a:xfrm>
            <a:off x="4305462" y="4149961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DC9EB9D-7F01-5E1F-536E-F7FA135DFB5B}"/>
              </a:ext>
            </a:extLst>
          </p:cNvPr>
          <p:cNvSpPr/>
          <p:nvPr/>
        </p:nvSpPr>
        <p:spPr>
          <a:xfrm>
            <a:off x="4312633" y="4164926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5" name="TextBox 44">
            <a:hlinkClick r:id="" action="ppaction://noaction"/>
            <a:extLst>
              <a:ext uri="{FF2B5EF4-FFF2-40B4-BE49-F238E27FC236}">
                <a16:creationId xmlns:a16="http://schemas.microsoft.com/office/drawing/2014/main" id="{9342ED92-1F9E-80D5-B7A1-E35A8A897096}"/>
              </a:ext>
            </a:extLst>
          </p:cNvPr>
          <p:cNvSpPr txBox="1"/>
          <p:nvPr/>
        </p:nvSpPr>
        <p:spPr>
          <a:xfrm>
            <a:off x="4289219" y="4142843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06</a:t>
            </a:r>
          </a:p>
        </p:txBody>
      </p:sp>
      <p:sp>
        <p:nvSpPr>
          <p:cNvPr id="46" name="Rounded Rectangle 18">
            <a:extLst>
              <a:ext uri="{FF2B5EF4-FFF2-40B4-BE49-F238E27FC236}">
                <a16:creationId xmlns:a16="http://schemas.microsoft.com/office/drawing/2014/main" id="{07FC8447-64FE-2AAF-0377-EEDCA5AD71CA}"/>
              </a:ext>
            </a:extLst>
          </p:cNvPr>
          <p:cNvSpPr/>
          <p:nvPr/>
        </p:nvSpPr>
        <p:spPr>
          <a:xfrm>
            <a:off x="4965112" y="4188964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582495DC-CC53-2DE3-A19B-2A6E58D00BCE}"/>
              </a:ext>
            </a:extLst>
          </p:cNvPr>
          <p:cNvSpPr/>
          <p:nvPr/>
        </p:nvSpPr>
        <p:spPr>
          <a:xfrm>
            <a:off x="4946678" y="4735848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311CD18-4E49-5EB5-1788-8F4E75503130}"/>
              </a:ext>
            </a:extLst>
          </p:cNvPr>
          <p:cNvSpPr/>
          <p:nvPr/>
        </p:nvSpPr>
        <p:spPr>
          <a:xfrm>
            <a:off x="4323860" y="4746725"/>
            <a:ext cx="448979" cy="41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9" name="TextBox 48">
            <a:hlinkClick r:id="" action="ppaction://noaction"/>
            <a:extLst>
              <a:ext uri="{FF2B5EF4-FFF2-40B4-BE49-F238E27FC236}">
                <a16:creationId xmlns:a16="http://schemas.microsoft.com/office/drawing/2014/main" id="{EFDC588B-4093-FC80-CA92-1C2430209061}"/>
              </a:ext>
            </a:extLst>
          </p:cNvPr>
          <p:cNvSpPr txBox="1"/>
          <p:nvPr/>
        </p:nvSpPr>
        <p:spPr>
          <a:xfrm>
            <a:off x="4303857" y="4706620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E3A61F-C07C-496F-A086-9E09BD37A062}"/>
              </a:ext>
            </a:extLst>
          </p:cNvPr>
          <p:cNvSpPr/>
          <p:nvPr/>
        </p:nvSpPr>
        <p:spPr>
          <a:xfrm>
            <a:off x="4311028" y="4721585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1" name="TextBox 50">
            <a:hlinkClick r:id="" action="ppaction://noaction"/>
            <a:extLst>
              <a:ext uri="{FF2B5EF4-FFF2-40B4-BE49-F238E27FC236}">
                <a16:creationId xmlns:a16="http://schemas.microsoft.com/office/drawing/2014/main" id="{7D18845A-BEC1-3B8B-3307-EE870FFBF6C7}"/>
              </a:ext>
            </a:extLst>
          </p:cNvPr>
          <p:cNvSpPr txBox="1"/>
          <p:nvPr/>
        </p:nvSpPr>
        <p:spPr>
          <a:xfrm>
            <a:off x="4287614" y="4699502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8A2F455-151F-E6B5-41CF-06D5C5F88479}"/>
              </a:ext>
            </a:extLst>
          </p:cNvPr>
          <p:cNvSpPr/>
          <p:nvPr/>
        </p:nvSpPr>
        <p:spPr>
          <a:xfrm>
            <a:off x="4341507" y="5274512"/>
            <a:ext cx="448979" cy="41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3" name="TextBox 52">
            <a:hlinkClick r:id="" action="ppaction://noaction"/>
            <a:extLst>
              <a:ext uri="{FF2B5EF4-FFF2-40B4-BE49-F238E27FC236}">
                <a16:creationId xmlns:a16="http://schemas.microsoft.com/office/drawing/2014/main" id="{4C5D4F84-E901-367A-BA6F-89334470FBD9}"/>
              </a:ext>
            </a:extLst>
          </p:cNvPr>
          <p:cNvSpPr txBox="1"/>
          <p:nvPr/>
        </p:nvSpPr>
        <p:spPr>
          <a:xfrm>
            <a:off x="4321504" y="5234407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C80EB7-CA05-2934-B6FA-570849418459}"/>
              </a:ext>
            </a:extLst>
          </p:cNvPr>
          <p:cNvSpPr/>
          <p:nvPr/>
        </p:nvSpPr>
        <p:spPr>
          <a:xfrm>
            <a:off x="4328675" y="5249372"/>
            <a:ext cx="448979" cy="418562"/>
          </a:xfrm>
          <a:prstGeom prst="rect">
            <a:avLst/>
          </a:prstGeom>
          <a:solidFill>
            <a:srgbClr val="F15C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5" name="TextBox 54">
            <a:hlinkClick r:id="" action="ppaction://noaction"/>
            <a:extLst>
              <a:ext uri="{FF2B5EF4-FFF2-40B4-BE49-F238E27FC236}">
                <a16:creationId xmlns:a16="http://schemas.microsoft.com/office/drawing/2014/main" id="{505713C9-93A3-BA82-024A-D592F9CB8A11}"/>
              </a:ext>
            </a:extLst>
          </p:cNvPr>
          <p:cNvSpPr txBox="1"/>
          <p:nvPr/>
        </p:nvSpPr>
        <p:spPr>
          <a:xfrm>
            <a:off x="4305261" y="5227289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1"/>
                </a:solidFill>
                <a:latin typeface="Trebuchet MS" panose="020B0603020202020204" pitchFamily="34" charset="0"/>
              </a:rPr>
              <a:t>08</a:t>
            </a:r>
          </a:p>
        </p:txBody>
      </p:sp>
      <p:sp>
        <p:nvSpPr>
          <p:cNvPr id="56" name="Rounded Rectangle 18">
            <a:extLst>
              <a:ext uri="{FF2B5EF4-FFF2-40B4-BE49-F238E27FC236}">
                <a16:creationId xmlns:a16="http://schemas.microsoft.com/office/drawing/2014/main" id="{50725A76-5A97-016A-4672-EF310AAC632C}"/>
              </a:ext>
            </a:extLst>
          </p:cNvPr>
          <p:cNvSpPr/>
          <p:nvPr/>
        </p:nvSpPr>
        <p:spPr>
          <a:xfrm>
            <a:off x="4917230" y="5254189"/>
            <a:ext cx="5227836" cy="418562"/>
          </a:xfrm>
          <a:prstGeom prst="roundRect">
            <a:avLst/>
          </a:prstGeom>
          <a:noFill/>
          <a:ln w="28575">
            <a:solidFill>
              <a:srgbClr val="F15C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D2930D3-6630-94CE-4CC2-616DE3295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5690"/>
          <a:stretch/>
        </p:blipFill>
        <p:spPr>
          <a:xfrm>
            <a:off x="448199" y="1057160"/>
            <a:ext cx="3080797" cy="4650520"/>
          </a:xfrm>
          <a:prstGeom prst="rect">
            <a:avLst/>
          </a:prstGeom>
        </p:spPr>
      </p:pic>
      <p:sp>
        <p:nvSpPr>
          <p:cNvPr id="59" name="object 49">
            <a:extLst>
              <a:ext uri="{FF2B5EF4-FFF2-40B4-BE49-F238E27FC236}">
                <a16:creationId xmlns:a16="http://schemas.microsoft.com/office/drawing/2014/main" id="{FCA8A7F6-DCD5-3935-D298-4E507C438F26}"/>
              </a:ext>
            </a:extLst>
          </p:cNvPr>
          <p:cNvSpPr txBox="1">
            <a:spLocks/>
          </p:cNvSpPr>
          <p:nvPr/>
        </p:nvSpPr>
        <p:spPr>
          <a:xfrm>
            <a:off x="6009640" y="6400344"/>
            <a:ext cx="153670" cy="18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z="2000" b="1" smtClean="0"/>
              <a:pPr marL="38100">
                <a:lnSpc>
                  <a:spcPts val="1240"/>
                </a:lnSpc>
              </a:pPr>
              <a:t>2</a:t>
            </a:fld>
            <a:endParaRPr lang="en-US" sz="2000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3E0339-9DE3-447F-9C35-94F258EE7C45}"/>
              </a:ext>
            </a:extLst>
          </p:cNvPr>
          <p:cNvSpPr/>
          <p:nvPr/>
        </p:nvSpPr>
        <p:spPr>
          <a:xfrm>
            <a:off x="4939074" y="2038733"/>
            <a:ext cx="1932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>
                <a:solidFill>
                  <a:srgbClr val="005A80"/>
                </a:solidFill>
                <a:latin typeface="Trebuchet MS" panose="020B0603020202020204" pitchFamily="34" charset="0"/>
              </a:rPr>
              <a:t>Data Preparation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5EF0B7-D96E-45E0-B007-1F63D542BAE6}"/>
              </a:ext>
            </a:extLst>
          </p:cNvPr>
          <p:cNvSpPr/>
          <p:nvPr/>
        </p:nvSpPr>
        <p:spPr>
          <a:xfrm>
            <a:off x="4953305" y="30932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Logistic Regression analysis</a:t>
            </a:r>
            <a:r>
              <a:rPr lang="en-IN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  and model validation</a:t>
            </a:r>
          </a:p>
          <a:p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8FC364-702F-4A79-B8F8-AD23CA3E59D0}"/>
              </a:ext>
            </a:extLst>
          </p:cNvPr>
          <p:cNvSpPr/>
          <p:nvPr/>
        </p:nvSpPr>
        <p:spPr>
          <a:xfrm>
            <a:off x="4917230" y="52272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Elbow method and model development </a:t>
            </a:r>
            <a:r>
              <a:rPr lang="en-IN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</a:rPr>
              <a:t> </a:t>
            </a:r>
          </a:p>
          <a:p>
            <a:endParaRPr lang="en-IN">
              <a:solidFill>
                <a:schemeClr val="accent5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5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F7CE73-5DE3-4875-B8C8-66B105DFAE56}"/>
              </a:ext>
            </a:extLst>
          </p:cNvPr>
          <p:cNvSpPr txBox="1"/>
          <p:nvPr/>
        </p:nvSpPr>
        <p:spPr>
          <a:xfrm>
            <a:off x="2796208" y="1957478"/>
            <a:ext cx="5640457" cy="2406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latin typeface="+mj-lt"/>
                <a:ea typeface="+mj-ea"/>
                <a:cs typeface="+mj-c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05273E-C3FE-69D2-AF30-450E38625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757"/>
            <a:ext cx="12192000" cy="3200391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41A75-2C85-452B-AA37-83E3DF138073}"/>
              </a:ext>
            </a:extLst>
          </p:cNvPr>
          <p:cNvSpPr txBox="1">
            <a:spLocks/>
          </p:cNvSpPr>
          <p:nvPr/>
        </p:nvSpPr>
        <p:spPr>
          <a:xfrm>
            <a:off x="251790" y="3697368"/>
            <a:ext cx="11855119" cy="2320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2600" algn="just">
              <a:tabLst>
                <a:tab pos="1524000" algn="l"/>
              </a:tabLst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9">
            <a:extLst>
              <a:ext uri="{FF2B5EF4-FFF2-40B4-BE49-F238E27FC236}">
                <a16:creationId xmlns:a16="http://schemas.microsoft.com/office/drawing/2014/main" id="{AA04DD72-F6D8-F824-B3C6-82CCE0954346}"/>
              </a:ext>
            </a:extLst>
          </p:cNvPr>
          <p:cNvSpPr txBox="1">
            <a:spLocks/>
          </p:cNvSpPr>
          <p:nvPr/>
        </p:nvSpPr>
        <p:spPr>
          <a:xfrm>
            <a:off x="6009640" y="6409969"/>
            <a:ext cx="153670" cy="18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z="2000" b="1" smtClean="0"/>
              <a:pPr marL="38100">
                <a:lnSpc>
                  <a:spcPts val="1240"/>
                </a:lnSpc>
              </a:pPr>
              <a:t>3</a:t>
            </a:fld>
            <a:endParaRPr lang="en-US" sz="20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66EC7-E57C-490C-8AD4-2263FA8C3E71}"/>
              </a:ext>
            </a:extLst>
          </p:cNvPr>
          <p:cNvSpPr/>
          <p:nvPr/>
        </p:nvSpPr>
        <p:spPr>
          <a:xfrm>
            <a:off x="0" y="3429000"/>
            <a:ext cx="12191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0" indent="0" algn="just">
              <a:buNone/>
              <a:tabLst>
                <a:tab pos="1524000" algn="l"/>
              </a:tabLs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To analyze and optimize the distillery process by identifying the key process variables influencing flavor profiles.</a:t>
            </a:r>
          </a:p>
          <a:p>
            <a:pPr marL="254000" indent="0" algn="just">
              <a:buNone/>
              <a:tabLst>
                <a:tab pos="1524000" algn="l"/>
              </a:tabLst>
            </a:pPr>
            <a:r>
              <a:rPr lang="en-US" b="1" u="sng">
                <a:latin typeface="Arial" panose="020B0604020202020204" pitchFamily="34" charset="0"/>
                <a:cs typeface="Arial" panose="020B0604020202020204" pitchFamily="34" charset="0"/>
              </a:rPr>
              <a:t>Scope: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Utilize data from Mashing, Fermentation, Wash Still A/B, and Spirit Still A/B.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Build predictive models to classify the presence (1) or absence (0) of Fruity &amp; Floral flavor.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Identify critical process features impacting flavor quality.</a:t>
            </a:r>
          </a:p>
          <a:p>
            <a:pPr algn="just"/>
            <a:r>
              <a:rPr lang="en-US" b="1" u="sng">
                <a:latin typeface="Arial" panose="020B0604020202020204" pitchFamily="34" charset="0"/>
                <a:cs typeface="Arial" panose="020B0604020202020204" pitchFamily="34" charset="0"/>
              </a:rPr>
              <a:t>Solution Proposed:</a:t>
            </a:r>
          </a:p>
          <a:p>
            <a:pPr algn="just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 Predictive Analytics pipeline combining statistical tests, feature selection, and machine learning to discover and validate flavor-driving parameters.</a:t>
            </a:r>
          </a:p>
        </p:txBody>
      </p:sp>
    </p:spTree>
    <p:extLst>
      <p:ext uri="{BB962C8B-B14F-4D97-AF65-F5344CB8AC3E}">
        <p14:creationId xmlns:p14="http://schemas.microsoft.com/office/powerpoint/2010/main" val="12444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330CC-8DE8-1A29-40B1-108FFAC5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0FBF9-1157-DBAE-EB3A-5EF15E357FAC}"/>
              </a:ext>
            </a:extLst>
          </p:cNvPr>
          <p:cNvSpPr txBox="1"/>
          <p:nvPr/>
        </p:nvSpPr>
        <p:spPr>
          <a:xfrm>
            <a:off x="798895" y="465951"/>
            <a:ext cx="472558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3200">
                <a:solidFill>
                  <a:srgbClr val="C14B1D"/>
                </a:solidFill>
                <a:latin typeface="Trebuchet MS"/>
              </a:rPr>
              <a:t>Process (Methodology)</a:t>
            </a:r>
            <a:endParaRPr lang="en-US"/>
          </a:p>
        </p:txBody>
      </p:sp>
      <p:sp>
        <p:nvSpPr>
          <p:cNvPr id="5" name="object 49">
            <a:extLst>
              <a:ext uri="{FF2B5EF4-FFF2-40B4-BE49-F238E27FC236}">
                <a16:creationId xmlns:a16="http://schemas.microsoft.com/office/drawing/2014/main" id="{A6E3F258-02B0-0852-7D0A-CF6103C441D9}"/>
              </a:ext>
            </a:extLst>
          </p:cNvPr>
          <p:cNvSpPr txBox="1">
            <a:spLocks/>
          </p:cNvSpPr>
          <p:nvPr/>
        </p:nvSpPr>
        <p:spPr>
          <a:xfrm>
            <a:off x="5990836" y="6401233"/>
            <a:ext cx="355645" cy="1831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r>
              <a:rPr lang="en-US" sz="2000" b="1">
                <a:ea typeface="Calibri Light"/>
              </a:rPr>
              <a:t>4</a:t>
            </a:r>
            <a:endParaRPr lang="en-US" sz="2000" b="1"/>
          </a:p>
        </p:txBody>
      </p:sp>
      <p:pic>
        <p:nvPicPr>
          <p:cNvPr id="11" name="Picture 10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2D677EF1-F4F6-F0AE-EBC1-51304A100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-1190" r="6533" b="-152"/>
          <a:stretch>
            <a:fillRect/>
          </a:stretch>
        </p:blipFill>
        <p:spPr>
          <a:xfrm>
            <a:off x="-98181" y="1241265"/>
            <a:ext cx="2188713" cy="2613690"/>
          </a:xfrm>
          <a:prstGeom prst="rect">
            <a:avLst/>
          </a:prstGeom>
        </p:spPr>
      </p:pic>
      <p:pic>
        <p:nvPicPr>
          <p:cNvPr id="20" name="Picture 19" descr="Arrow — Sign Services UK">
            <a:extLst>
              <a:ext uri="{FF2B5EF4-FFF2-40B4-BE49-F238E27FC236}">
                <a16:creationId xmlns:a16="http://schemas.microsoft.com/office/drawing/2014/main" id="{B55BBA88-094D-F4AF-9F12-E5D818B46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85975" y="1925197"/>
            <a:ext cx="775733" cy="10530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A2CCA0-18A1-AD20-1504-684B8766937B}"/>
              </a:ext>
            </a:extLst>
          </p:cNvPr>
          <p:cNvSpPr txBox="1"/>
          <p:nvPr/>
        </p:nvSpPr>
        <p:spPr>
          <a:xfrm>
            <a:off x="3128737" y="3235930"/>
            <a:ext cx="975594" cy="319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 Light"/>
                <a:cs typeface="Calibri Light"/>
              </a:rPr>
              <a:t>Final Data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94EF01-522A-02B2-6EF5-FC255747B2C3}"/>
              </a:ext>
            </a:extLst>
          </p:cNvPr>
          <p:cNvSpPr txBox="1"/>
          <p:nvPr/>
        </p:nvSpPr>
        <p:spPr>
          <a:xfrm>
            <a:off x="10452976" y="3026329"/>
            <a:ext cx="219479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Calibri Light"/>
                <a:cs typeface="Calibri Light"/>
              </a:rPr>
              <a:t>Binary prediction </a:t>
            </a:r>
            <a:br>
              <a:rPr lang="en-US" sz="1400" b="1">
                <a:ea typeface="Calibri Light"/>
                <a:cs typeface="Calibri Light"/>
              </a:rPr>
            </a:br>
            <a:r>
              <a:rPr lang="en-US" sz="1400">
                <a:ea typeface="Calibri Light"/>
                <a:cs typeface="Calibri Light"/>
              </a:rPr>
              <a:t>0 means absent </a:t>
            </a:r>
            <a:br>
              <a:rPr lang="en-US" sz="1400">
                <a:ea typeface="Calibri Light"/>
                <a:cs typeface="Calibri Light"/>
              </a:rPr>
            </a:br>
            <a:r>
              <a:rPr lang="en-US" sz="1400">
                <a:ea typeface="Calibri Light"/>
                <a:cs typeface="Calibri Light"/>
              </a:rPr>
              <a:t>1 means present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248662-3E33-C633-94DD-945BC1EDFEA5}"/>
              </a:ext>
            </a:extLst>
          </p:cNvPr>
          <p:cNvSpPr txBox="1"/>
          <p:nvPr/>
        </p:nvSpPr>
        <p:spPr>
          <a:xfrm>
            <a:off x="6751548" y="3270680"/>
            <a:ext cx="181965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ea typeface="Calibri Light"/>
                <a:cs typeface="Calibri Light"/>
              </a:rPr>
              <a:t>Machine Learning </a:t>
            </a:r>
          </a:p>
          <a:p>
            <a:pPr algn="ctr"/>
            <a:r>
              <a:rPr lang="en-US" sz="1400">
                <a:ea typeface="Calibri Light"/>
                <a:cs typeface="Calibri Light"/>
              </a:rPr>
              <a:t>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ED965B-66C8-B0EB-415A-50F98FFF42A0}"/>
              </a:ext>
            </a:extLst>
          </p:cNvPr>
          <p:cNvSpPr txBox="1"/>
          <p:nvPr/>
        </p:nvSpPr>
        <p:spPr>
          <a:xfrm>
            <a:off x="9118201" y="3295073"/>
            <a:ext cx="1163163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ea typeface="Calibri Light"/>
                <a:cs typeface="Calibri Light"/>
              </a:rPr>
              <a:t>Final Output</a:t>
            </a:r>
            <a:endParaRPr lang="en-US">
              <a:ea typeface="Calibri Light"/>
              <a:cs typeface="Calibri Light"/>
            </a:endParaRPr>
          </a:p>
        </p:txBody>
      </p:sp>
      <p:pic>
        <p:nvPicPr>
          <p:cNvPr id="27" name="Picture 26" descr="Machine learning icon set in glyph style. Artificial intelligence, data ...">
            <a:extLst>
              <a:ext uri="{FF2B5EF4-FFF2-40B4-BE49-F238E27FC236}">
                <a16:creationId xmlns:a16="http://schemas.microsoft.com/office/drawing/2014/main" id="{8ABD8E62-EEC3-D77B-067A-E6FE5956BF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2276" r="353" b="33233"/>
          <a:stretch>
            <a:fillRect/>
          </a:stretch>
        </p:blipFill>
        <p:spPr>
          <a:xfrm>
            <a:off x="6451896" y="1548321"/>
            <a:ext cx="2259636" cy="1573378"/>
          </a:xfrm>
          <a:prstGeom prst="rect">
            <a:avLst/>
          </a:prstGeom>
        </p:spPr>
      </p:pic>
      <p:pic>
        <p:nvPicPr>
          <p:cNvPr id="29" name="Picture 28" descr="Icon Unstructured Data. suitable for data analytics symbol. long shadow ...">
            <a:extLst>
              <a:ext uri="{FF2B5EF4-FFF2-40B4-BE49-F238E27FC236}">
                <a16:creationId xmlns:a16="http://schemas.microsoft.com/office/drawing/2014/main" id="{9A742B6B-5367-530E-4042-21C802CA5D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7531" y="1713172"/>
            <a:ext cx="1453662" cy="1477110"/>
          </a:xfrm>
          <a:prstGeom prst="rect">
            <a:avLst/>
          </a:prstGeom>
        </p:spPr>
      </p:pic>
      <p:pic>
        <p:nvPicPr>
          <p:cNvPr id="30" name="Picture 29" descr="Arrow — Sign Services UK">
            <a:extLst>
              <a:ext uri="{FF2B5EF4-FFF2-40B4-BE49-F238E27FC236}">
                <a16:creationId xmlns:a16="http://schemas.microsoft.com/office/drawing/2014/main" id="{6490F2A3-5FEE-B2EF-CEA1-7F4D0248A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6508" y="2221590"/>
            <a:ext cx="457043" cy="548970"/>
          </a:xfrm>
          <a:prstGeom prst="rect">
            <a:avLst/>
          </a:prstGeom>
        </p:spPr>
      </p:pic>
      <p:pic>
        <p:nvPicPr>
          <p:cNvPr id="33" name="Picture 32" descr="Output Icon in Trendy Design Style. Output Icon Isolated on White ...">
            <a:extLst>
              <a:ext uri="{FF2B5EF4-FFF2-40B4-BE49-F238E27FC236}">
                <a16:creationId xmlns:a16="http://schemas.microsoft.com/office/drawing/2014/main" id="{2A3364EC-DDDF-ED2C-27DB-BAF3451C5C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4915" y="1652223"/>
            <a:ext cx="1430215" cy="1599007"/>
          </a:xfrm>
          <a:prstGeom prst="rect">
            <a:avLst/>
          </a:prstGeom>
        </p:spPr>
      </p:pic>
      <p:pic>
        <p:nvPicPr>
          <p:cNvPr id="34" name="Picture 33" descr="Arrow — Sign Services UK">
            <a:extLst>
              <a:ext uri="{FF2B5EF4-FFF2-40B4-BE49-F238E27FC236}">
                <a16:creationId xmlns:a16="http://schemas.microsoft.com/office/drawing/2014/main" id="{97B349AA-D8CB-C47F-4E5D-2D8A451B8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8060" y="2177242"/>
            <a:ext cx="457043" cy="548970"/>
          </a:xfrm>
          <a:prstGeom prst="rect">
            <a:avLst/>
          </a:prstGeom>
        </p:spPr>
      </p:pic>
      <p:pic>
        <p:nvPicPr>
          <p:cNvPr id="35" name="Picture 34" descr="prediction - Royalty Free Stock Illustrations and Vectors - Stocklib">
            <a:extLst>
              <a:ext uri="{FF2B5EF4-FFF2-40B4-BE49-F238E27FC236}">
                <a16:creationId xmlns:a16="http://schemas.microsoft.com/office/drawing/2014/main" id="{787D1F23-2A9C-8281-CB31-01883B8079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b="18952"/>
          <a:stretch>
            <a:fillRect/>
          </a:stretch>
        </p:blipFill>
        <p:spPr>
          <a:xfrm>
            <a:off x="10432378" y="1388298"/>
            <a:ext cx="2438400" cy="1906775"/>
          </a:xfrm>
          <a:prstGeom prst="rect">
            <a:avLst/>
          </a:prstGeom>
        </p:spPr>
      </p:pic>
      <p:pic>
        <p:nvPicPr>
          <p:cNvPr id="37" name="Picture 36" descr="Arrow — Sign Services UK">
            <a:extLst>
              <a:ext uri="{FF2B5EF4-FFF2-40B4-BE49-F238E27FC236}">
                <a16:creationId xmlns:a16="http://schemas.microsoft.com/office/drawing/2014/main" id="{90E1B4CC-7EDC-5E14-F22D-A8A66A177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1158" y="2177241"/>
            <a:ext cx="457043" cy="548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F79414-BCAF-4C9F-9A86-3F2312334891}"/>
              </a:ext>
            </a:extLst>
          </p:cNvPr>
          <p:cNvSpPr txBox="1"/>
          <p:nvPr/>
        </p:nvSpPr>
        <p:spPr>
          <a:xfrm>
            <a:off x="207462" y="1944591"/>
            <a:ext cx="900585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Mashing</a:t>
            </a:r>
            <a:endParaRPr lang="en-IN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F483AD-F9D5-49A8-8E0F-E6D39AC539BA}"/>
              </a:ext>
            </a:extLst>
          </p:cNvPr>
          <p:cNvSpPr txBox="1"/>
          <p:nvPr/>
        </p:nvSpPr>
        <p:spPr>
          <a:xfrm>
            <a:off x="99082" y="2749330"/>
            <a:ext cx="11819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Fermentation</a:t>
            </a:r>
            <a:endParaRPr lang="en-IN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E170E6-C8FC-47C4-93C7-8C5A87667826}"/>
              </a:ext>
            </a:extLst>
          </p:cNvPr>
          <p:cNvSpPr txBox="1"/>
          <p:nvPr/>
        </p:nvSpPr>
        <p:spPr>
          <a:xfrm>
            <a:off x="207461" y="3638872"/>
            <a:ext cx="112586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Wash Still A, B</a:t>
            </a:r>
            <a:endParaRPr lang="en-IN" sz="1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36F5C7-5B05-4F41-8707-B904AD21E55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647" y="1679901"/>
            <a:ext cx="1434427" cy="1543652"/>
          </a:xfrm>
          <a:prstGeom prst="rect">
            <a:avLst/>
          </a:prstGeom>
        </p:spPr>
      </p:pic>
      <p:pic>
        <p:nvPicPr>
          <p:cNvPr id="32" name="Picture 31" descr="Arrow — Sign Services UK">
            <a:extLst>
              <a:ext uri="{FF2B5EF4-FFF2-40B4-BE49-F238E27FC236}">
                <a16:creationId xmlns:a16="http://schemas.microsoft.com/office/drawing/2014/main" id="{DA93BCE3-98C0-4CAC-AC6C-4E2411071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8636" y="3295073"/>
            <a:ext cx="457043" cy="548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C7C2ED-2FAE-466F-BAAC-A7F922846562}"/>
              </a:ext>
            </a:extLst>
          </p:cNvPr>
          <p:cNvSpPr txBox="1"/>
          <p:nvPr/>
        </p:nvSpPr>
        <p:spPr>
          <a:xfrm>
            <a:off x="4864691" y="3314949"/>
            <a:ext cx="1547402" cy="3194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/>
              <a:t>Feature selection</a:t>
            </a:r>
            <a:endParaRPr lang="en-IN" sz="1400"/>
          </a:p>
        </p:txBody>
      </p:sp>
      <p:pic>
        <p:nvPicPr>
          <p:cNvPr id="40" name="Picture 39" descr="Arrow — Sign Services UK">
            <a:extLst>
              <a:ext uri="{FF2B5EF4-FFF2-40B4-BE49-F238E27FC236}">
                <a16:creationId xmlns:a16="http://schemas.microsoft.com/office/drawing/2014/main" id="{DFEC6A5D-6D3E-4A17-8346-794C2F362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12093" y="2185591"/>
            <a:ext cx="457043" cy="548970"/>
          </a:xfrm>
          <a:prstGeom prst="rect">
            <a:avLst/>
          </a:prstGeom>
        </p:spPr>
      </p:pic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6064AF8B-1391-493D-A7CD-7117E8251AAE}"/>
              </a:ext>
            </a:extLst>
          </p:cNvPr>
          <p:cNvSpPr/>
          <p:nvPr/>
        </p:nvSpPr>
        <p:spPr>
          <a:xfrm rot="10800000">
            <a:off x="3008242" y="3854954"/>
            <a:ext cx="6573079" cy="124235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00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F7CE73-5DE3-4875-B8C8-66B105DFAE56}"/>
              </a:ext>
            </a:extLst>
          </p:cNvPr>
          <p:cNvSpPr txBox="1"/>
          <p:nvPr/>
        </p:nvSpPr>
        <p:spPr>
          <a:xfrm>
            <a:off x="751258" y="426059"/>
            <a:ext cx="3297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>
                <a:solidFill>
                  <a:srgbClr val="C14B1D"/>
                </a:solidFill>
                <a:latin typeface="Trebuchet MS" panose="020B0603020202020204" pitchFamily="34" charset="0"/>
              </a:rPr>
              <a:t>Data Preparation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9F1813-FE67-FE78-2ABE-F29DF493C1D6}"/>
              </a:ext>
            </a:extLst>
          </p:cNvPr>
          <p:cNvSpPr txBox="1"/>
          <p:nvPr/>
        </p:nvSpPr>
        <p:spPr>
          <a:xfrm>
            <a:off x="5825104" y="1582340"/>
            <a:ext cx="593203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Utilized data from multiple stages-Mashing, Fermentation, Wash still A, Wash still B, Spirit Still A, Spirit Still B-representing the operational phases.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Performed data cleaning and validation to remove duplicates, handle missing values, and ensure consistency across the parameters.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Included all the parameters to capture variations in production.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Merged output from Spirit Still A and B to derive the TC Consensus Score where 1 represent presence and 0 represent absence of that flavor (Cereal/Grainy, Fruity_&amp;_Floral, Fermented, Cooked, Husky, Starchy, Acidic/Solvent).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Number of parameter after joining all the process 235 and number of batches 65.</a:t>
            </a:r>
            <a:endParaRPr lang="en-US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object 49">
            <a:extLst>
              <a:ext uri="{FF2B5EF4-FFF2-40B4-BE49-F238E27FC236}">
                <a16:creationId xmlns:a16="http://schemas.microsoft.com/office/drawing/2014/main" id="{48EAA6E0-BE73-5825-1CBA-52DC7E116C0B}"/>
              </a:ext>
            </a:extLst>
          </p:cNvPr>
          <p:cNvSpPr txBox="1">
            <a:spLocks/>
          </p:cNvSpPr>
          <p:nvPr/>
        </p:nvSpPr>
        <p:spPr>
          <a:xfrm>
            <a:off x="6000015" y="6409969"/>
            <a:ext cx="153670" cy="18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z="2000" b="1" smtClean="0"/>
              <a:pPr marL="38100">
                <a:lnSpc>
                  <a:spcPts val="1240"/>
                </a:lnSpc>
              </a:pPr>
              <a:t>5</a:t>
            </a:fld>
            <a:endParaRPr lang="en-US" sz="2000" b="1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2CF20D-81A2-45E5-877C-F44671010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9" y="1658816"/>
            <a:ext cx="5630665" cy="35403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5D3DD-842C-4872-AAFB-AEBA0049B0DB}"/>
              </a:ext>
            </a:extLst>
          </p:cNvPr>
          <p:cNvSpPr txBox="1"/>
          <p:nvPr/>
        </p:nvSpPr>
        <p:spPr>
          <a:xfrm>
            <a:off x="751258" y="164918"/>
            <a:ext cx="237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Week-1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213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B36917-75CC-B614-C0E6-CC0FBE06F73C}"/>
              </a:ext>
            </a:extLst>
          </p:cNvPr>
          <p:cNvSpPr txBox="1"/>
          <p:nvPr/>
        </p:nvSpPr>
        <p:spPr>
          <a:xfrm>
            <a:off x="695078" y="515392"/>
            <a:ext cx="3815275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>
                <a:solidFill>
                  <a:srgbClr val="C14B1D"/>
                </a:solidFill>
                <a:latin typeface="Trebuchet MS"/>
              </a:rPr>
              <a:t>C</a:t>
            </a:r>
            <a:r>
              <a:rPr lang="en-IN" sz="3200">
                <a:solidFill>
                  <a:srgbClr val="C14B1D"/>
                </a:solidFill>
                <a:latin typeface="Trebuchet MS"/>
              </a:rPr>
              <a:t>orrelation Analysis</a:t>
            </a:r>
          </a:p>
        </p:txBody>
      </p:sp>
      <p:sp>
        <p:nvSpPr>
          <p:cNvPr id="2" name="object 49">
            <a:extLst>
              <a:ext uri="{FF2B5EF4-FFF2-40B4-BE49-F238E27FC236}">
                <a16:creationId xmlns:a16="http://schemas.microsoft.com/office/drawing/2014/main" id="{8397881B-2285-B770-54DF-9D00A716B776}"/>
              </a:ext>
            </a:extLst>
          </p:cNvPr>
          <p:cNvSpPr txBox="1">
            <a:spLocks/>
          </p:cNvSpPr>
          <p:nvPr/>
        </p:nvSpPr>
        <p:spPr>
          <a:xfrm>
            <a:off x="5990390" y="6409969"/>
            <a:ext cx="153670" cy="18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z="2000" b="1" smtClean="0"/>
              <a:pPr marL="38100">
                <a:lnSpc>
                  <a:spcPts val="1240"/>
                </a:lnSpc>
              </a:pPr>
              <a:t>6</a:t>
            </a:fld>
            <a:endParaRPr lang="en-US" sz="20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0593C-10E7-4ACA-A13B-56B8497F54F0}"/>
              </a:ext>
            </a:extLst>
          </p:cNvPr>
          <p:cNvSpPr/>
          <p:nvPr/>
        </p:nvSpPr>
        <p:spPr>
          <a:xfrm>
            <a:off x="695078" y="1684942"/>
            <a:ext cx="348113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Goal:</a:t>
            </a:r>
          </a:p>
          <a:p>
            <a:r>
              <a:rPr lang="en-US"/>
              <a:t>-     Identify redundant variables through correlation matrix analysis.</a:t>
            </a:r>
          </a:p>
          <a:p>
            <a:endParaRPr lang="en-US"/>
          </a:p>
          <a:p>
            <a:r>
              <a:rPr lang="en-US"/>
              <a:t>Findings:</a:t>
            </a:r>
          </a:p>
          <a:p>
            <a:pPr marL="285750" indent="-285750">
              <a:buFontTx/>
              <a:buChar char="-"/>
            </a:pPr>
            <a:r>
              <a:rPr lang="en-US"/>
              <a:t>Multiple parameters showed correlation between 0.3 and -0.3 with target </a:t>
            </a:r>
            <a:r>
              <a:rPr lang="en-US" err="1"/>
              <a:t>varibales</a:t>
            </a:r>
            <a:r>
              <a:rPr lang="en-US"/>
              <a:t>.</a:t>
            </a:r>
          </a:p>
          <a:p>
            <a:pPr marL="285750" indent="-285750">
              <a:buFontTx/>
              <a:buChar char="-"/>
            </a:pPr>
            <a:r>
              <a:rPr lang="en-US"/>
              <a:t>High interdependence indicates multicollinearity risk.</a:t>
            </a:r>
          </a:p>
          <a:p>
            <a:endParaRPr lang="en-US"/>
          </a:p>
          <a:p>
            <a:r>
              <a:rPr lang="en-US"/>
              <a:t>Action:</a:t>
            </a:r>
          </a:p>
          <a:p>
            <a:r>
              <a:rPr lang="en-US"/>
              <a:t>-      Retained one representative variable per correlated group.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7F279B-D381-4CDE-BC7A-3BD1A3C7B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216" y="1100167"/>
            <a:ext cx="7777246" cy="505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5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B36917-75CC-B614-C0E6-CC0FBE06F73C}"/>
              </a:ext>
            </a:extLst>
          </p:cNvPr>
          <p:cNvSpPr txBox="1"/>
          <p:nvPr/>
        </p:nvSpPr>
        <p:spPr>
          <a:xfrm>
            <a:off x="695078" y="515392"/>
            <a:ext cx="532472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>
                <a:solidFill>
                  <a:srgbClr val="C14B1D"/>
                </a:solidFill>
                <a:latin typeface="Trebuchet MS"/>
              </a:rPr>
              <a:t>Logistic Regression Analysis </a:t>
            </a:r>
            <a:endParaRPr lang="en-IN" sz="320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2" name="object 49">
            <a:extLst>
              <a:ext uri="{FF2B5EF4-FFF2-40B4-BE49-F238E27FC236}">
                <a16:creationId xmlns:a16="http://schemas.microsoft.com/office/drawing/2014/main" id="{8397881B-2285-B770-54DF-9D00A716B776}"/>
              </a:ext>
            </a:extLst>
          </p:cNvPr>
          <p:cNvSpPr txBox="1">
            <a:spLocks/>
          </p:cNvSpPr>
          <p:nvPr/>
        </p:nvSpPr>
        <p:spPr>
          <a:xfrm>
            <a:off x="5990390" y="6409969"/>
            <a:ext cx="153670" cy="18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z="2000" b="1" smtClean="0"/>
              <a:pPr marL="38100">
                <a:lnSpc>
                  <a:spcPts val="1240"/>
                </a:lnSpc>
              </a:pPr>
              <a:t>7</a:t>
            </a:fld>
            <a:endParaRPr lang="en-US" sz="20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D9809-E4B0-42BD-9C1F-34DD4755479B}"/>
              </a:ext>
            </a:extLst>
          </p:cNvPr>
          <p:cNvSpPr/>
          <p:nvPr/>
        </p:nvSpPr>
        <p:spPr>
          <a:xfrm>
            <a:off x="695077" y="1157611"/>
            <a:ext cx="11152365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/>
              <a:t>Analysis</a:t>
            </a:r>
            <a:br>
              <a:rPr lang="en-IN" sz="1400"/>
            </a:br>
            <a:r>
              <a:rPr lang="en-IN" sz="1400"/>
              <a:t>Reason for Rejection:</a:t>
            </a:r>
          </a:p>
          <a:p>
            <a:r>
              <a:rPr lang="en-IN" sz="1400"/>
              <a:t>Excessive intercorrelation among variables (≥ 0.8).</a:t>
            </a:r>
          </a:p>
          <a:p>
            <a:endParaRPr lang="en-IN" sz="1400"/>
          </a:p>
          <a:p>
            <a:r>
              <a:rPr lang="en-IN" sz="1400"/>
              <a:t>Impact:</a:t>
            </a:r>
          </a:p>
          <a:p>
            <a:r>
              <a:rPr lang="en-IN" sz="1400"/>
              <a:t>- Unstable regression coefficients.</a:t>
            </a:r>
          </a:p>
          <a:p>
            <a:r>
              <a:rPr lang="en-IN" sz="1400"/>
              <a:t>- Inflated variance in model outcomes.</a:t>
            </a:r>
          </a:p>
          <a:p>
            <a:endParaRPr lang="en-IN" sz="1400"/>
          </a:p>
          <a:p>
            <a:r>
              <a:rPr lang="en-IN" sz="1400"/>
              <a:t>Decision:</a:t>
            </a:r>
          </a:p>
          <a:p>
            <a:r>
              <a:rPr lang="en-US" sz="1600"/>
              <a:t>Based on the results, all the independent variables have </a:t>
            </a:r>
            <a:r>
              <a:rPr lang="en-US" sz="1600" b="1"/>
              <a:t>p-values greater than 0.05</a:t>
            </a:r>
            <a:r>
              <a:rPr lang="en-US" sz="1600"/>
              <a:t>, indicating that </a:t>
            </a:r>
            <a:r>
              <a:rPr lang="en-US" sz="1600" b="1"/>
              <a:t>none of the parameters show a statistically significant relationship</a:t>
            </a:r>
            <a:r>
              <a:rPr lang="en-US" sz="1600"/>
              <a:t> with the target variable at the 95% confidence level.</a:t>
            </a:r>
          </a:p>
          <a:p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3F690-C60D-44FF-A34A-72508C01C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393"/>
          <a:stretch/>
        </p:blipFill>
        <p:spPr>
          <a:xfrm>
            <a:off x="6725171" y="1100167"/>
            <a:ext cx="4639322" cy="1148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C15D6B-8615-4BF0-A34C-2F13011EA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78" y="3613315"/>
            <a:ext cx="11496922" cy="240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6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B36917-75CC-B614-C0E6-CC0FBE06F73C}"/>
              </a:ext>
            </a:extLst>
          </p:cNvPr>
          <p:cNvSpPr txBox="1"/>
          <p:nvPr/>
        </p:nvSpPr>
        <p:spPr>
          <a:xfrm>
            <a:off x="486574" y="515392"/>
            <a:ext cx="662769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>
                <a:solidFill>
                  <a:srgbClr val="C14B1D"/>
                </a:solidFill>
                <a:latin typeface="Trebuchet MS"/>
              </a:rPr>
              <a:t>Model Validation Attempt </a:t>
            </a:r>
            <a:endParaRPr lang="en-IN" sz="320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2" name="object 49">
            <a:extLst>
              <a:ext uri="{FF2B5EF4-FFF2-40B4-BE49-F238E27FC236}">
                <a16:creationId xmlns:a16="http://schemas.microsoft.com/office/drawing/2014/main" id="{8397881B-2285-B770-54DF-9D00A716B776}"/>
              </a:ext>
            </a:extLst>
          </p:cNvPr>
          <p:cNvSpPr txBox="1">
            <a:spLocks/>
          </p:cNvSpPr>
          <p:nvPr/>
        </p:nvSpPr>
        <p:spPr>
          <a:xfrm>
            <a:off x="5923127" y="6414448"/>
            <a:ext cx="313899" cy="18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z="2000" b="1" smtClean="0"/>
              <a:pPr marL="38100">
                <a:lnSpc>
                  <a:spcPts val="1240"/>
                </a:lnSpc>
              </a:pPr>
              <a:t>8</a:t>
            </a:fld>
            <a:endParaRPr lang="en-US" sz="20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D9809-E4B0-42BD-9C1F-34DD4755479B}"/>
              </a:ext>
            </a:extLst>
          </p:cNvPr>
          <p:cNvSpPr/>
          <p:nvPr/>
        </p:nvSpPr>
        <p:spPr>
          <a:xfrm>
            <a:off x="486574" y="1443841"/>
            <a:ext cx="588693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Approach:</a:t>
            </a:r>
          </a:p>
          <a:p>
            <a:r>
              <a:rPr lang="en-US"/>
              <a:t>Applied Logistic Regression and Random Forest on reduced data.</a:t>
            </a:r>
          </a:p>
          <a:p>
            <a:endParaRPr lang="en-US"/>
          </a:p>
          <a:p>
            <a:r>
              <a:rPr lang="en-US"/>
              <a:t>Findings:</a:t>
            </a:r>
          </a:p>
          <a:p>
            <a:r>
              <a:rPr lang="en-US"/>
              <a:t>- Models achieved high accuracy and F1-score, despite all parameters being statistically insignificant.</a:t>
            </a:r>
          </a:p>
          <a:p>
            <a:r>
              <a:rPr lang="en-US"/>
              <a:t>- Contradiction between statistical and empirical performance observed.</a:t>
            </a:r>
          </a:p>
          <a:p>
            <a:endParaRPr lang="en-US"/>
          </a:p>
          <a:p>
            <a:r>
              <a:rPr lang="en-US"/>
              <a:t>Decision:</a:t>
            </a:r>
          </a:p>
          <a:p>
            <a:r>
              <a:rPr lang="en-US"/>
              <a:t>Reject p-value–based evaluation; explore advanced methods.</a:t>
            </a:r>
          </a:p>
          <a:p>
            <a:endParaRPr lang="en-US"/>
          </a:p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CF79C-DAF6-4D43-AB44-889D42A82418}"/>
              </a:ext>
            </a:extLst>
          </p:cNvPr>
          <p:cNvSpPr txBox="1"/>
          <p:nvPr/>
        </p:nvSpPr>
        <p:spPr>
          <a:xfrm>
            <a:off x="6864024" y="623113"/>
            <a:ext cx="220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Logistic Regression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B5D273-81F1-4349-A5D2-5921A5671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314" y="1207888"/>
            <a:ext cx="4925112" cy="320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0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0FF99-4B63-4F9D-BEE7-CB601CC0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49" y="1074897"/>
            <a:ext cx="3695347" cy="26673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07F1BF-7748-40E8-BC11-9FC4B64D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896" y="3742269"/>
            <a:ext cx="3498574" cy="24506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9CDED5-62EE-4679-9722-8F1CE5AC0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470" y="1074897"/>
            <a:ext cx="3498575" cy="25816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C94E76-EC21-46BD-B465-6C5496445517}"/>
              </a:ext>
            </a:extLst>
          </p:cNvPr>
          <p:cNvSpPr/>
          <p:nvPr/>
        </p:nvSpPr>
        <p:spPr>
          <a:xfrm>
            <a:off x="822881" y="633655"/>
            <a:ext cx="54008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Data Distribution (Mashing batch-895)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42FF7-5731-4594-97E3-88068C8C6854}"/>
              </a:ext>
            </a:extLst>
          </p:cNvPr>
          <p:cNvSpPr txBox="1"/>
          <p:nvPr/>
        </p:nvSpPr>
        <p:spPr>
          <a:xfrm>
            <a:off x="1099930" y="3935896"/>
            <a:ext cx="15240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Water flow</a:t>
            </a:r>
            <a:endParaRPr lang="en-IN" b="1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473B9-BBDA-4702-A706-A64E24B2BC35}"/>
              </a:ext>
            </a:extLst>
          </p:cNvPr>
          <p:cNvSpPr txBox="1"/>
          <p:nvPr/>
        </p:nvSpPr>
        <p:spPr>
          <a:xfrm>
            <a:off x="4876800" y="3233530"/>
            <a:ext cx="218660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Water Totalize</a:t>
            </a:r>
            <a:endParaRPr lang="en-IN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80FB9-FC84-4E06-9A1F-20D124FA889D}"/>
              </a:ext>
            </a:extLst>
          </p:cNvPr>
          <p:cNvSpPr txBox="1"/>
          <p:nvPr/>
        </p:nvSpPr>
        <p:spPr>
          <a:xfrm>
            <a:off x="8083827" y="3751230"/>
            <a:ext cx="25179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Mashing Temperature</a:t>
            </a:r>
            <a:endParaRPr lang="en-IN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8D8AE-2B42-404A-B7F1-ABE2724899E0}"/>
              </a:ext>
            </a:extLst>
          </p:cNvPr>
          <p:cNvSpPr txBox="1"/>
          <p:nvPr/>
        </p:nvSpPr>
        <p:spPr>
          <a:xfrm>
            <a:off x="822881" y="158162"/>
            <a:ext cx="18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Week-2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D33F3-96D3-4CEB-A5FA-36AD3731D9E4}"/>
              </a:ext>
            </a:extLst>
          </p:cNvPr>
          <p:cNvSpPr txBox="1"/>
          <p:nvPr/>
        </p:nvSpPr>
        <p:spPr>
          <a:xfrm>
            <a:off x="7805530" y="4305228"/>
            <a:ext cx="3684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was not sufficient for wash still A, wash still B, spirit still A, spirit still B.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ADA8D-BBD4-D1FF-442A-C509AA6BB629}"/>
              </a:ext>
            </a:extLst>
          </p:cNvPr>
          <p:cNvSpPr txBox="1"/>
          <p:nvPr/>
        </p:nvSpPr>
        <p:spPr>
          <a:xfrm>
            <a:off x="5971146" y="6298445"/>
            <a:ext cx="4955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71074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57F12B-3B12-E311-79B2-F96CD0814AB9}"/>
              </a:ext>
            </a:extLst>
          </p:cNvPr>
          <p:cNvSpPr txBox="1"/>
          <p:nvPr/>
        </p:nvSpPr>
        <p:spPr>
          <a:xfrm>
            <a:off x="5827906" y="6284209"/>
            <a:ext cx="523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0FF99-4B63-4F9D-BEE7-CB601CC0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49" y="1074897"/>
            <a:ext cx="3695347" cy="26673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C94E76-EC21-46BD-B465-6C5496445517}"/>
              </a:ext>
            </a:extLst>
          </p:cNvPr>
          <p:cNvSpPr/>
          <p:nvPr/>
        </p:nvSpPr>
        <p:spPr>
          <a:xfrm>
            <a:off x="822881" y="593899"/>
            <a:ext cx="61863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Data Distribution (Fermentation batch-895)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42FF7-5731-4594-97E3-88068C8C6854}"/>
              </a:ext>
            </a:extLst>
          </p:cNvPr>
          <p:cNvSpPr txBox="1"/>
          <p:nvPr/>
        </p:nvSpPr>
        <p:spPr>
          <a:xfrm>
            <a:off x="1099930" y="3935896"/>
            <a:ext cx="15240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pH-value</a:t>
            </a:r>
            <a:endParaRPr lang="en-IN" b="1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473B9-BBDA-4702-A706-A64E24B2BC35}"/>
              </a:ext>
            </a:extLst>
          </p:cNvPr>
          <p:cNvSpPr txBox="1"/>
          <p:nvPr/>
        </p:nvSpPr>
        <p:spPr>
          <a:xfrm>
            <a:off x="4876800" y="3233530"/>
            <a:ext cx="218660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Conductivity Value</a:t>
            </a:r>
            <a:endParaRPr lang="en-IN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80FB9-FC84-4E06-9A1F-20D124FA889D}"/>
              </a:ext>
            </a:extLst>
          </p:cNvPr>
          <p:cNvSpPr txBox="1"/>
          <p:nvPr/>
        </p:nvSpPr>
        <p:spPr>
          <a:xfrm>
            <a:off x="8083827" y="3751230"/>
            <a:ext cx="25179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Yeast count</a:t>
            </a:r>
            <a:endParaRPr lang="en-IN" b="1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6347F-4799-4065-94E4-E16C3B7DB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23" y="1119223"/>
            <a:ext cx="3498574" cy="2603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425CD8-8011-42CF-BDD4-4F3587DD3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609" y="3791334"/>
            <a:ext cx="3856382" cy="2472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DDE1E0-22CC-435B-9549-DAF68F487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758" y="824731"/>
            <a:ext cx="4072361" cy="2619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AADE44-3AF7-49F8-9310-DEECFB5D5D8B}"/>
              </a:ext>
            </a:extLst>
          </p:cNvPr>
          <p:cNvSpPr txBox="1"/>
          <p:nvPr/>
        </p:nvSpPr>
        <p:spPr>
          <a:xfrm>
            <a:off x="7752522" y="4439478"/>
            <a:ext cx="38563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Scada data distribution was analyzed and statistical summary was calculated for all the features and while comparing it’s correlation with target variable and the p -value no feature was significant so we do not use this data and work on raw data only.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053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9B7AB2-0B3D-4CF3-AD11-40B0B6737126}"/>
              </a:ext>
            </a:extLst>
          </p:cNvPr>
          <p:cNvSpPr/>
          <p:nvPr/>
        </p:nvSpPr>
        <p:spPr>
          <a:xfrm>
            <a:off x="822881" y="567395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VIF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024DB-B90C-49E0-B675-F5E6C277E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748" y="948691"/>
            <a:ext cx="4320209" cy="5226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72F60F-5EFD-40CB-BE42-7C378FB01F79}"/>
              </a:ext>
            </a:extLst>
          </p:cNvPr>
          <p:cNvSpPr txBox="1"/>
          <p:nvPr/>
        </p:nvSpPr>
        <p:spPr>
          <a:xfrm>
            <a:off x="265043" y="948690"/>
            <a:ext cx="7341705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Objective:</a:t>
            </a:r>
          </a:p>
          <a:p>
            <a:r>
              <a:rPr lang="en-US"/>
              <a:t>Quantify multicollinearity using Variance Inflation Factor (VIF).</a:t>
            </a:r>
            <a:endParaRPr lang="en-US">
              <a:ea typeface="Calibri Light"/>
              <a:cs typeface="Calibri Light"/>
            </a:endParaRPr>
          </a:p>
          <a:p>
            <a:endParaRPr lang="en-US"/>
          </a:p>
          <a:p>
            <a:r>
              <a:rPr lang="en-US"/>
              <a:t>What is VIF?</a:t>
            </a:r>
            <a:endParaRPr lang="en-US">
              <a:ea typeface="Calibri Light"/>
              <a:cs typeface="Calibri Light"/>
            </a:endParaRPr>
          </a:p>
          <a:p>
            <a:r>
              <a:rPr lang="en-US"/>
              <a:t>Indicates how much variance of a variable is inflated due to correlation with others.</a:t>
            </a:r>
            <a:endParaRPr lang="en-US">
              <a:ea typeface="Calibri Light"/>
              <a:cs typeface="Calibri Light"/>
            </a:endParaRPr>
          </a:p>
          <a:p>
            <a:endParaRPr lang="en-US"/>
          </a:p>
          <a:p>
            <a:r>
              <a:rPr lang="en-US"/>
              <a:t>Interpretation:</a:t>
            </a:r>
            <a:endParaRPr lang="en-US">
              <a:ea typeface="Calibri Light"/>
              <a:cs typeface="Calibri Light"/>
            </a:endParaRPr>
          </a:p>
          <a:p>
            <a:r>
              <a:rPr lang="en-US"/>
              <a:t>VIF ≈ 1 → No collinearity</a:t>
            </a:r>
            <a:endParaRPr lang="en-US">
              <a:ea typeface="Calibri Light"/>
              <a:cs typeface="Calibri Light"/>
            </a:endParaRPr>
          </a:p>
          <a:p>
            <a:r>
              <a:rPr lang="en-US"/>
              <a:t>1–5 → Moderate</a:t>
            </a:r>
            <a:endParaRPr lang="en-US">
              <a:ea typeface="Calibri Light"/>
              <a:cs typeface="Calibri Light"/>
            </a:endParaRPr>
          </a:p>
          <a:p>
            <a:r>
              <a:rPr lang="en-US"/>
              <a:t>10 → High (problematic)</a:t>
            </a:r>
            <a:endParaRPr lang="en-US">
              <a:ea typeface="Calibri Light"/>
              <a:cs typeface="Calibri Light"/>
            </a:endParaRPr>
          </a:p>
          <a:p>
            <a:endParaRPr lang="en-US"/>
          </a:p>
          <a:p>
            <a:r>
              <a:rPr lang="en-US"/>
              <a:t>Conclusion:</a:t>
            </a:r>
            <a:endParaRPr lang="en-US">
              <a:ea typeface="Calibri Light"/>
              <a:cs typeface="Calibri Light"/>
            </a:endParaRPr>
          </a:p>
          <a:p>
            <a:r>
              <a:rPr lang="en-US"/>
              <a:t>All parameters show </a:t>
            </a:r>
            <a:r>
              <a:rPr lang="en-US" b="1"/>
              <a:t>VIF = ∞</a:t>
            </a:r>
            <a:r>
              <a:rPr lang="en-US"/>
              <a:t>, indicating severe multicollinearity among predictors. This confirms that many variables are linearly dependent on each other. Hence, we proceed with </a:t>
            </a:r>
            <a:r>
              <a:rPr lang="en-US" b="1"/>
              <a:t>ANOVA</a:t>
            </a:r>
            <a:r>
              <a:rPr lang="en-US"/>
              <a:t> for feature significance testing and </a:t>
            </a:r>
            <a:r>
              <a:rPr lang="en-US" b="1"/>
              <a:t>PCA</a:t>
            </a:r>
            <a:r>
              <a:rPr lang="en-US"/>
              <a:t> for dimensionality reduction to eliminate multicollinearity before model development.</a:t>
            </a:r>
            <a:endParaRPr lang="en-US">
              <a:ea typeface="Calibri Light"/>
              <a:cs typeface="Calibri Light"/>
            </a:endParaRPr>
          </a:p>
          <a:p>
            <a:endParaRPr lang="en-US"/>
          </a:p>
          <a:p>
            <a:r>
              <a:rPr lang="en-US">
                <a:ea typeface="Calibri Light"/>
                <a:cs typeface="Calibri Light"/>
              </a:rPr>
              <a:t>111</a:t>
            </a:r>
            <a:endParaRPr lang="en-US"/>
          </a:p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884FB-F573-4DA0-9E9F-97250360A333}"/>
              </a:ext>
            </a:extLst>
          </p:cNvPr>
          <p:cNvSpPr txBox="1"/>
          <p:nvPr/>
        </p:nvSpPr>
        <p:spPr>
          <a:xfrm>
            <a:off x="822881" y="106017"/>
            <a:ext cx="168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Week-3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9E00A-C1CE-4DDB-6F57-AB121BC708B0}"/>
              </a:ext>
            </a:extLst>
          </p:cNvPr>
          <p:cNvSpPr txBox="1"/>
          <p:nvPr/>
        </p:nvSpPr>
        <p:spPr>
          <a:xfrm>
            <a:off x="5920465" y="6278361"/>
            <a:ext cx="5958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ea typeface="Calibri Light"/>
                <a:cs typeface="Calibri Ligh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50573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3FDCC1-90F3-436E-B2BF-3E2A17F70424}"/>
              </a:ext>
            </a:extLst>
          </p:cNvPr>
          <p:cNvSpPr/>
          <p:nvPr/>
        </p:nvSpPr>
        <p:spPr>
          <a:xfrm>
            <a:off x="817614" y="601156"/>
            <a:ext cx="3160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ANOVA &amp; PCA Results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0BD36B-B9C1-4429-AF9C-27536AE21D55}"/>
              </a:ext>
            </a:extLst>
          </p:cNvPr>
          <p:cNvSpPr/>
          <p:nvPr/>
        </p:nvSpPr>
        <p:spPr>
          <a:xfrm>
            <a:off x="817614" y="1339207"/>
            <a:ext cx="46551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Key Findings:</a:t>
            </a:r>
          </a:p>
          <a:p>
            <a:r>
              <a:rPr lang="en-US"/>
              <a:t>- ANOVA reduced total 170+ parameters to 89.</a:t>
            </a:r>
          </a:p>
          <a:p>
            <a:r>
              <a:rPr lang="en-US"/>
              <a:t>- PCA extracted major components capturing 90% data variance by 27 parameters.</a:t>
            </a:r>
          </a:p>
          <a:p>
            <a:r>
              <a:rPr lang="en-US"/>
              <a:t>- OLS Regression gave following significant PCA components (p &lt; 0.05): x1, x2, x3, x5, x6, x7, x10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AD0846-1727-424D-B236-A684A6544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08" y="953465"/>
            <a:ext cx="5887272" cy="2475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9D8997-5353-4035-BD54-E318BB173D1D}"/>
              </a:ext>
            </a:extLst>
          </p:cNvPr>
          <p:cNvSpPr txBox="1"/>
          <p:nvPr/>
        </p:nvSpPr>
        <p:spPr>
          <a:xfrm>
            <a:off x="1724168" y="3764468"/>
            <a:ext cx="1046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% Shelf life were not included in the results because somewhere it was written %Value. </a:t>
            </a:r>
            <a:br>
              <a:rPr lang="en-US"/>
            </a:br>
            <a:r>
              <a:rPr lang="en-US"/>
              <a:t>But those parameter are also important and accuracy will change after using it.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1A120E-59C3-FD0A-6446-119274012F86}"/>
              </a:ext>
            </a:extLst>
          </p:cNvPr>
          <p:cNvSpPr txBox="1"/>
          <p:nvPr/>
        </p:nvSpPr>
        <p:spPr>
          <a:xfrm>
            <a:off x="5941504" y="6295873"/>
            <a:ext cx="8534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ea typeface="Calibri Light"/>
                <a:cs typeface="Calibri Light"/>
              </a:rPr>
              <a:t>12</a:t>
            </a:r>
            <a:endParaRPr 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230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2B1FF-7347-4892-A3DF-DBB78E7C6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550" y="709233"/>
            <a:ext cx="7878274" cy="54395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4B8CFC-CC4B-D41F-C660-8A33E6F9E2EB}"/>
              </a:ext>
            </a:extLst>
          </p:cNvPr>
          <p:cNvSpPr txBox="1"/>
          <p:nvPr/>
        </p:nvSpPr>
        <p:spPr>
          <a:xfrm>
            <a:off x="619437" y="2560340"/>
            <a:ext cx="523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9CA36-1B47-1D08-9C80-64A2BA21ADE4}"/>
              </a:ext>
            </a:extLst>
          </p:cNvPr>
          <p:cNvSpPr txBox="1"/>
          <p:nvPr/>
        </p:nvSpPr>
        <p:spPr>
          <a:xfrm>
            <a:off x="5837943" y="6261860"/>
            <a:ext cx="520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ea typeface="Calibri Light"/>
                <a:cs typeface="Calibri Light"/>
              </a:rPr>
              <a:t>13</a:t>
            </a:r>
            <a:endParaRPr 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1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B36917-75CC-B614-C0E6-CC0FBE06F73C}"/>
              </a:ext>
            </a:extLst>
          </p:cNvPr>
          <p:cNvSpPr txBox="1"/>
          <p:nvPr/>
        </p:nvSpPr>
        <p:spPr>
          <a:xfrm>
            <a:off x="692686" y="661244"/>
            <a:ext cx="1059540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>
                <a:solidFill>
                  <a:srgbClr val="C14B1D"/>
                </a:solidFill>
                <a:latin typeface="Trebuchet MS"/>
              </a:rPr>
              <a:t>Final Analytical Path </a:t>
            </a:r>
            <a:endParaRPr lang="en-IN" sz="320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2" name="object 49">
            <a:extLst>
              <a:ext uri="{FF2B5EF4-FFF2-40B4-BE49-F238E27FC236}">
                <a16:creationId xmlns:a16="http://schemas.microsoft.com/office/drawing/2014/main" id="{8397881B-2285-B770-54DF-9D00A716B776}"/>
              </a:ext>
            </a:extLst>
          </p:cNvPr>
          <p:cNvSpPr txBox="1">
            <a:spLocks/>
          </p:cNvSpPr>
          <p:nvPr/>
        </p:nvSpPr>
        <p:spPr>
          <a:xfrm>
            <a:off x="5990390" y="6400800"/>
            <a:ext cx="314876" cy="18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 Light"/>
                <a:ea typeface="+mn-ea"/>
                <a:cs typeface="Calibri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z="2000" b="1" smtClean="0"/>
              <a:pPr marL="38100">
                <a:lnSpc>
                  <a:spcPts val="1240"/>
                </a:lnSpc>
              </a:pPr>
              <a:t>14</a:t>
            </a:fld>
            <a:endParaRPr lang="en-US" sz="20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D9809-E4B0-42BD-9C1F-34DD4755479B}"/>
              </a:ext>
            </a:extLst>
          </p:cNvPr>
          <p:cNvSpPr/>
          <p:nvPr/>
        </p:nvSpPr>
        <p:spPr>
          <a:xfrm>
            <a:off x="798295" y="1246019"/>
            <a:ext cx="10595408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/>
              <a:t>Selected Approach:</a:t>
            </a:r>
          </a:p>
          <a:p>
            <a:r>
              <a:rPr lang="en-IN" sz="1600"/>
              <a:t>- ANOVA → identify variance-based important parameters.</a:t>
            </a:r>
          </a:p>
          <a:p>
            <a:r>
              <a:rPr lang="en-IN" sz="1600"/>
              <a:t>- PCA → convert correlated variables into independent components.</a:t>
            </a:r>
          </a:p>
          <a:p>
            <a:r>
              <a:rPr lang="en-IN" sz="1600"/>
              <a:t>- OLS Regression → assess component significance (p |t| values).</a:t>
            </a:r>
          </a:p>
          <a:p>
            <a:r>
              <a:rPr lang="en-IN" sz="1600"/>
              <a:t>- Elbow Method → find optimal feature count.</a:t>
            </a:r>
          </a:p>
          <a:p>
            <a:r>
              <a:rPr lang="en-IN" sz="1600"/>
              <a:t>- Logistic &amp; Random Forest Models → validation.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93B93D3-F24E-404D-ADA2-AECC7C8721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1514661"/>
              </p:ext>
            </p:extLst>
          </p:nvPr>
        </p:nvGraphicFramePr>
        <p:xfrm>
          <a:off x="692685" y="2975212"/>
          <a:ext cx="10701017" cy="3125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4" name="TextBox 173">
            <a:extLst>
              <a:ext uri="{FF2B5EF4-FFF2-40B4-BE49-F238E27FC236}">
                <a16:creationId xmlns:a16="http://schemas.microsoft.com/office/drawing/2014/main" id="{95A44CD0-1F75-CC0D-9129-E126CB083673}"/>
              </a:ext>
            </a:extLst>
          </p:cNvPr>
          <p:cNvSpPr txBox="1"/>
          <p:nvPr/>
        </p:nvSpPr>
        <p:spPr>
          <a:xfrm>
            <a:off x="411559" y="5232696"/>
            <a:ext cx="561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ea typeface="Calibri Light"/>
                <a:cs typeface="Calibri Light"/>
              </a:rPr>
              <a:t>14</a:t>
            </a:r>
            <a:endParaRPr 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02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3FDCC1-90F3-436E-B2BF-3E2A17F70424}"/>
              </a:ext>
            </a:extLst>
          </p:cNvPr>
          <p:cNvSpPr/>
          <p:nvPr/>
        </p:nvSpPr>
        <p:spPr>
          <a:xfrm>
            <a:off x="817614" y="601156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Model Development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0BD36B-B9C1-4429-AF9C-27536AE21D55}"/>
              </a:ext>
            </a:extLst>
          </p:cNvPr>
          <p:cNvSpPr/>
          <p:nvPr/>
        </p:nvSpPr>
        <p:spPr>
          <a:xfrm>
            <a:off x="566250" y="1339207"/>
            <a:ext cx="5781116" cy="42473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Models</a:t>
            </a:r>
            <a:r>
              <a:rPr lang="en-US"/>
              <a:t> </a:t>
            </a:r>
            <a:r>
              <a:rPr lang="en-US" b="1" u="sng"/>
              <a:t>Used</a:t>
            </a:r>
            <a:r>
              <a:rPr lang="en-US" b="1"/>
              <a:t>: 1.</a:t>
            </a:r>
            <a:r>
              <a:rPr lang="en-US"/>
              <a:t> Logistic Regression, </a:t>
            </a:r>
          </a:p>
          <a:p>
            <a:r>
              <a:rPr lang="en-US"/>
              <a:t>                         </a:t>
            </a:r>
            <a:r>
              <a:rPr lang="en-US" b="1"/>
              <a:t>2</a:t>
            </a:r>
            <a:r>
              <a:rPr lang="en-US"/>
              <a:t>. Random forest</a:t>
            </a:r>
          </a:p>
          <a:p>
            <a:endParaRPr lang="en-US"/>
          </a:p>
          <a:p>
            <a:r>
              <a:rPr lang="en-US" b="1" u="sng"/>
              <a:t>Observation:</a:t>
            </a:r>
            <a:endParaRPr lang="en-US" b="1" u="sng">
              <a:ea typeface="Calibri Light"/>
              <a:cs typeface="Calibri Light"/>
            </a:endParaRPr>
          </a:p>
          <a:p>
            <a:pPr marL="285750" indent="-285750">
              <a:buFontTx/>
              <a:buChar char="-"/>
            </a:pPr>
            <a:r>
              <a:rPr lang="en-US"/>
              <a:t>Both models delivered consistent, stable performance.</a:t>
            </a:r>
            <a:endParaRPr lang="en-US">
              <a:ea typeface="Calibri Light"/>
              <a:cs typeface="Calibri Light"/>
            </a:endParaRPr>
          </a:p>
          <a:p>
            <a:pPr marL="285750" indent="-285750">
              <a:buFontTx/>
              <a:buChar char="-"/>
            </a:pPr>
            <a:r>
              <a:rPr lang="en-US"/>
              <a:t>Improved interpretability and generalization vs earlier attempts.</a:t>
            </a:r>
            <a:endParaRPr lang="en-US">
              <a:ea typeface="Calibri Light"/>
              <a:cs typeface="Calibri Light"/>
            </a:endParaRPr>
          </a:p>
          <a:p>
            <a:pPr marL="285750" indent="-285750">
              <a:buFontTx/>
              <a:buChar char="-"/>
            </a:pPr>
            <a:r>
              <a:rPr lang="en-US" b="1"/>
              <a:t>Significant Components:</a:t>
            </a:r>
            <a:r>
              <a:rPr lang="en-US"/>
              <a:t> x1, x3, x4, x5 (p &lt; 0.05)</a:t>
            </a:r>
            <a:br>
              <a:rPr lang="en-US"/>
            </a:br>
            <a:r>
              <a:rPr lang="en-US"/>
              <a:t>→ Statistically significant and strongly influence flavor outcomes</a:t>
            </a:r>
            <a:endParaRPr lang="en-US">
              <a:ea typeface="Calibri Light"/>
              <a:cs typeface="Calibri Light"/>
            </a:endParaRPr>
          </a:p>
          <a:p>
            <a:pPr marL="285750" indent="-285750">
              <a:buFontTx/>
              <a:buChar char="-"/>
            </a:pPr>
            <a:r>
              <a:rPr lang="en-US" b="1"/>
              <a:t>Non-Significant Components:</a:t>
            </a:r>
            <a:r>
              <a:rPr lang="en-US"/>
              <a:t> Remaining components show p &gt; 0.05</a:t>
            </a:r>
            <a:br>
              <a:rPr lang="en-US"/>
            </a:br>
            <a:r>
              <a:rPr lang="en-US"/>
              <a:t>→ Minimal or no impact on flavor variation.</a:t>
            </a:r>
            <a:endParaRPr lang="en-US">
              <a:ea typeface="Calibri Light"/>
              <a:cs typeface="Calibri Light"/>
            </a:endParaRPr>
          </a:p>
          <a:p>
            <a:pPr marL="285750" indent="-285750">
              <a:buFontTx/>
              <a:buChar char="-"/>
            </a:pPr>
            <a:endParaRPr lang="en-US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24E70F-0EC6-414E-8E4D-3C05555ED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56944"/>
            <a:ext cx="5529751" cy="4744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31F7AE-13AF-4DB2-8805-BE6893FA1FBD}"/>
              </a:ext>
            </a:extLst>
          </p:cNvPr>
          <p:cNvSpPr txBox="1"/>
          <p:nvPr/>
        </p:nvSpPr>
        <p:spPr>
          <a:xfrm>
            <a:off x="7381461" y="601156"/>
            <a:ext cx="270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Logistic Regression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11AC14-FB4B-30E6-A8E5-CE9010ED7DF9}"/>
              </a:ext>
            </a:extLst>
          </p:cNvPr>
          <p:cNvSpPr txBox="1"/>
          <p:nvPr/>
        </p:nvSpPr>
        <p:spPr>
          <a:xfrm>
            <a:off x="5849154" y="6283818"/>
            <a:ext cx="15347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15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3FDCC1-90F3-436E-B2BF-3E2A17F70424}"/>
              </a:ext>
            </a:extLst>
          </p:cNvPr>
          <p:cNvSpPr/>
          <p:nvPr/>
        </p:nvSpPr>
        <p:spPr>
          <a:xfrm>
            <a:off x="817614" y="601156"/>
            <a:ext cx="3252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Elbow method output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DBBC60-4F78-48A7-8A95-B5DB91BDD5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474" b="37924"/>
          <a:stretch/>
        </p:blipFill>
        <p:spPr>
          <a:xfrm>
            <a:off x="580227" y="1062821"/>
            <a:ext cx="6125373" cy="42513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10D2A-A362-4C7B-AC0F-B25299F45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00" y="903795"/>
            <a:ext cx="5317683" cy="441032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F747A94-D3C2-4E84-8F4A-EEAE168D772A}"/>
              </a:ext>
            </a:extLst>
          </p:cNvPr>
          <p:cNvSpPr/>
          <p:nvPr/>
        </p:nvSpPr>
        <p:spPr>
          <a:xfrm>
            <a:off x="2334839" y="1944113"/>
            <a:ext cx="218364" cy="1364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617869-9C86-4DCD-A7A3-8C61328D3EC9}"/>
              </a:ext>
            </a:extLst>
          </p:cNvPr>
          <p:cNvSpPr/>
          <p:nvPr/>
        </p:nvSpPr>
        <p:spPr>
          <a:xfrm>
            <a:off x="1168202" y="5452621"/>
            <a:ext cx="10589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The feature importance analysis identifies </a:t>
            </a:r>
            <a:r>
              <a:rPr lang="en-US" b="1"/>
              <a:t>16 highly significant features</a:t>
            </a:r>
            <a:r>
              <a:rPr lang="en-US"/>
              <a:t> that contribute most substantially to the PCA components, with </a:t>
            </a:r>
            <a:r>
              <a:rPr lang="en-US" b="1"/>
              <a:t>Chloride (Max)</a:t>
            </a:r>
            <a:r>
              <a:rPr lang="en-US"/>
              <a:t> and </a:t>
            </a:r>
            <a:r>
              <a:rPr lang="en-US" b="1"/>
              <a:t>Hardness (Max)</a:t>
            </a:r>
            <a:r>
              <a:rPr lang="en-US"/>
              <a:t> emerging as the top contributors.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39EA2F-0CF9-2EA6-344D-D79E01EB1D07}"/>
              </a:ext>
            </a:extLst>
          </p:cNvPr>
          <p:cNvSpPr txBox="1"/>
          <p:nvPr/>
        </p:nvSpPr>
        <p:spPr>
          <a:xfrm>
            <a:off x="5930747" y="6320928"/>
            <a:ext cx="7987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16</a:t>
            </a:r>
            <a:r>
              <a:rPr sz="18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55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4996-A402-A4E5-D180-F78C2D67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2BFCB9-E965-F78B-EE0E-3BE0AC7AF308}"/>
              </a:ext>
            </a:extLst>
          </p:cNvPr>
          <p:cNvSpPr/>
          <p:nvPr/>
        </p:nvSpPr>
        <p:spPr>
          <a:xfrm>
            <a:off x="817614" y="601156"/>
            <a:ext cx="73068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(% Shelf life was not considered)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A018F3-5B3E-E4AF-E64B-30922CF810B6}"/>
              </a:ext>
            </a:extLst>
          </p:cNvPr>
          <p:cNvSpPr txBox="1"/>
          <p:nvPr/>
        </p:nvSpPr>
        <p:spPr>
          <a:xfrm>
            <a:off x="817614" y="1233577"/>
            <a:ext cx="476178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r>
              <a:rPr lang="en-US" b="1" u="sng"/>
              <a:t> 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Chloride (Max)</a:t>
            </a:r>
            <a:endParaRPr lang="en-US" b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Hardness (Max</a:t>
            </a:r>
            <a:r>
              <a:rPr lang="en-US" b="1"/>
              <a:t>)</a:t>
            </a:r>
            <a:endParaRPr lang="en-US" b="1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Low wine turbidity-2 (4 hrs)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Wort initial pH (2500L Vessel</a:t>
            </a:r>
            <a:r>
              <a:rPr lang="en-US"/>
              <a:t>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Final Wash turbidity_Fermented Wash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Final Wash turbidity 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Malt foreign matter</a:t>
            </a:r>
            <a:endParaRPr lang="en-IN" b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16D32-0B5A-8DAF-C57F-1126BD88D716}"/>
              </a:ext>
            </a:extLst>
          </p:cNvPr>
          <p:cNvSpPr txBox="1"/>
          <p:nvPr/>
        </p:nvSpPr>
        <p:spPr>
          <a:xfrm>
            <a:off x="6912288" y="1233577"/>
            <a:ext cx="4890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Cereal/Grainy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Malt Moisture (Max)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Yeast Storage Temperature, deg C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1000 kernel weight (min)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1st wort turbidity Wort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Malt Friability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Recovery of FMS_Spirit_A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Final Wash Alcohol (ABV)</a:t>
            </a:r>
            <a:endParaRPr lang="en-IN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26E1F-DD26-8D49-4FBC-7E59163B1B52}"/>
              </a:ext>
            </a:extLst>
          </p:cNvPr>
          <p:cNvSpPr txBox="1"/>
          <p:nvPr/>
        </p:nvSpPr>
        <p:spPr>
          <a:xfrm>
            <a:off x="817614" y="3617241"/>
            <a:ext cx="6094674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Fermented 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Alkalinity</a:t>
            </a:r>
            <a:endParaRPr lang="en-US" b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Spirit distillation Rate-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Mean_Spirit_B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Recovery of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FMS_Spirit_B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Alcohol Strength obtained-Previous batch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Spirit_A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Alcohol Strength obtained-Previous batch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Spirit_B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Malt foreign matter</a:t>
            </a:r>
            <a:endParaRPr lang="en-US" b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Low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wineFeint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 Alcohol Strength obtained-Previous batch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Spirit_A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8EB55-8F53-224A-00D4-9B5CF77E9895}"/>
              </a:ext>
            </a:extLst>
          </p:cNvPr>
          <p:cNvSpPr txBox="1"/>
          <p:nvPr/>
        </p:nvSpPr>
        <p:spPr>
          <a:xfrm>
            <a:off x="6912288" y="3617241"/>
            <a:ext cx="6094674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Husky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Wash condenser temperature(Max)-Mean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Sparging water temperature</a:t>
            </a:r>
            <a:endParaRPr lang="en-US" b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Low wine</a:t>
            </a:r>
            <a:endParaRPr lang="en-US" b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Low wine alcohol % </a:t>
            </a:r>
            <a:r>
              <a:rPr lang="en-US" b="1" err="1">
                <a:solidFill>
                  <a:schemeClr val="accent6">
                    <a:lumMod val="75000"/>
                  </a:schemeClr>
                </a:solidFill>
              </a:rPr>
              <a:t>obtained_Low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 wine </a:t>
            </a:r>
            <a:endParaRPr lang="en-US" b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47439-571D-FE27-798A-BB30373BA0E3}"/>
              </a:ext>
            </a:extLst>
          </p:cNvPr>
          <p:cNvSpPr txBox="1"/>
          <p:nvPr/>
        </p:nvSpPr>
        <p:spPr>
          <a:xfrm>
            <a:off x="5902817" y="6219423"/>
            <a:ext cx="7727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17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40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7303-6789-2012-315D-5142EDF6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50B8D8-310D-66C6-5AD7-0F10A9B1CF46}"/>
              </a:ext>
            </a:extLst>
          </p:cNvPr>
          <p:cNvSpPr/>
          <p:nvPr/>
        </p:nvSpPr>
        <p:spPr>
          <a:xfrm>
            <a:off x="817614" y="601156"/>
            <a:ext cx="73068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(% Shelf life was not considered)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011E7-D480-BDA9-4DBD-807B90405EC5}"/>
              </a:ext>
            </a:extLst>
          </p:cNvPr>
          <p:cNvSpPr txBox="1"/>
          <p:nvPr/>
        </p:nvSpPr>
        <p:spPr>
          <a:xfrm>
            <a:off x="817614" y="1233577"/>
            <a:ext cx="476178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>
                <a:ea typeface="Calibri Light"/>
                <a:cs typeface="Calibri Light"/>
              </a:rPr>
              <a:t>Starchy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Malt predicted spirit yield (min)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libri Light"/>
                <a:cs typeface="Calibri Light"/>
              </a:rPr>
              <a:t>Wort final gravity (2500 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Yeast storage temperature, deg C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Yeast shelf-life at the time of use (C-70 yeast</a:t>
            </a:r>
            <a:r>
              <a:rPr lang="en-US">
                <a:solidFill>
                  <a:srgbClr val="FF0000"/>
                </a:solidFill>
                <a:ea typeface="Calibri Light"/>
                <a:cs typeface="Calibri Light"/>
              </a:rPr>
              <a:t>)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Temperature in </a:t>
            </a:r>
            <a:r>
              <a:rPr lang="en-US" err="1">
                <a:ea typeface="Calibri Light"/>
                <a:cs typeface="Calibri Light"/>
              </a:rPr>
              <a:t>Mashtun</a:t>
            </a:r>
            <a:r>
              <a:rPr lang="en-US">
                <a:ea typeface="Calibri Light"/>
                <a:cs typeface="Calibri Light"/>
              </a:rPr>
              <a:t> (</a:t>
            </a:r>
            <a:r>
              <a:rPr lang="en-US" err="1">
                <a:ea typeface="Calibri Light"/>
                <a:cs typeface="Calibri Light"/>
              </a:rPr>
              <a:t>Optimash</a:t>
            </a:r>
            <a:r>
              <a:rPr lang="en-US">
                <a:ea typeface="Calibri Light"/>
                <a:cs typeface="Calibri Light"/>
              </a:rPr>
              <a:t> TBG)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Malt moisture (Max)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libri Light"/>
                <a:cs typeface="Calibri Light"/>
              </a:rPr>
              <a:t>Low wine alcohol % obtained spirit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137FD-66BC-0952-901C-331BF4A53AD6}"/>
              </a:ext>
            </a:extLst>
          </p:cNvPr>
          <p:cNvSpPr txBox="1"/>
          <p:nvPr/>
        </p:nvSpPr>
        <p:spPr>
          <a:xfrm>
            <a:off x="6912288" y="1233577"/>
            <a:ext cx="4890053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Cooked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libri Light"/>
                <a:cs typeface="Calibri Light"/>
              </a:rPr>
              <a:t>pH process water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libri Light"/>
                <a:cs typeface="Calibri Light"/>
              </a:rPr>
              <a:t>Wort receiver temperature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libri Light"/>
                <a:cs typeface="Calibri Light"/>
              </a:rPr>
              <a:t>Spirit condenser temperature-Mean spirit B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6000"/>
                  </a:schemeClr>
                </a:solidFill>
                <a:ea typeface="Calibri Light"/>
                <a:cs typeface="Calibri Light"/>
              </a:rPr>
              <a:t>Low wine turbidity mean spirit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F6FD2-BFAA-DF8D-439A-81EC71749042}"/>
              </a:ext>
            </a:extLst>
          </p:cNvPr>
          <p:cNvSpPr txBox="1"/>
          <p:nvPr/>
        </p:nvSpPr>
        <p:spPr>
          <a:xfrm>
            <a:off x="817614" y="3617241"/>
            <a:ext cx="6094674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Acidic/Solvent 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Fermentable sugar (optional )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Temperature in </a:t>
            </a:r>
            <a:r>
              <a:rPr lang="en-US" b="1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Mashtun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(</a:t>
            </a:r>
            <a:r>
              <a:rPr lang="en-US" b="1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optimash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TBG)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Low wine turbidity </a:t>
            </a:r>
            <a:r>
              <a:rPr lang="en-US" err="1">
                <a:ea typeface="Calibri Light"/>
                <a:cs typeface="Calibri Light"/>
              </a:rPr>
              <a:t>mean_spirit</a:t>
            </a:r>
            <a:r>
              <a:rPr lang="en-US">
                <a:ea typeface="Calibri Light"/>
                <a:cs typeface="Calibri Light"/>
              </a:rPr>
              <a:t> B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Hardness (max)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final gravity (2500L vessel)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% shelf life available </a:t>
            </a:r>
            <a:r>
              <a:rPr lang="en-US" b="1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Optimash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TBG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Mashing temperature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21748-5BCE-A8AB-AEF6-437F13B3C380}"/>
              </a:ext>
            </a:extLst>
          </p:cNvPr>
          <p:cNvSpPr txBox="1"/>
          <p:nvPr/>
        </p:nvSpPr>
        <p:spPr>
          <a:xfrm>
            <a:off x="5849155" y="6316014"/>
            <a:ext cx="7727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18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97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A8F5FB-492F-C2A1-5A14-49259D84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9C69DE-B4CC-000F-8AE5-396F099017BA}"/>
              </a:ext>
            </a:extLst>
          </p:cNvPr>
          <p:cNvSpPr/>
          <p:nvPr/>
        </p:nvSpPr>
        <p:spPr>
          <a:xfrm>
            <a:off x="817614" y="601156"/>
            <a:ext cx="854432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 err="1">
                <a:solidFill>
                  <a:srgbClr val="C14B1D"/>
                </a:solidFill>
                <a:latin typeface="Trebuchet MS"/>
              </a:rPr>
              <a:t>eatures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 affecting </a:t>
            </a:r>
            <a:r>
              <a:rPr lang="en-IN" sz="1600">
                <a:solidFill>
                  <a:srgbClr val="C14B1D"/>
                </a:solidFill>
                <a:latin typeface="Trebuchet MS"/>
              </a:rPr>
              <a:t>(green text are the parameters which are approved by Steffi 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61B80A-61CE-67EE-123A-6D8BA7DCA451}"/>
              </a:ext>
            </a:extLst>
          </p:cNvPr>
          <p:cNvSpPr txBox="1"/>
          <p:nvPr/>
        </p:nvSpPr>
        <p:spPr>
          <a:xfrm>
            <a:off x="817614" y="1233577"/>
            <a:ext cx="4761781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</a:t>
            </a:r>
          </a:p>
          <a:p>
            <a:pPr marL="342900" indent="-342900">
              <a:buAutoNum type="arabicPeriod"/>
            </a:pPr>
            <a:r>
              <a:rPr lang="en-US" i="1">
                <a:solidFill>
                  <a:srgbClr val="C14B1D"/>
                </a:solidFill>
              </a:rPr>
              <a:t>Wort final gravity (25L vessel)</a:t>
            </a:r>
            <a:endParaRPr lang="en-US" i="1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rgbClr val="C14B1D"/>
                </a:solidFill>
              </a:rPr>
              <a:t>Recovery of </a:t>
            </a:r>
            <a:r>
              <a:rPr lang="en-US" i="1" err="1">
                <a:solidFill>
                  <a:srgbClr val="C14B1D"/>
                </a:solidFill>
              </a:rPr>
              <a:t>FMS_Spirit</a:t>
            </a:r>
            <a:r>
              <a:rPr lang="en-US" i="1">
                <a:solidFill>
                  <a:srgbClr val="C14B1D"/>
                </a:solidFill>
              </a:rPr>
              <a:t> A</a:t>
            </a:r>
            <a:endParaRPr lang="en-US" i="1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Yeast storage temperature, deg C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friability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Final wash alcohol (ABV)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alcohol % </a:t>
            </a:r>
            <a:r>
              <a:rPr lang="en-US" err="1">
                <a:solidFill>
                  <a:srgbClr val="C14B1D"/>
                </a:solidFill>
              </a:rPr>
              <a:t>obtained_Spirit_A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rgbClr val="C14B1D"/>
                </a:solidFill>
              </a:rPr>
              <a:t>Malt moisture (Max)</a:t>
            </a:r>
            <a:endParaRPr lang="en-US" i="1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Final Wash Alcohol %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baseline="30000">
                <a:solidFill>
                  <a:schemeClr val="accent6">
                    <a:lumMod val="75000"/>
                  </a:schemeClr>
                </a:solidFill>
              </a:rPr>
              <a:t>st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 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gravity_Wort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Low wine 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C611E-B244-E6D0-5D38-88C1AE8CF3B3}"/>
              </a:ext>
            </a:extLst>
          </p:cNvPr>
          <p:cNvSpPr txBox="1"/>
          <p:nvPr/>
        </p:nvSpPr>
        <p:spPr>
          <a:xfrm>
            <a:off x="6096000" y="1233577"/>
            <a:ext cx="5278386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Recovery of </a:t>
            </a:r>
            <a:r>
              <a:rPr lang="en-US" err="1">
                <a:solidFill>
                  <a:srgbClr val="C14B1D"/>
                </a:solidFill>
              </a:rPr>
              <a:t>FMS_Spirit_A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moisture (Max)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1000 kernel weight </a:t>
            </a:r>
            <a:r>
              <a:rPr lang="en-US">
                <a:solidFill>
                  <a:srgbClr val="C14B1D"/>
                </a:solidFill>
              </a:rPr>
              <a:t>separated spirit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separated </a:t>
            </a:r>
            <a:r>
              <a:rPr lang="en-US" err="1">
                <a:solidFill>
                  <a:srgbClr val="C14B1D"/>
                </a:solidFill>
              </a:rPr>
              <a:t>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hot water extract on dry weight basis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predicted spirit yield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obtained –previous </a:t>
            </a:r>
            <a:r>
              <a:rPr lang="en-US" err="1">
                <a:solidFill>
                  <a:srgbClr val="C14B1D"/>
                </a:solidFill>
              </a:rPr>
              <a:t>batch_Spirit_A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</a:t>
            </a:r>
            <a:r>
              <a:rPr lang="en-US" err="1">
                <a:solidFill>
                  <a:srgbClr val="C14B1D"/>
                </a:solidFill>
              </a:rPr>
              <a:t>charged_spirit_B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Wort final gravity (25L vessel)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obtained-previous batch </a:t>
            </a:r>
            <a:r>
              <a:rPr lang="en-US" err="1">
                <a:solidFill>
                  <a:srgbClr val="C14B1D"/>
                </a:solidFill>
              </a:rPr>
              <a:t>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8D704-0BF5-0C19-09C8-B8BA86FF3AE9}"/>
              </a:ext>
            </a:extLst>
          </p:cNvPr>
          <p:cNvSpPr txBox="1"/>
          <p:nvPr/>
        </p:nvSpPr>
        <p:spPr>
          <a:xfrm>
            <a:off x="816790" y="123581"/>
            <a:ext cx="2092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 Light"/>
                <a:cs typeface="Calibri Light"/>
              </a:rPr>
              <a:t>31-10-2025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732DD-F530-F7AE-E392-90FC2FF820A1}"/>
              </a:ext>
            </a:extLst>
          </p:cNvPr>
          <p:cNvSpPr txBox="1"/>
          <p:nvPr/>
        </p:nvSpPr>
        <p:spPr>
          <a:xfrm>
            <a:off x="5902817" y="6348211"/>
            <a:ext cx="7834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19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56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E1A0B0-A65D-478B-7059-590E765D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21FF72-9277-FB19-FE9C-FF553646C25E}"/>
              </a:ext>
            </a:extLst>
          </p:cNvPr>
          <p:cNvSpPr/>
          <p:nvPr/>
        </p:nvSpPr>
        <p:spPr>
          <a:xfrm>
            <a:off x="817614" y="601156"/>
            <a:ext cx="841608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  <a:r>
              <a:rPr lang="en-IN" sz="1600">
                <a:solidFill>
                  <a:srgbClr val="C14B1D"/>
                </a:solidFill>
                <a:latin typeface="Trebuchet MS"/>
              </a:rPr>
              <a:t>(green text are the parameters which were present in both 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42C8BB-821F-A84E-16FC-165B1EE4B271}"/>
              </a:ext>
            </a:extLst>
          </p:cNvPr>
          <p:cNvSpPr txBox="1"/>
          <p:nvPr/>
        </p:nvSpPr>
        <p:spPr>
          <a:xfrm>
            <a:off x="817614" y="1233577"/>
            <a:ext cx="4761781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moisture (Max)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Yeast storage temperature, deg C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1000 kernel weight (min</a:t>
            </a:r>
            <a:r>
              <a:rPr lang="en-US">
                <a:solidFill>
                  <a:srgbClr val="C14B1D"/>
                </a:solidFill>
              </a:rPr>
              <a:t>)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1st 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turbidity_Wort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Malt friability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Recovery of </a:t>
            </a:r>
            <a:r>
              <a:rPr lang="en-US" err="1">
                <a:solidFill>
                  <a:srgbClr val="C14B1D"/>
                </a:solidFill>
                <a:ea typeface="Calibri Light"/>
                <a:cs typeface="Calibri Light"/>
              </a:rPr>
              <a:t>FMS_Spirit_A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Final wash Alcohol (ABV)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Low wine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Wort final gravity (25L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Low wine alcohol % </a:t>
            </a:r>
            <a:r>
              <a:rPr lang="en-US" err="1">
                <a:solidFill>
                  <a:srgbClr val="C14B1D"/>
                </a:solidFill>
                <a:ea typeface="Calibri Light"/>
                <a:cs typeface="Calibri Light"/>
              </a:rPr>
              <a:t>obtained_Low</a:t>
            </a: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 wine</a:t>
            </a:r>
          </a:p>
          <a:p>
            <a:pPr marL="342900" indent="-342900">
              <a:buAutoNum type="arabicPeriod"/>
            </a:pPr>
            <a:endParaRPr lang="en-IN"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168BA-A33B-B970-E5AA-1D27562DD407}"/>
              </a:ext>
            </a:extLst>
          </p:cNvPr>
          <p:cNvSpPr txBox="1"/>
          <p:nvPr/>
        </p:nvSpPr>
        <p:spPr>
          <a:xfrm>
            <a:off x="6096000" y="1233577"/>
            <a:ext cx="5278386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Recovery of </a:t>
            </a:r>
            <a:r>
              <a:rPr lang="en-US" err="1">
                <a:solidFill>
                  <a:srgbClr val="C14B1D"/>
                </a:solidFill>
              </a:rPr>
              <a:t>FMS_Spirit_A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moisture (Max)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1000 kernel weight </a:t>
            </a:r>
            <a:r>
              <a:rPr lang="en-US">
                <a:solidFill>
                  <a:srgbClr val="C14B1D"/>
                </a:solidFill>
              </a:rPr>
              <a:t>separated spirit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separated </a:t>
            </a:r>
            <a:r>
              <a:rPr lang="en-US" err="1">
                <a:solidFill>
                  <a:srgbClr val="C14B1D"/>
                </a:solidFill>
              </a:rPr>
              <a:t>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hot water extract on dry weight basis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predicted spirit yield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obtained –previous </a:t>
            </a:r>
            <a:r>
              <a:rPr lang="en-US" err="1">
                <a:solidFill>
                  <a:srgbClr val="C14B1D"/>
                </a:solidFill>
              </a:rPr>
              <a:t>batch_Spirit_A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</a:t>
            </a:r>
            <a:r>
              <a:rPr lang="en-US" err="1">
                <a:solidFill>
                  <a:srgbClr val="C14B1D"/>
                </a:solidFill>
              </a:rPr>
              <a:t>charged_spirit_B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Wort final gravity (25L vessel)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obtained-previous batch </a:t>
            </a:r>
            <a:r>
              <a:rPr lang="en-US" err="1">
                <a:solidFill>
                  <a:srgbClr val="C14B1D"/>
                </a:solidFill>
              </a:rPr>
              <a:t>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1B5CB-F25A-080A-43BC-CEDB4E09B877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4-11-2025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58755-E058-812F-1B1E-5822CBAE631B}"/>
              </a:ext>
            </a:extLst>
          </p:cNvPr>
          <p:cNvSpPr txBox="1"/>
          <p:nvPr/>
        </p:nvSpPr>
        <p:spPr>
          <a:xfrm>
            <a:off x="5881352" y="6337479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20</a:t>
            </a:r>
            <a:endParaRPr lang="en-US" sz="1800" b="1" i="0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48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4830412-D1E9-33A1-CEED-5CB86347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6C0A81-7090-B364-E9C7-598E47AC1194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ABDE1-7FEB-DB4F-6A7D-CBAFB742BD5E}"/>
              </a:ext>
            </a:extLst>
          </p:cNvPr>
          <p:cNvSpPr txBox="1"/>
          <p:nvPr/>
        </p:nvSpPr>
        <p:spPr>
          <a:xfrm>
            <a:off x="817614" y="1233577"/>
            <a:ext cx="4761781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endParaRPr lang="en-US" b="1" u="sng" err="1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separated spirit 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charged spirit 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obtained-Previous batch spirit 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charged spirit 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obtained-previous batch spirit 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Yeast shelf life at the time of use (C-70 yeast)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Grist ratio on miling-1 medium 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Grist ratio on miling-1 course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Grist ratio on miling-1 fine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Time of addition of enzyme (Proteinase T) 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9DB4E-E5CE-1312-0AD9-A5F74438EE00}"/>
              </a:ext>
            </a:extLst>
          </p:cNvPr>
          <p:cNvSpPr txBox="1"/>
          <p:nvPr/>
        </p:nvSpPr>
        <p:spPr>
          <a:xfrm>
            <a:off x="6096000" y="1233577"/>
            <a:ext cx="5278386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endParaRPr lang="en-US" b="1" u="sng" err="1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Spirit condenser temperature-mean spirit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Weak wort output temperature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Wash condenser temperature (Max)-Mean 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Final wash alcohol (ABV)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 </a:t>
            </a:r>
            <a:r>
              <a:rPr lang="en-US" err="1">
                <a:solidFill>
                  <a:srgbClr val="C14B1D"/>
                </a:solidFill>
              </a:rPr>
              <a:t>mean_spirit</a:t>
            </a:r>
            <a:r>
              <a:rPr lang="en-US">
                <a:solidFill>
                  <a:srgbClr val="C14B1D"/>
                </a:solidFill>
              </a:rPr>
              <a:t> A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Final wash alcohol %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Yeast storage temperature, deg C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 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Yeast shelf-life at the time of use (C-70 yeast)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Yeast shelf-life at the time of use (Pinnacle M yeast)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4C609-D142-4F1A-D2BA-69BEAD953CB7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Calibri Light"/>
              </a:rPr>
              <a:t>31-10-2025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0BB5E-0978-B8CD-EEF5-607F7597BFA5}"/>
              </a:ext>
            </a:extLst>
          </p:cNvPr>
          <p:cNvSpPr txBox="1"/>
          <p:nvPr/>
        </p:nvSpPr>
        <p:spPr>
          <a:xfrm>
            <a:off x="5902817" y="6337479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21</a:t>
            </a:r>
            <a:endParaRPr lang="en-US" sz="1800" b="1" i="0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14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A632EC-9FC4-231D-B259-D5E46C64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89B933-E897-0E18-8A4D-D34DEB7083BE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FD7AE9-0262-E4FD-C91C-E0D957DA69D4}"/>
              </a:ext>
            </a:extLst>
          </p:cNvPr>
          <p:cNvSpPr txBox="1"/>
          <p:nvPr/>
        </p:nvSpPr>
        <p:spPr>
          <a:xfrm>
            <a:off x="817614" y="1233577"/>
            <a:ext cx="4761781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r>
              <a:rPr lang="en-US" b="1" u="sng"/>
              <a:t> 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Wort initial pH (700L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Chloride (Max)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Hardness (Max)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turbidity-2 (4 </a:t>
            </a:r>
            <a:r>
              <a:rPr lang="en-US" err="1">
                <a:solidFill>
                  <a:srgbClr val="C14B1D"/>
                </a:solidFill>
              </a:rPr>
              <a:t>hr</a:t>
            </a:r>
            <a:r>
              <a:rPr lang="en-US">
                <a:solidFill>
                  <a:srgbClr val="C14B1D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Wort initial pH (2500L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Wash condenser temperature (Max)-Mean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turbidity-1 (1hr)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turbidity-Mean 1-3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 </a:t>
            </a:r>
            <a:r>
              <a:rPr lang="en-US" err="1">
                <a:solidFill>
                  <a:srgbClr val="C14B1D"/>
                </a:solidFill>
              </a:rPr>
              <a:t>Mean_Spirit_A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endParaRPr lang="en-IN"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6E883-2087-C36A-8CFA-E34DED802186}"/>
              </a:ext>
            </a:extLst>
          </p:cNvPr>
          <p:cNvSpPr txBox="1"/>
          <p:nvPr/>
        </p:nvSpPr>
        <p:spPr>
          <a:xfrm>
            <a:off x="6096000" y="1233577"/>
            <a:ext cx="5278386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endParaRPr lang="en-US" b="1" u="sng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Spirit condenser temperature-mean spirit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Weak wort output temperature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Wash condenser temperature (Max)-Mean 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Final wash alcohol (ABV)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 </a:t>
            </a:r>
            <a:r>
              <a:rPr lang="en-US" err="1">
                <a:solidFill>
                  <a:srgbClr val="C14B1D"/>
                </a:solidFill>
              </a:rPr>
              <a:t>mean_spirit</a:t>
            </a:r>
            <a:r>
              <a:rPr lang="en-US">
                <a:solidFill>
                  <a:srgbClr val="C14B1D"/>
                </a:solidFill>
              </a:rPr>
              <a:t> A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Final wash alcohol %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Yeast storage temperature, deg C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turbidity 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Yeast shelf-life at the time of use (C-70 yeast)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Yeast shelf-life at the time of use (Pinnacle M yeast)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292F4-005C-86C0-CBB8-4041C071D911}"/>
              </a:ext>
            </a:extLst>
          </p:cNvPr>
          <p:cNvSpPr txBox="1"/>
          <p:nvPr/>
        </p:nvSpPr>
        <p:spPr>
          <a:xfrm>
            <a:off x="815662" y="11269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4-11-2025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6A453-B41B-4EB0-4565-32C3AC005ABE}"/>
              </a:ext>
            </a:extLst>
          </p:cNvPr>
          <p:cNvSpPr txBox="1"/>
          <p:nvPr/>
        </p:nvSpPr>
        <p:spPr>
          <a:xfrm>
            <a:off x="5913549" y="6348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22</a:t>
            </a:r>
            <a:endParaRPr lang="en-US" sz="1800" b="1" i="0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7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C4561B-9522-2707-810D-78EEAC8D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8FA9AB-B059-FD1E-97AC-C99D14F644B6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8A824-8842-37CA-9676-C1824B2CC671}"/>
              </a:ext>
            </a:extLst>
          </p:cNvPr>
          <p:cNvSpPr txBox="1"/>
          <p:nvPr/>
        </p:nvSpPr>
        <p:spPr>
          <a:xfrm>
            <a:off x="817613" y="1233577"/>
            <a:ext cx="5186371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Fermented</a:t>
            </a: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Spirit distillation rate-mean spirit B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Recovery of FMS </a:t>
            </a:r>
            <a:r>
              <a:rPr lang="en-US" i="1" err="1">
                <a:solidFill>
                  <a:schemeClr val="accent2">
                    <a:lumMod val="75000"/>
                  </a:schemeClr>
                </a:solidFill>
              </a:rPr>
              <a:t>spirit_B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Malt hot water extract on dry weight basis (min)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Feint alcohol strength obtained-Previous batch spirit A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alcohol strength obtained-Previous batch spirit 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ph_wort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Set-up wort </a:t>
            </a:r>
            <a:r>
              <a:rPr lang="en-US" i="1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Alkalinity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Malt predicted spirit yield (Min)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4F592-289B-C839-22A2-671AADFA9C1F}"/>
              </a:ext>
            </a:extLst>
          </p:cNvPr>
          <p:cNvSpPr txBox="1"/>
          <p:nvPr/>
        </p:nvSpPr>
        <p:spPr>
          <a:xfrm>
            <a:off x="6334664" y="1233577"/>
            <a:ext cx="5278386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Fermented</a:t>
            </a: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Set-up 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Alkalinity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Malt foreign matter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Malt hot water extract on dry weight basis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Recovery of </a:t>
            </a:r>
            <a:r>
              <a:rPr lang="en-US" err="1">
                <a:solidFill>
                  <a:srgbClr val="C14B1D"/>
                </a:solidFill>
              </a:rPr>
              <a:t>FMS_spirit</a:t>
            </a:r>
            <a:r>
              <a:rPr lang="en-US">
                <a:solidFill>
                  <a:srgbClr val="C14B1D"/>
                </a:solidFill>
              </a:rPr>
              <a:t>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Spirit distillation rate-</a:t>
            </a:r>
            <a:r>
              <a:rPr lang="en-US" err="1">
                <a:solidFill>
                  <a:srgbClr val="C14B1D"/>
                </a:solidFill>
              </a:rPr>
              <a:t>mean_spirit</a:t>
            </a:r>
            <a:r>
              <a:rPr lang="en-US">
                <a:solidFill>
                  <a:srgbClr val="C14B1D"/>
                </a:solidFill>
              </a:rPr>
              <a:t>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Malt predicted spirit yield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Feint alcohol strength obtained-Previous batch spirit A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separated spirit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CC51D-BBD0-CCE1-099B-139FDFA1A018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31-10-2025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41053-B147-A717-DE8D-2D24C2D893ED}"/>
              </a:ext>
            </a:extLst>
          </p:cNvPr>
          <p:cNvSpPr txBox="1"/>
          <p:nvPr/>
        </p:nvSpPr>
        <p:spPr>
          <a:xfrm>
            <a:off x="5924282" y="6348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23</a:t>
            </a:r>
            <a:r>
              <a:rPr lang="en-US" sz="1800" b="1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1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896223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04DF35-435F-BA90-49A8-A28BD8D99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742E5D-EE49-4A1A-95E6-D48D725F5867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F2591-4FAE-9327-4B89-48059F6AA4C8}"/>
              </a:ext>
            </a:extLst>
          </p:cNvPr>
          <p:cNvSpPr txBox="1"/>
          <p:nvPr/>
        </p:nvSpPr>
        <p:spPr>
          <a:xfrm>
            <a:off x="817613" y="1233577"/>
            <a:ext cx="5186371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Fermented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Alkalinity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Malt foreign matter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Feint alcohol strength obtained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Recovery of </a:t>
            </a:r>
            <a:r>
              <a:rPr lang="en-US" err="1">
                <a:solidFill>
                  <a:srgbClr val="C14B1D"/>
                </a:solidFill>
              </a:rPr>
              <a:t>FMS_Spirit_B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Spirit distillation rate-</a:t>
            </a:r>
            <a:r>
              <a:rPr lang="en-US" err="1">
                <a:solidFill>
                  <a:srgbClr val="C14B1D"/>
                </a:solidFill>
              </a:rPr>
              <a:t>mean_spirit_B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Malt hot water extract on dry weight basis (min)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Set-up wort pH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alcohol % </a:t>
            </a:r>
            <a:r>
              <a:rPr lang="en-US" err="1">
                <a:solidFill>
                  <a:srgbClr val="C14B1D"/>
                </a:solidFill>
              </a:rPr>
              <a:t>obtained_Spirit_A</a:t>
            </a:r>
            <a:endParaRPr lang="en-US">
              <a:solidFill>
                <a:srgbClr val="C14B1D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alcohol % </a:t>
            </a:r>
            <a:r>
              <a:rPr lang="en-US" err="1">
                <a:solidFill>
                  <a:srgbClr val="C14B1D"/>
                </a:solidFill>
              </a:rPr>
              <a:t>obtained_Low</a:t>
            </a:r>
            <a:r>
              <a:rPr lang="en-US">
                <a:solidFill>
                  <a:srgbClr val="C14B1D"/>
                </a:solidFill>
              </a:rPr>
              <a:t> wine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1E2D6-6777-4835-32C9-B585A1ADB4C7}"/>
              </a:ext>
            </a:extLst>
          </p:cNvPr>
          <p:cNvSpPr txBox="1"/>
          <p:nvPr/>
        </p:nvSpPr>
        <p:spPr>
          <a:xfrm>
            <a:off x="6334664" y="1233577"/>
            <a:ext cx="5600357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Fermented</a:t>
            </a: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Set-up 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Alkalinity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Malt foreign matter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Malt hot water extract on dry weight basis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Recovery of </a:t>
            </a:r>
            <a:r>
              <a:rPr lang="en-US" err="1">
                <a:solidFill>
                  <a:srgbClr val="C14B1D"/>
                </a:solidFill>
              </a:rPr>
              <a:t>FMS_spirit</a:t>
            </a:r>
            <a:r>
              <a:rPr lang="en-US">
                <a:solidFill>
                  <a:srgbClr val="C14B1D"/>
                </a:solidFill>
              </a:rPr>
              <a:t>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Spirit distillation rate-</a:t>
            </a:r>
            <a:r>
              <a:rPr lang="en-US" err="1">
                <a:solidFill>
                  <a:srgbClr val="C14B1D"/>
                </a:solidFill>
              </a:rPr>
              <a:t>mean_spirit</a:t>
            </a:r>
            <a:r>
              <a:rPr lang="en-US">
                <a:solidFill>
                  <a:srgbClr val="C14B1D"/>
                </a:solidFill>
              </a:rPr>
              <a:t>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Malt predicted spirit yield (min)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Feint alcohol strength obtained-Previous batch spirit A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Feint volume separated spirit 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C14B1D"/>
                </a:solidFill>
              </a:rPr>
              <a:t>Low wine 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1486E-C567-8AF1-3939-76777C8CF899}"/>
              </a:ext>
            </a:extLst>
          </p:cNvPr>
          <p:cNvSpPr txBox="1"/>
          <p:nvPr/>
        </p:nvSpPr>
        <p:spPr>
          <a:xfrm>
            <a:off x="815662" y="252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4-11-2025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4D404-EFC2-8E1D-11D1-F1D466033803}"/>
              </a:ext>
            </a:extLst>
          </p:cNvPr>
          <p:cNvSpPr txBox="1"/>
          <p:nvPr/>
        </p:nvSpPr>
        <p:spPr>
          <a:xfrm>
            <a:off x="5838423" y="6348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24</a:t>
            </a:r>
            <a:endParaRPr lang="en-US" sz="1800" b="0" i="0">
              <a:solidFill>
                <a:srgbClr val="000000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5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DC9886-19A3-753E-C587-48D99A95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1C3E44-4442-58DE-140A-59AF3AA74ACD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17977-1FCF-6073-7945-34383D459A3B}"/>
              </a:ext>
            </a:extLst>
          </p:cNvPr>
          <p:cNvSpPr txBox="1"/>
          <p:nvPr/>
        </p:nvSpPr>
        <p:spPr>
          <a:xfrm>
            <a:off x="808987" y="1233577"/>
            <a:ext cx="528701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Husky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separated Spirit B 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Feint volume separated spirit A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obtained-previous batch spirit 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Feint volume obtained-previous batch spirit A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Feint volume charged spirit B 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Low wine alcohol % obtained Low wine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alcohol % obtained Spirit A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Low wine 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2">
                    <a:lumMod val="75000"/>
                  </a:schemeClr>
                </a:solidFill>
              </a:rPr>
              <a:t>Yeast shelf-life at the time of use (Pinnacle M yeast</a:t>
            </a:r>
            <a:r>
              <a:rPr lang="en-IN" i="1"/>
              <a:t>)</a:t>
            </a:r>
            <a:endParaRPr lang="en-IN" i="1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Wash still temperature (Max)-Mean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AD8BA-F21E-C0BB-E6F2-DFB2DE9D5191}"/>
              </a:ext>
            </a:extLst>
          </p:cNvPr>
          <p:cNvSpPr txBox="1"/>
          <p:nvPr/>
        </p:nvSpPr>
        <p:spPr>
          <a:xfrm>
            <a:off x="6334664" y="1233577"/>
            <a:ext cx="5278386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Husky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alcohol % obtained Low wine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separated spirit 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Grist ratio on Miling-1 course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Wash condenser temperature (Max)-Mean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Spirit condenser temperature-mean spirit B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Yeast shelf-life at the time of use (Pinnacle M yeast)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Wash still temperature (Max)-Mean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obtained-previous batch spirit 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Sparging water temperature</a:t>
            </a:r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7DEFD-AC79-4264-12C7-9494E7564E8A}"/>
              </a:ext>
            </a:extLst>
          </p:cNvPr>
          <p:cNvSpPr txBox="1"/>
          <p:nvPr/>
        </p:nvSpPr>
        <p:spPr>
          <a:xfrm>
            <a:off x="804930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31-10-2025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912CE-4B70-A8BA-48F1-502EFB442E79}"/>
              </a:ext>
            </a:extLst>
          </p:cNvPr>
          <p:cNvSpPr txBox="1"/>
          <p:nvPr/>
        </p:nvSpPr>
        <p:spPr>
          <a:xfrm>
            <a:off x="5816958" y="6305282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25</a:t>
            </a:r>
            <a:endParaRPr lang="en-US" sz="1800" b="0" i="0">
              <a:solidFill>
                <a:srgbClr val="000000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9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4119BF-13C6-B20D-5B84-2C9ECE42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013B71-89A0-09EB-9A7C-CFA2A9FDA220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BFD8B-A210-5C31-60CA-67AF4F297D9C}"/>
              </a:ext>
            </a:extLst>
          </p:cNvPr>
          <p:cNvSpPr txBox="1"/>
          <p:nvPr/>
        </p:nvSpPr>
        <p:spPr>
          <a:xfrm>
            <a:off x="808987" y="1233577"/>
            <a:ext cx="528701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Husky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Wash still temperature (Max)-Mean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alcohol %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obtained_Low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wine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alcohol %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obtained_Spirit_A</a:t>
            </a:r>
            <a:endParaRPr lang="en-IN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Sparging water temperature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Feint volume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</a:rPr>
              <a:t>charged_spirit_A</a:t>
            </a: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/B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Feint volume obtained-Previous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</a:rPr>
              <a:t>batch_Spirit_B</a:t>
            </a: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/A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Feint volume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</a:rPr>
              <a:t>charged_Spirit</a:t>
            </a: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 B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Feint volume obtained-Previous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</a:rPr>
              <a:t>batch_Spirit_B</a:t>
            </a: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/A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Spirit condenser temperature-Mean spirit B</a:t>
            </a:r>
          </a:p>
          <a:p>
            <a:pPr marL="342900" indent="-342900">
              <a:buAutoNum type="arabicPeriod"/>
            </a:pPr>
            <a:endParaRPr lang="en-IN"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423DF-FBDE-B1E4-C627-5D84C88C7D56}"/>
              </a:ext>
            </a:extLst>
          </p:cNvPr>
          <p:cNvSpPr txBox="1"/>
          <p:nvPr/>
        </p:nvSpPr>
        <p:spPr>
          <a:xfrm>
            <a:off x="6334664" y="1233577"/>
            <a:ext cx="5278386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Husky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alcohol % obtained Low wine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separated spirit 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Grist ratio on Miling-1 course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Wash condenser temperature (Max)-Mean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Spirit condenser temperature-mean spirit B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Yeast shelf-life at the time of use (Pinnacle M yeast)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Wash still temperature (Max)-Mean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Feint volume obtained-previous batch spirit 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Sparging water temperature</a:t>
            </a:r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BC928-295E-00DB-EBDB-1D701271BE3C}"/>
              </a:ext>
            </a:extLst>
          </p:cNvPr>
          <p:cNvSpPr txBox="1"/>
          <p:nvPr/>
        </p:nvSpPr>
        <p:spPr>
          <a:xfrm>
            <a:off x="815662" y="11269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4-11-2025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73B73-16CB-97EE-6655-473AD1555397}"/>
              </a:ext>
            </a:extLst>
          </p:cNvPr>
          <p:cNvSpPr txBox="1"/>
          <p:nvPr/>
        </p:nvSpPr>
        <p:spPr>
          <a:xfrm>
            <a:off x="5902818" y="6358944"/>
            <a:ext cx="6117464" cy="74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26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48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90634A-F0F7-7868-28CE-F6716105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3EBF47-E0C5-BD42-1617-87576455D9C0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 err="1">
                <a:solidFill>
                  <a:srgbClr val="C14B1D"/>
                </a:solidFill>
                <a:latin typeface="Trebuchet MS"/>
              </a:rPr>
              <a:t>eatures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FD5ACC-00CF-C19D-40DC-3886A8EC29B7}"/>
              </a:ext>
            </a:extLst>
          </p:cNvPr>
          <p:cNvSpPr txBox="1"/>
          <p:nvPr/>
        </p:nvSpPr>
        <p:spPr>
          <a:xfrm>
            <a:off x="808987" y="1233577"/>
            <a:ext cx="5287013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Starchy</a:t>
            </a: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Yeast storage temperature, deg C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alcohol % obtained Spirit A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2">
                    <a:lumMod val="75000"/>
                  </a:schemeClr>
                </a:solidFill>
              </a:rPr>
              <a:t>Malt moisture (Max)</a:t>
            </a:r>
            <a:endParaRPr lang="en-IN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Yeast shelf-life at the time use (C-70 yeast)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Low wine alcohol % obtained low wine 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Wort final gravity (2500L vessel)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Wort </a:t>
            </a:r>
            <a:r>
              <a:rPr lang="en-IN" i="1" err="1">
                <a:solidFill>
                  <a:schemeClr val="accent6">
                    <a:lumMod val="75000"/>
                  </a:schemeClr>
                </a:solidFill>
              </a:rPr>
              <a:t>ph_wort</a:t>
            </a:r>
            <a:endParaRPr lang="en-IN" i="1" err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Malt predicted spirit yield (Min)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IN" baseline="30000">
                <a:solidFill>
                  <a:schemeClr val="accent6">
                    <a:lumMod val="75000"/>
                  </a:schemeClr>
                </a:solidFill>
              </a:rPr>
              <a:t>st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wort gravity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2341F-39BA-7D95-9C4B-7ED204088364}"/>
              </a:ext>
            </a:extLst>
          </p:cNvPr>
          <p:cNvSpPr txBox="1"/>
          <p:nvPr/>
        </p:nvSpPr>
        <p:spPr>
          <a:xfrm>
            <a:off x="6334664" y="1233577"/>
            <a:ext cx="5278386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Starchy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Low wine alcohol % obtained Low wine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Malt moisture (Max)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Ph-process water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Set up wort Ph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Screening above 2.8 mm sieve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Yeast storage temperature, deg C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IN" baseline="30000">
                <a:solidFill>
                  <a:schemeClr val="accent6">
                    <a:lumMod val="75000"/>
                  </a:schemeClr>
                </a:solidFill>
              </a:rPr>
              <a:t>st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wort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gravity_wort</a:t>
            </a:r>
            <a:endParaRPr lang="en-IN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Wort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endParaRPr lang="en-IN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Temperature in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Mashtun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(Proteinase T)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Wort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ph_wort</a:t>
            </a:r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C3D3D-A979-7F12-7B9B-BD80F898C6E9}"/>
              </a:ext>
            </a:extLst>
          </p:cNvPr>
          <p:cNvSpPr txBox="1"/>
          <p:nvPr/>
        </p:nvSpPr>
        <p:spPr>
          <a:xfrm>
            <a:off x="5924282" y="6348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27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1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E7FAF5-622E-EFDE-DFDE-ACFBE7FF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3AEEBA-3F5F-B0DB-4D4C-284C447D7ACA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2940C-BA0B-A564-4CAF-05E951355290}"/>
              </a:ext>
            </a:extLst>
          </p:cNvPr>
          <p:cNvSpPr txBox="1"/>
          <p:nvPr/>
        </p:nvSpPr>
        <p:spPr>
          <a:xfrm>
            <a:off x="808987" y="1233577"/>
            <a:ext cx="5287013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Cooked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Grist ratio on miling-1 Medium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Grist ratio on miling-1 fine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Grist ratio on miling-1 course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Time of addition of Enzyme (Proteinase T)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2">
                    <a:lumMod val="75000"/>
                  </a:schemeClr>
                </a:solidFill>
              </a:rPr>
              <a:t>Yeast shelf-life at the time of use (Pinnacle M yeast)</a:t>
            </a:r>
            <a:endParaRPr lang="en-US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Wash still temperature (Max)-Mean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Spirit condenser temperature-</a:t>
            </a:r>
            <a:r>
              <a:rPr lang="en-US" i="1" err="1">
                <a:solidFill>
                  <a:schemeClr val="accent6">
                    <a:lumMod val="75000"/>
                  </a:schemeClr>
                </a:solidFill>
              </a:rPr>
              <a:t>Mean_spirit_A</a:t>
            </a: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/B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Wort initial </a:t>
            </a:r>
            <a:r>
              <a:rPr lang="en-US" i="1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 (2500L vessel )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Low wine turbidity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 i="1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pH_Process</a:t>
            </a:r>
            <a:r>
              <a:rPr lang="en-US" i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Water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2C3D3-1083-4DF7-8FC3-F7FD71CE4F7F}"/>
              </a:ext>
            </a:extLst>
          </p:cNvPr>
          <p:cNvSpPr txBox="1"/>
          <p:nvPr/>
        </p:nvSpPr>
        <p:spPr>
          <a:xfrm>
            <a:off x="6334664" y="1233577"/>
            <a:ext cx="5278386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Cooked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Spirit condenser temperature-mean spirit A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Wort receiver temperature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Ph process water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Low wine turbidity</a:t>
            </a:r>
            <a:endParaRPr lang="en-IN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Grist ratio on miling-1 fine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Spirit condenser temperature-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Mean_spirit_B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Wash still temperature (Max)-Mean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Yeast shelf-life at the time of use (Pinnacle M yeast)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Grist ratio on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miling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- 1 Course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Wort initial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(2500L vessel )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20F8A-A3C0-5853-FCC0-BBC9C03D59F8}"/>
              </a:ext>
            </a:extLst>
          </p:cNvPr>
          <p:cNvSpPr txBox="1"/>
          <p:nvPr/>
        </p:nvSpPr>
        <p:spPr>
          <a:xfrm>
            <a:off x="5924282" y="6348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28</a:t>
            </a:r>
            <a:r>
              <a:rPr lang="en-US" sz="1800" b="1" i="0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1" i="0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68142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19400C-8EA7-C681-7880-C6EE3F36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421FC3-F4D1-C597-4470-46E24C83CC49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D4458F-F2D9-EE5A-5402-A030291CB8DA}"/>
              </a:ext>
            </a:extLst>
          </p:cNvPr>
          <p:cNvSpPr txBox="1"/>
          <p:nvPr/>
        </p:nvSpPr>
        <p:spPr>
          <a:xfrm>
            <a:off x="808987" y="1233577"/>
            <a:ext cx="5287013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Acidic/Solvent</a:t>
            </a:r>
          </a:p>
          <a:p>
            <a:pPr marL="342900" indent="-342900">
              <a:buAutoNum type="arabicPeriod"/>
            </a:pPr>
            <a:r>
              <a:rPr lang="en-US" i="1">
                <a:solidFill>
                  <a:schemeClr val="accent6">
                    <a:lumMod val="75000"/>
                  </a:schemeClr>
                </a:solidFill>
              </a:rPr>
              <a:t>Hardness (max)</a:t>
            </a:r>
            <a:endParaRPr lang="en-US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Mashing temperature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Draff loss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2">
                    <a:lumMod val="75000"/>
                  </a:schemeClr>
                </a:solidFill>
              </a:rPr>
              <a:t>Low wine turbidity </a:t>
            </a:r>
            <a:r>
              <a:rPr lang="en-IN" i="1" err="1">
                <a:solidFill>
                  <a:schemeClr val="accent2">
                    <a:lumMod val="75000"/>
                  </a:schemeClr>
                </a:solidFill>
              </a:rPr>
              <a:t>mean_Spirit_B</a:t>
            </a:r>
            <a:endParaRPr lang="en-IN" i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% shelf life available </a:t>
            </a:r>
            <a:r>
              <a:rPr lang="en-IN" i="1" err="1">
                <a:solidFill>
                  <a:schemeClr val="accent6">
                    <a:lumMod val="75000"/>
                  </a:schemeClr>
                </a:solidFill>
              </a:rPr>
              <a:t>Diazyme</a:t>
            </a: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 TGA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Wort final gravity (2500 L vessel)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Average ABV in </a:t>
            </a:r>
            <a:r>
              <a:rPr lang="en-IN" i="1" err="1">
                <a:solidFill>
                  <a:schemeClr val="accent6">
                    <a:lumMod val="75000"/>
                  </a:schemeClr>
                </a:solidFill>
              </a:rPr>
              <a:t>FMS_Spirit_A</a:t>
            </a:r>
            <a:r>
              <a:rPr lang="en-IN" i="1">
                <a:solidFill>
                  <a:schemeClr val="accent6">
                    <a:lumMod val="75000"/>
                  </a:schemeClr>
                </a:solidFill>
              </a:rPr>
              <a:t>/B</a:t>
            </a:r>
            <a:endParaRPr lang="en-IN" i="1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Fermentable sugar (optional )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Temperature in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Mashtun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Optimash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TBG)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% shelf life available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Optimash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TBG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403DA-5D15-CCD4-56EF-B91BCC3B17E1}"/>
              </a:ext>
            </a:extLst>
          </p:cNvPr>
          <p:cNvSpPr txBox="1"/>
          <p:nvPr/>
        </p:nvSpPr>
        <p:spPr>
          <a:xfrm>
            <a:off x="6334664" y="1233577"/>
            <a:ext cx="5278386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Acidic/Solvent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% shelf life available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Diazyme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TGA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final gravity (2500 L vessel)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Yeast shelf-life at the time of use (Pinnacle M yeast)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Draff loss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Hardness (max)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final gravity (700 L vessel)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Average ABV in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FMS_spirit_A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Strength in PL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6000"/>
                  </a:schemeClr>
                </a:solidFill>
                <a:ea typeface="Calibri Light"/>
                <a:cs typeface="Calibri Light"/>
              </a:rPr>
              <a:t>Low wine turbidity </a:t>
            </a:r>
            <a:r>
              <a:rPr lang="en-IN" err="1">
                <a:solidFill>
                  <a:schemeClr val="accent2">
                    <a:lumMod val="76000"/>
                  </a:schemeClr>
                </a:solidFill>
                <a:ea typeface="Calibri Light"/>
                <a:cs typeface="Calibri Light"/>
              </a:rPr>
              <a:t>Mean_spirit_B</a:t>
            </a:r>
            <a:endParaRPr lang="en-IN">
              <a:solidFill>
                <a:schemeClr val="accent2">
                  <a:lumMod val="76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Recovery BL/Ton of malt</a:t>
            </a:r>
          </a:p>
          <a:p>
            <a:endParaRPr lang="en-IN">
              <a:solidFill>
                <a:srgbClr val="000000"/>
              </a:solidFill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B8636-57E3-8340-EC8D-AB25F808E291}"/>
              </a:ext>
            </a:extLst>
          </p:cNvPr>
          <p:cNvSpPr txBox="1"/>
          <p:nvPr/>
        </p:nvSpPr>
        <p:spPr>
          <a:xfrm>
            <a:off x="5924282" y="6348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29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75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6DD1-FF2A-6D58-BE49-FA9697A7A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C9DC7A-7B3E-C6BF-1E34-49010C85760C}"/>
              </a:ext>
            </a:extLst>
          </p:cNvPr>
          <p:cNvSpPr/>
          <p:nvPr/>
        </p:nvSpPr>
        <p:spPr>
          <a:xfrm>
            <a:off x="817614" y="601156"/>
            <a:ext cx="412003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(Mashing)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25E589-9886-D95E-D4D7-7A6A2C77A8B3}"/>
              </a:ext>
            </a:extLst>
          </p:cNvPr>
          <p:cNvSpPr txBox="1"/>
          <p:nvPr/>
        </p:nvSpPr>
        <p:spPr>
          <a:xfrm>
            <a:off x="817614" y="2306817"/>
            <a:ext cx="47617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r>
              <a:rPr lang="en-US" b="1" u="sng"/>
              <a:t> 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Mashing </a:t>
            </a:r>
            <a:r>
              <a:rPr lang="en-US" err="1">
                <a:ea typeface="Calibri Light"/>
                <a:cs typeface="Calibri Light"/>
              </a:rPr>
              <a:t>temp_Parameter</a:t>
            </a:r>
            <a:r>
              <a:rPr lang="en-US">
                <a:ea typeface="Calibri Light"/>
                <a:cs typeface="Calibri Light"/>
              </a:rPr>
              <a:t> 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EA618-2668-BD34-FB41-BAEBB9A7BEE2}"/>
              </a:ext>
            </a:extLst>
          </p:cNvPr>
          <p:cNvSpPr txBox="1"/>
          <p:nvPr/>
        </p:nvSpPr>
        <p:spPr>
          <a:xfrm>
            <a:off x="816288" y="1072591"/>
            <a:ext cx="4890053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  </a:t>
            </a:r>
          </a:p>
          <a:p>
            <a:pPr marL="342900" indent="-342900">
              <a:buAutoNum type="arabicPeriod"/>
            </a:pPr>
            <a:r>
              <a:rPr lang="en-US" sz="1400">
                <a:ea typeface="Calibri Light"/>
                <a:cs typeface="Calibri Light"/>
              </a:rPr>
              <a:t>Wort receiver </a:t>
            </a:r>
            <a:r>
              <a:rPr lang="en-US" sz="1400" err="1">
                <a:ea typeface="Calibri Light"/>
                <a:cs typeface="Calibri Light"/>
              </a:rPr>
              <a:t>temp_avg</a:t>
            </a:r>
          </a:p>
          <a:p>
            <a:pPr marL="342900" indent="-342900">
              <a:buAutoNum type="arabicPeriod"/>
            </a:pPr>
            <a:r>
              <a:rPr lang="en-US" sz="1400" err="1">
                <a:ea typeface="Calibri Light"/>
                <a:cs typeface="Calibri Light"/>
              </a:rPr>
              <a:t>Sparging_mashing</a:t>
            </a:r>
            <a:r>
              <a:rPr lang="en-US" sz="1400">
                <a:ea typeface="Calibri Light"/>
                <a:cs typeface="Calibri Light"/>
              </a:rPr>
              <a:t> water flow</a:t>
            </a:r>
          </a:p>
          <a:p>
            <a:pPr marL="342900" indent="-342900">
              <a:buAutoNum type="arabicPeriod"/>
            </a:pPr>
            <a:r>
              <a:rPr lang="en-US" sz="1400">
                <a:ea typeface="Calibri Light"/>
                <a:cs typeface="Calibri Light"/>
              </a:rPr>
              <a:t>Sparging mashing water totalize</a:t>
            </a:r>
          </a:p>
          <a:p>
            <a:pPr marL="342900" indent="-342900">
              <a:buAutoNum type="arabicPeriod"/>
            </a:pPr>
            <a:endParaRPr lang="en-US" sz="1400">
              <a:ea typeface="Calibri Light"/>
              <a:cs typeface="Calibri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6CE1A-A4A7-AE11-3C53-CFD49E84A64E}"/>
              </a:ext>
            </a:extLst>
          </p:cNvPr>
          <p:cNvSpPr txBox="1"/>
          <p:nvPr/>
        </p:nvSpPr>
        <p:spPr>
          <a:xfrm>
            <a:off x="817614" y="3306002"/>
            <a:ext cx="6094674" cy="11387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Fermented </a:t>
            </a:r>
          </a:p>
          <a:p>
            <a:r>
              <a:rPr lang="en-US" sz="1400">
                <a:ea typeface="Calibri Light"/>
                <a:cs typeface="Calibri Light"/>
              </a:rPr>
              <a:t>No feature detected that is important from mashing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ADBFB1-87F3-C613-689F-20DDD4D7C07A}"/>
              </a:ext>
            </a:extLst>
          </p:cNvPr>
          <p:cNvSpPr txBox="1"/>
          <p:nvPr/>
        </p:nvSpPr>
        <p:spPr>
          <a:xfrm>
            <a:off x="816288" y="4186058"/>
            <a:ext cx="6094674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Husky 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Sparging _mashing water flow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Wort receiver temp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87706-A190-AECA-8100-FAEDF64EAAAF}"/>
              </a:ext>
            </a:extLst>
          </p:cNvPr>
          <p:cNvSpPr txBox="1"/>
          <p:nvPr/>
        </p:nvSpPr>
        <p:spPr>
          <a:xfrm>
            <a:off x="6128197" y="3879761"/>
            <a:ext cx="6096000" cy="13029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 u="sng">
                <a:ea typeface="Calibri Light"/>
                <a:cs typeface="Calibri Light"/>
              </a:rPr>
              <a:t>Acidic/solvent</a:t>
            </a:r>
          </a:p>
          <a:p>
            <a:pPr algn="l" rtl="0">
              <a:lnSpc>
                <a:spcPts val="1350"/>
              </a:lnSpc>
            </a:pPr>
            <a:endParaRPr lang="en-US">
              <a:ea typeface="Calibri Light"/>
              <a:cs typeface="Calibri Light"/>
            </a:endParaRPr>
          </a:p>
          <a:p>
            <a:r>
              <a:rPr lang="en-US" sz="1400">
                <a:ea typeface="Calibri Light"/>
                <a:cs typeface="Calibri Light"/>
              </a:rPr>
              <a:t>No feature detected that is important from mashing</a:t>
            </a:r>
          </a:p>
          <a:p>
            <a:pPr>
              <a:lnSpc>
                <a:spcPts val="1350"/>
              </a:lnSpc>
            </a:pPr>
            <a:endParaRPr lang="en-US">
              <a:ea typeface="Calibri Light"/>
              <a:cs typeface="Calibri Light"/>
            </a:endParaRPr>
          </a:p>
          <a:p>
            <a:pPr rtl="0">
              <a:lnSpc>
                <a:spcPts val="1350"/>
              </a:lnSpc>
            </a:pPr>
            <a:endParaRPr lang="en-US">
              <a:ea typeface="Calibri Light"/>
              <a:cs typeface="Calibri Light"/>
            </a:endParaRPr>
          </a:p>
          <a:p>
            <a:pPr algn="ctr"/>
            <a:endParaRPr lang="en-US"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03CCA-7257-4E61-D5C1-0A473F06D2EE}"/>
              </a:ext>
            </a:extLst>
          </p:cNvPr>
          <p:cNvSpPr txBox="1"/>
          <p:nvPr/>
        </p:nvSpPr>
        <p:spPr>
          <a:xfrm>
            <a:off x="6029187" y="1211343"/>
            <a:ext cx="56850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u="sng">
                <a:ea typeface="Calibri Light"/>
                <a:cs typeface="Calibri Light"/>
              </a:rPr>
              <a:t>Starchy</a:t>
            </a:r>
          </a:p>
          <a:p>
            <a:pPr marL="342900" indent="-342900">
              <a:buAutoNum type="arabicPeriod"/>
            </a:pPr>
            <a:r>
              <a:rPr lang="en-US" err="1">
                <a:ea typeface="Calibri Light"/>
                <a:cs typeface="Calibri Light"/>
              </a:rPr>
              <a:t>Sparging_mashing</a:t>
            </a:r>
            <a:r>
              <a:rPr lang="en-US">
                <a:ea typeface="Calibri Light"/>
                <a:cs typeface="Calibri Light"/>
              </a:rPr>
              <a:t> water </a:t>
            </a:r>
            <a:r>
              <a:rPr lang="en-US" err="1">
                <a:ea typeface="Calibri Light"/>
                <a:cs typeface="Calibri Light"/>
              </a:rPr>
              <a:t>totalize_avg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Mashing </a:t>
            </a:r>
            <a:r>
              <a:rPr lang="en-US" err="1">
                <a:ea typeface="Calibri Light"/>
                <a:cs typeface="Calibri Light"/>
              </a:rPr>
              <a:t>temp_avg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93637-EFDC-D1AB-E9EF-61BB332B7FD9}"/>
              </a:ext>
            </a:extLst>
          </p:cNvPr>
          <p:cNvSpPr txBox="1"/>
          <p:nvPr/>
        </p:nvSpPr>
        <p:spPr>
          <a:xfrm>
            <a:off x="6125544" y="2629166"/>
            <a:ext cx="505185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u="sng">
                <a:ea typeface="Calibri Light"/>
                <a:cs typeface="Calibri Light"/>
              </a:rPr>
              <a:t>Cooked</a:t>
            </a:r>
          </a:p>
          <a:p>
            <a:r>
              <a:rPr lang="en-US" sz="1400">
                <a:ea typeface="Calibri Light"/>
                <a:cs typeface="Calibri Light"/>
              </a:rPr>
              <a:t>No feature detected that is important from mashing</a:t>
            </a: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6350A-0D54-5750-1752-174D725317CA}"/>
              </a:ext>
            </a:extLst>
          </p:cNvPr>
          <p:cNvSpPr txBox="1"/>
          <p:nvPr/>
        </p:nvSpPr>
        <p:spPr>
          <a:xfrm>
            <a:off x="815662" y="11269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4-11-2025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EB92E-0D0D-70E6-4484-517DA8D9426C}"/>
              </a:ext>
            </a:extLst>
          </p:cNvPr>
          <p:cNvSpPr txBox="1"/>
          <p:nvPr/>
        </p:nvSpPr>
        <p:spPr>
          <a:xfrm>
            <a:off x="5816958" y="6337479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30</a:t>
            </a:r>
            <a:endParaRPr lang="en-US" sz="1800" b="1" i="0">
              <a:solidFill>
                <a:schemeClr val="bg1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1" i="0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56522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5C19-F024-6808-5B51-492282BD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ACADF5-B119-B03D-AD48-3EEFC7BC446C}"/>
              </a:ext>
            </a:extLst>
          </p:cNvPr>
          <p:cNvSpPr/>
          <p:nvPr/>
        </p:nvSpPr>
        <p:spPr>
          <a:xfrm>
            <a:off x="817614" y="601156"/>
            <a:ext cx="490551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(Fermentation)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D720D-6BB4-4C42-2324-2042487BA827}"/>
              </a:ext>
            </a:extLst>
          </p:cNvPr>
          <p:cNvSpPr txBox="1"/>
          <p:nvPr/>
        </p:nvSpPr>
        <p:spPr>
          <a:xfrm>
            <a:off x="817614" y="1716535"/>
            <a:ext cx="4761781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r>
              <a:rPr lang="en-US" b="1" u="sng"/>
              <a:t> 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Fermenter temp 10_parameter value max/avg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Fermenter 10 </a:t>
            </a:r>
            <a:r>
              <a:rPr lang="en-US" err="1">
                <a:ea typeface="Calibri Light"/>
                <a:cs typeface="Calibri Light"/>
              </a:rPr>
              <a:t>ph</a:t>
            </a:r>
            <a:r>
              <a:rPr lang="en-US">
                <a:ea typeface="Calibri Light"/>
                <a:cs typeface="Calibri Light"/>
              </a:rPr>
              <a:t> probe </a:t>
            </a:r>
            <a:r>
              <a:rPr lang="en-US" err="1">
                <a:ea typeface="Calibri Light"/>
                <a:cs typeface="Calibri Light"/>
              </a:rPr>
              <a:t>temp_Parameter</a:t>
            </a:r>
            <a:r>
              <a:rPr lang="en-US">
                <a:ea typeface="Calibri Light"/>
                <a:cs typeface="Calibri Light"/>
              </a:rPr>
              <a:t> avg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Turbidity FTU </a:t>
            </a:r>
            <a:r>
              <a:rPr lang="en-US" err="1">
                <a:ea typeface="Calibri Light"/>
                <a:cs typeface="Calibri Light"/>
              </a:rPr>
              <a:t>unit_parameter</a:t>
            </a:r>
            <a:r>
              <a:rPr lang="en-US">
                <a:ea typeface="Calibri Light"/>
                <a:cs typeface="Calibri Light"/>
              </a:rPr>
              <a:t> value avg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Alcohol strength value parameter </a:t>
            </a:r>
            <a:r>
              <a:rPr lang="en-US" err="1">
                <a:ea typeface="Calibri Light"/>
                <a:cs typeface="Calibri Light"/>
              </a:rPr>
              <a:t>value_max</a:t>
            </a:r>
            <a:r>
              <a:rPr lang="en-US">
                <a:ea typeface="Calibri Light"/>
                <a:cs typeface="Calibri Light"/>
              </a:rPr>
              <a:t>/std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DO </a:t>
            </a:r>
            <a:r>
              <a:rPr lang="en-US" err="1">
                <a:ea typeface="Calibri Light"/>
                <a:cs typeface="Calibri Light"/>
              </a:rPr>
              <a:t>value_Parameter</a:t>
            </a:r>
            <a:r>
              <a:rPr lang="en-US">
                <a:ea typeface="Calibri Light"/>
                <a:cs typeface="Calibri Light"/>
              </a:rPr>
              <a:t> </a:t>
            </a:r>
            <a:r>
              <a:rPr lang="en-US" err="1">
                <a:ea typeface="Calibri Light"/>
                <a:cs typeface="Calibri Light"/>
              </a:rPr>
              <a:t>value_avg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D5548-1988-5750-ACBD-59AB16562C2C}"/>
              </a:ext>
            </a:extLst>
          </p:cNvPr>
          <p:cNvSpPr txBox="1"/>
          <p:nvPr/>
        </p:nvSpPr>
        <p:spPr>
          <a:xfrm>
            <a:off x="816288" y="1072591"/>
            <a:ext cx="489005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  </a:t>
            </a:r>
          </a:p>
          <a:p>
            <a:r>
              <a:rPr lang="en-US" sz="1400">
                <a:ea typeface="Calibri Light"/>
                <a:cs typeface="Calibri Light"/>
              </a:rPr>
              <a:t>No feature was imp from fermentation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B37D4-BE5F-EC3D-1CD8-44A3797266BE}"/>
              </a:ext>
            </a:extLst>
          </p:cNvPr>
          <p:cNvSpPr txBox="1"/>
          <p:nvPr/>
        </p:nvSpPr>
        <p:spPr>
          <a:xfrm>
            <a:off x="817614" y="3992875"/>
            <a:ext cx="609467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Fermented </a:t>
            </a:r>
          </a:p>
          <a:p>
            <a:pPr marL="342900" indent="-342900">
              <a:buAutoNum type="arabicPeriod"/>
            </a:pPr>
            <a:r>
              <a:rPr lang="en-US" err="1">
                <a:ea typeface="Calibri Light"/>
                <a:cs typeface="Calibri Light"/>
              </a:rPr>
              <a:t>Fermentor</a:t>
            </a:r>
            <a:r>
              <a:rPr lang="en-US">
                <a:ea typeface="Calibri Light"/>
                <a:cs typeface="Calibri Light"/>
              </a:rPr>
              <a:t> temp_10 parameter value avg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6416C-E4B4-92FF-F68F-3F7A5A9A8EBA}"/>
              </a:ext>
            </a:extLst>
          </p:cNvPr>
          <p:cNvSpPr txBox="1"/>
          <p:nvPr/>
        </p:nvSpPr>
        <p:spPr>
          <a:xfrm>
            <a:off x="816288" y="4872931"/>
            <a:ext cx="609467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Husky </a:t>
            </a:r>
          </a:p>
          <a:p>
            <a:pPr marL="342900" indent="-342900">
              <a:buAutoNum type="arabicPeriod"/>
            </a:pPr>
            <a:r>
              <a:rPr lang="en-US" err="1">
                <a:ea typeface="Calibri Light"/>
                <a:cs typeface="Calibri Light"/>
              </a:rPr>
              <a:t>Fermentor</a:t>
            </a:r>
            <a:r>
              <a:rPr lang="en-US">
                <a:ea typeface="Calibri Light"/>
                <a:cs typeface="Calibri Light"/>
              </a:rPr>
              <a:t> temp_10 parameter </a:t>
            </a:r>
            <a:r>
              <a:rPr lang="en-US" err="1">
                <a:ea typeface="Calibri Light"/>
                <a:cs typeface="Calibri Light"/>
              </a:rPr>
              <a:t>value_avg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6CBA6-5A23-49CE-EE5C-B45C0CA6CD00}"/>
              </a:ext>
            </a:extLst>
          </p:cNvPr>
          <p:cNvSpPr txBox="1"/>
          <p:nvPr/>
        </p:nvSpPr>
        <p:spPr>
          <a:xfrm>
            <a:off x="6128197" y="3879761"/>
            <a:ext cx="6096000" cy="12670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 u="sng">
                <a:ea typeface="Calibri Light"/>
                <a:cs typeface="Calibri Light"/>
              </a:rPr>
              <a:t>Acidic/solvent</a:t>
            </a:r>
          </a:p>
          <a:p>
            <a:pPr algn="l" rtl="0">
              <a:lnSpc>
                <a:spcPts val="1350"/>
              </a:lnSpc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lnSpc>
                <a:spcPts val="1350"/>
              </a:lnSpc>
              <a:buAutoNum type="arabicPeriod"/>
            </a:pPr>
            <a:r>
              <a:rPr lang="en-US" sz="1400">
                <a:ea typeface="Calibri Light"/>
                <a:cs typeface="Calibri Light"/>
              </a:rPr>
              <a:t>T</a:t>
            </a:r>
            <a:r>
              <a:rPr lang="en-US">
                <a:ea typeface="Calibri Light"/>
                <a:cs typeface="Calibri Light"/>
              </a:rPr>
              <a:t>urbidity FTU </a:t>
            </a:r>
            <a:r>
              <a:rPr lang="en-US" err="1">
                <a:ea typeface="Calibri Light"/>
                <a:cs typeface="Calibri Light"/>
              </a:rPr>
              <a:t>unit_parameter</a:t>
            </a:r>
            <a:r>
              <a:rPr lang="en-US">
                <a:ea typeface="Calibri Light"/>
                <a:cs typeface="Calibri Light"/>
              </a:rPr>
              <a:t> </a:t>
            </a:r>
            <a:r>
              <a:rPr lang="en-US" err="1">
                <a:ea typeface="Calibri Light"/>
                <a:cs typeface="Calibri Light"/>
              </a:rPr>
              <a:t>value_max</a:t>
            </a:r>
            <a:endParaRPr lang="en-US">
              <a:ea typeface="Calibri Light"/>
              <a:cs typeface="Calibri Light"/>
            </a:endParaRPr>
          </a:p>
          <a:p>
            <a:pPr marL="342900" indent="-342900">
              <a:lnSpc>
                <a:spcPts val="1350"/>
              </a:lnSpc>
              <a:buAutoNum type="arabicPeriod"/>
            </a:pPr>
            <a:r>
              <a:rPr lang="en-US">
                <a:ea typeface="Calibri Light"/>
                <a:cs typeface="Calibri Light"/>
              </a:rPr>
              <a:t>Real </a:t>
            </a:r>
            <a:r>
              <a:rPr lang="en-US" err="1">
                <a:ea typeface="Calibri Light"/>
                <a:cs typeface="Calibri Light"/>
              </a:rPr>
              <a:t>extract_parameter</a:t>
            </a:r>
            <a:r>
              <a:rPr lang="en-US">
                <a:ea typeface="Calibri Light"/>
                <a:cs typeface="Calibri Light"/>
              </a:rPr>
              <a:t> value std</a:t>
            </a:r>
          </a:p>
          <a:p>
            <a:pPr rtl="0">
              <a:lnSpc>
                <a:spcPts val="1350"/>
              </a:lnSpc>
            </a:pPr>
            <a:endParaRPr lang="en-US">
              <a:ea typeface="Calibri Light"/>
              <a:cs typeface="Calibri Light"/>
            </a:endParaRPr>
          </a:p>
          <a:p>
            <a:pPr algn="ctr"/>
            <a:endParaRPr lang="en-US"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EEDC7-879D-4A33-13C6-09FF89D0C8FF}"/>
              </a:ext>
            </a:extLst>
          </p:cNvPr>
          <p:cNvSpPr txBox="1"/>
          <p:nvPr/>
        </p:nvSpPr>
        <p:spPr>
          <a:xfrm>
            <a:off x="6029187" y="1211343"/>
            <a:ext cx="568505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u="sng">
                <a:ea typeface="Calibri Light"/>
                <a:cs typeface="Calibri Light"/>
              </a:rPr>
              <a:t>Starchy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Fermenter 10 </a:t>
            </a:r>
            <a:r>
              <a:rPr lang="en-US" err="1">
                <a:ea typeface="Calibri Light"/>
                <a:cs typeface="Calibri Light"/>
              </a:rPr>
              <a:t>ph</a:t>
            </a:r>
            <a:r>
              <a:rPr lang="en-US">
                <a:ea typeface="Calibri Light"/>
                <a:cs typeface="Calibri Light"/>
              </a:rPr>
              <a:t> probe </a:t>
            </a:r>
            <a:r>
              <a:rPr lang="en-US" err="1">
                <a:ea typeface="Calibri Light"/>
                <a:cs typeface="Calibri Light"/>
              </a:rPr>
              <a:t>temp_parameter</a:t>
            </a:r>
            <a:r>
              <a:rPr lang="en-US">
                <a:ea typeface="Calibri Light"/>
                <a:cs typeface="Calibri Light"/>
              </a:rPr>
              <a:t> value avg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Turbidity FTU </a:t>
            </a:r>
            <a:r>
              <a:rPr lang="en-US" err="1">
                <a:ea typeface="Calibri Light"/>
                <a:cs typeface="Calibri Light"/>
              </a:rPr>
              <a:t>unit_Parameter</a:t>
            </a:r>
            <a:r>
              <a:rPr lang="en-US">
                <a:ea typeface="Calibri Light"/>
                <a:cs typeface="Calibri Light"/>
              </a:rPr>
              <a:t> value min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Alcohol strength </a:t>
            </a:r>
            <a:r>
              <a:rPr lang="en-US" err="1">
                <a:ea typeface="Calibri Light"/>
                <a:cs typeface="Calibri Light"/>
              </a:rPr>
              <a:t>value_parameter</a:t>
            </a:r>
            <a:r>
              <a:rPr lang="en-US">
                <a:ea typeface="Calibri Light"/>
                <a:cs typeface="Calibri Light"/>
              </a:rPr>
              <a:t> value avg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5FD20-79CC-6D38-9AAF-730B0A95734F}"/>
              </a:ext>
            </a:extLst>
          </p:cNvPr>
          <p:cNvSpPr txBox="1"/>
          <p:nvPr/>
        </p:nvSpPr>
        <p:spPr>
          <a:xfrm>
            <a:off x="6125544" y="2629166"/>
            <a:ext cx="50518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u="sng">
                <a:ea typeface="Calibri Light"/>
                <a:cs typeface="Calibri Light"/>
              </a:rPr>
              <a:t>Cooked</a:t>
            </a:r>
          </a:p>
          <a:p>
            <a:pPr marL="342900" indent="-342900">
              <a:buAutoNum type="arabicPeriod"/>
            </a:pPr>
            <a:r>
              <a:rPr lang="en-US" err="1">
                <a:ea typeface="Calibri Light"/>
                <a:cs typeface="Calibri Light"/>
              </a:rPr>
              <a:t>Fermentor</a:t>
            </a:r>
            <a:r>
              <a:rPr lang="en-US">
                <a:ea typeface="Calibri Light"/>
                <a:cs typeface="Calibri Light"/>
              </a:rPr>
              <a:t> temp10 parameter value avg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Do </a:t>
            </a:r>
            <a:r>
              <a:rPr lang="en-US" err="1">
                <a:ea typeface="Calibri Light"/>
                <a:cs typeface="Calibri Light"/>
              </a:rPr>
              <a:t>value_Parameter</a:t>
            </a:r>
            <a:r>
              <a:rPr lang="en-US">
                <a:ea typeface="Calibri Light"/>
                <a:cs typeface="Calibri Light"/>
              </a:rPr>
              <a:t> value avg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3C23B-457F-6E42-FE5C-E5B6F548AC97}"/>
              </a:ext>
            </a:extLst>
          </p:cNvPr>
          <p:cNvSpPr txBox="1"/>
          <p:nvPr/>
        </p:nvSpPr>
        <p:spPr>
          <a:xfrm>
            <a:off x="815662" y="252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4-11-2025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A0F69-27FA-05AF-26C0-790AC405D6E0}"/>
              </a:ext>
            </a:extLst>
          </p:cNvPr>
          <p:cNvSpPr txBox="1"/>
          <p:nvPr/>
        </p:nvSpPr>
        <p:spPr>
          <a:xfrm>
            <a:off x="5816958" y="6316014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31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36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3FDCC1-90F3-436E-B2BF-3E2A17F70424}"/>
              </a:ext>
            </a:extLst>
          </p:cNvPr>
          <p:cNvSpPr/>
          <p:nvPr/>
        </p:nvSpPr>
        <p:spPr>
          <a:xfrm>
            <a:off x="817614" y="601156"/>
            <a:ext cx="25539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Model validation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D6896-56F2-44C5-A539-635ED9BC98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805"/>
          <a:stretch/>
        </p:blipFill>
        <p:spPr>
          <a:xfrm>
            <a:off x="817614" y="1345663"/>
            <a:ext cx="438211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0FAF88-3B31-4B55-B030-66F30997F734}"/>
              </a:ext>
            </a:extLst>
          </p:cNvPr>
          <p:cNvSpPr txBox="1"/>
          <p:nvPr/>
        </p:nvSpPr>
        <p:spPr>
          <a:xfrm>
            <a:off x="635815" y="4594850"/>
            <a:ext cx="10579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accuracy and F-1 score by logistic regression and Random forest can be compared and model with higher values can be selected with respect to the flavors.  </a:t>
            </a:r>
          </a:p>
          <a:p>
            <a:endParaRPr lang="en-US"/>
          </a:p>
          <a:p>
            <a:r>
              <a:rPr lang="en-US"/>
              <a:t>Once the model is approved, we can go for the front hand model  development. 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1F6E0-D0DF-48E1-AE76-F48B68686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62822"/>
            <a:ext cx="4439270" cy="34521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F2EC6C-AABB-426D-8B64-C507E4D54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4" y="2828834"/>
            <a:ext cx="3791479" cy="14831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B862F0-D183-7DCB-7FA4-48CAFBB89C30}"/>
              </a:ext>
            </a:extLst>
          </p:cNvPr>
          <p:cNvSpPr txBox="1"/>
          <p:nvPr/>
        </p:nvSpPr>
        <p:spPr>
          <a:xfrm>
            <a:off x="5930747" y="6320928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32</a:t>
            </a:r>
            <a:endParaRPr lang="en-US" sz="1800" b="0" i="0">
              <a:solidFill>
                <a:srgbClr val="000000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31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BE22-274F-2330-4977-DFDB76EB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643EF7-1506-B5CF-F2E0-9A36AA7FDB20}"/>
              </a:ext>
            </a:extLst>
          </p:cNvPr>
          <p:cNvSpPr/>
          <p:nvPr/>
        </p:nvSpPr>
        <p:spPr>
          <a:xfrm>
            <a:off x="817614" y="601156"/>
            <a:ext cx="5469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Model validation output of all flavours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BB60C5-02C9-9874-42C3-497B40ABA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186093"/>
              </p:ext>
            </p:extLst>
          </p:nvPr>
        </p:nvGraphicFramePr>
        <p:xfrm>
          <a:off x="1819564" y="1393921"/>
          <a:ext cx="81279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999">
                  <a:extLst>
                    <a:ext uri="{9D8B030D-6E8A-4147-A177-3AD203B41FA5}">
                      <a16:colId xmlns:a16="http://schemas.microsoft.com/office/drawing/2014/main" val="2403830073"/>
                    </a:ext>
                  </a:extLst>
                </a:gridCol>
                <a:gridCol w="2031999">
                  <a:extLst>
                    <a:ext uri="{9D8B030D-6E8A-4147-A177-3AD203B41FA5}">
                      <a16:colId xmlns:a16="http://schemas.microsoft.com/office/drawing/2014/main" val="1173345963"/>
                    </a:ext>
                  </a:extLst>
                </a:gridCol>
                <a:gridCol w="2031999">
                  <a:extLst>
                    <a:ext uri="{9D8B030D-6E8A-4147-A177-3AD203B41FA5}">
                      <a16:colId xmlns:a16="http://schemas.microsoft.com/office/drawing/2014/main" val="3816096793"/>
                    </a:ext>
                  </a:extLst>
                </a:gridCol>
                <a:gridCol w="2031999">
                  <a:extLst>
                    <a:ext uri="{9D8B030D-6E8A-4147-A177-3AD203B41FA5}">
                      <a16:colId xmlns:a16="http://schemas.microsoft.com/office/drawing/2014/main" val="3507023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Flavour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12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Cereal/Grainy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0.6/0.7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389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err="1"/>
                        <a:t>Fruity_&amp;_Floral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638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Fermented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0.5/0.6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7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Husky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280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Starchy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311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Cooked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43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Acidic/Solvent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3381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20836B-31AC-F56B-70AE-8444B86A43A5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10-11-2025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FDD30-E22E-A31D-FE92-83D6C24812E6}"/>
              </a:ext>
            </a:extLst>
          </p:cNvPr>
          <p:cNvSpPr txBox="1"/>
          <p:nvPr/>
        </p:nvSpPr>
        <p:spPr>
          <a:xfrm>
            <a:off x="5881352" y="6316014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33</a:t>
            </a:r>
            <a:endParaRPr lang="en-US" sz="1800" b="0" i="0">
              <a:solidFill>
                <a:srgbClr val="000000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92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3FDCC1-90F3-436E-B2BF-3E2A17F70424}"/>
              </a:ext>
            </a:extLst>
          </p:cNvPr>
          <p:cNvSpPr/>
          <p:nvPr/>
        </p:nvSpPr>
        <p:spPr>
          <a:xfrm>
            <a:off x="817614" y="601156"/>
            <a:ext cx="3518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Inference &amp; Key Insights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00BDDB-CF00-4FB6-A545-591C22C1ADF8}"/>
              </a:ext>
            </a:extLst>
          </p:cNvPr>
          <p:cNvSpPr/>
          <p:nvPr/>
        </p:nvSpPr>
        <p:spPr>
          <a:xfrm>
            <a:off x="636105" y="1120676"/>
            <a:ext cx="111583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Data &amp; Process Understanding: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Comprehensive data collected from all process stages — Mashing, Fermentation, Wash Still, and Spirit Still — ensuring complete process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validation revealed strong interdependence between parameters, indicating process overlap and redundancy</a:t>
            </a:r>
          </a:p>
          <a:p>
            <a:r>
              <a:rPr lang="en-US" b="1"/>
              <a:t>Analytical Learnings: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Statistical evaluation highlighted that multiple parameters influence the flavor outcome in a combined manner rather than individually.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Dimensionality reduction helped focus on a smaller set of meaningful features that truly drive flavor variation.</a:t>
            </a:r>
          </a:p>
          <a:p>
            <a:r>
              <a:rPr lang="en-US" b="1"/>
              <a:t>Key Business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Identified 16 key process parameters that have the highest impact on Fruity &amp; Floral flavor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Chloride (Max) and Hardness (Max) emerged as the top drivers of flavor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Certain stages show higher contribution to flavor variability — allowing focused monitoring and control.</a:t>
            </a:r>
          </a:p>
          <a:p>
            <a:r>
              <a:rPr lang="en-US" b="1"/>
              <a:t>Business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Built a robust analytical framework to link process behavior with final flavor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Provides a clear direction for process optimization and quality improvement initiatives.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Enables the foundation for a predictive flavor quality model for future real-time control and improvement.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C2E2-CC5A-96E9-78E7-ADB17E971CFA}"/>
              </a:ext>
            </a:extLst>
          </p:cNvPr>
          <p:cNvSpPr txBox="1"/>
          <p:nvPr/>
        </p:nvSpPr>
        <p:spPr>
          <a:xfrm>
            <a:off x="5870620" y="639114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34</a:t>
            </a:r>
            <a:endParaRPr lang="en-US" sz="1800" b="1" i="0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64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15367-9E38-5914-BB3E-8718FED5FD1E}"/>
              </a:ext>
            </a:extLst>
          </p:cNvPr>
          <p:cNvSpPr txBox="1"/>
          <p:nvPr/>
        </p:nvSpPr>
        <p:spPr>
          <a:xfrm>
            <a:off x="818289" y="849168"/>
            <a:ext cx="985035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 Light"/>
                <a:cs typeface="Calibri Light"/>
              </a:rPr>
              <a:t>Next week task: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1. Output data of 6 batches I got today (4-11-2025) which I will use it in training the model and feature selection and update the output- done</a:t>
            </a:r>
          </a:p>
          <a:p>
            <a:r>
              <a:rPr lang="en-US">
                <a:ea typeface="Calibri Light"/>
                <a:cs typeface="Calibri Light"/>
              </a:rPr>
              <a:t>2. % shelf-life values I got yesterday (3-11-2025) which I will use it and update the feature selection part.- done</a:t>
            </a:r>
          </a:p>
          <a:p>
            <a:r>
              <a:rPr lang="en-US">
                <a:ea typeface="Calibri Light"/>
                <a:cs typeface="Calibri Light"/>
              </a:rPr>
              <a:t>3. The diagrammatic representation of the work -done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A3A7E-2410-7BE1-A4BC-3609A7ED8C8D}"/>
              </a:ext>
            </a:extLst>
          </p:cNvPr>
          <p:cNvSpPr txBox="1"/>
          <p:nvPr/>
        </p:nvSpPr>
        <p:spPr>
          <a:xfrm>
            <a:off x="5902817" y="6337479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35</a:t>
            </a:r>
            <a:endParaRPr lang="en-US" sz="1800" b="0" i="0">
              <a:solidFill>
                <a:srgbClr val="000000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42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EF7B8A-4F66-D418-6B79-B1F83560A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1" y="1484098"/>
            <a:ext cx="5358198" cy="2571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257320-CFB0-146A-BA70-53AC0863147E}"/>
              </a:ext>
            </a:extLst>
          </p:cNvPr>
          <p:cNvSpPr txBox="1"/>
          <p:nvPr/>
        </p:nvSpPr>
        <p:spPr>
          <a:xfrm>
            <a:off x="916459" y="741405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Prediction output 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7D66A-6292-DFEB-FEE1-5855EAF2B7AF}"/>
              </a:ext>
            </a:extLst>
          </p:cNvPr>
          <p:cNvSpPr txBox="1"/>
          <p:nvPr/>
        </p:nvSpPr>
        <p:spPr>
          <a:xfrm>
            <a:off x="1075473" y="4276642"/>
            <a:ext cx="473260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Green-correct prediction</a:t>
            </a:r>
          </a:p>
          <a:p>
            <a:r>
              <a:rPr lang="en-US">
                <a:ea typeface="Calibri Light"/>
                <a:cs typeface="Calibri Light"/>
              </a:rPr>
              <a:t>Red-wrong prediction</a:t>
            </a:r>
            <a:endParaRPr lang="en-US"/>
          </a:p>
          <a:p>
            <a:endParaRPr lang="en-US">
              <a:ea typeface="Calibri Light"/>
              <a:cs typeface="Calibri Light"/>
            </a:endParaRPr>
          </a:p>
          <a:p>
            <a:r>
              <a:rPr lang="en-US">
                <a:ea typeface="Calibri Light"/>
                <a:cs typeface="Calibri Light"/>
              </a:rPr>
              <a:t>689, 824 and 844 batches </a:t>
            </a:r>
            <a:r>
              <a:rPr lang="en-US" err="1">
                <a:ea typeface="Calibri Light"/>
                <a:cs typeface="Calibri Light"/>
              </a:rPr>
              <a:t>ouput</a:t>
            </a:r>
            <a:r>
              <a:rPr lang="en-US">
                <a:ea typeface="Calibri Light"/>
                <a:cs typeface="Calibri Light"/>
              </a:rPr>
              <a:t> is not available.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D7EB0-41C5-AC86-942B-31DB5E3FBA34}"/>
              </a:ext>
            </a:extLst>
          </p:cNvPr>
          <p:cNvSpPr txBox="1"/>
          <p:nvPr/>
        </p:nvSpPr>
        <p:spPr>
          <a:xfrm>
            <a:off x="6160329" y="4307598"/>
            <a:ext cx="487885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For Cereal/Grainy:</a:t>
            </a:r>
          </a:p>
          <a:p>
            <a:r>
              <a:rPr lang="en-US">
                <a:ea typeface="Calibri Light"/>
                <a:cs typeface="Calibri Light"/>
              </a:rPr>
              <a:t>0: only 2 batch</a:t>
            </a:r>
          </a:p>
          <a:p>
            <a:r>
              <a:rPr lang="en-US">
                <a:ea typeface="Calibri Light"/>
                <a:cs typeface="Calibri Light"/>
              </a:rPr>
              <a:t>1: remaining batches</a:t>
            </a:r>
          </a:p>
          <a:p>
            <a:r>
              <a:rPr lang="en-US">
                <a:ea typeface="Calibri Light"/>
                <a:cs typeface="Calibri Light"/>
              </a:rPr>
              <a:t>Thus batch number 640, 659,780,917 and 935 were added in the training and prediction for the batches whose output I don't have. </a:t>
            </a:r>
          </a:p>
        </p:txBody>
      </p:sp>
      <p:pic>
        <p:nvPicPr>
          <p:cNvPr id="3" name="Picture 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14DBF0B6-D184-309C-D00B-AA92100D0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309" y="1486544"/>
            <a:ext cx="5592977" cy="25668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FB0D15-D832-4AC0-0E9B-A2D33130E914}"/>
              </a:ext>
            </a:extLst>
          </p:cNvPr>
          <p:cNvSpPr txBox="1"/>
          <p:nvPr/>
        </p:nvSpPr>
        <p:spPr>
          <a:xfrm>
            <a:off x="5920727" y="6313297"/>
            <a:ext cx="9085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05380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6D451BDB-18CC-E04B-81EE-DB5422030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517954"/>
              </p:ext>
            </p:extLst>
          </p:nvPr>
        </p:nvGraphicFramePr>
        <p:xfrm>
          <a:off x="740536" y="816736"/>
          <a:ext cx="10710927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096" name="TextBox 7095">
            <a:extLst>
              <a:ext uri="{FF2B5EF4-FFF2-40B4-BE49-F238E27FC236}">
                <a16:creationId xmlns:a16="http://schemas.microsoft.com/office/drawing/2014/main" id="{8A2A4ACF-2408-F7D4-A819-5D33BC926201}"/>
              </a:ext>
            </a:extLst>
          </p:cNvPr>
          <p:cNvSpPr txBox="1"/>
          <p:nvPr/>
        </p:nvSpPr>
        <p:spPr>
          <a:xfrm>
            <a:off x="740535" y="17708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10-11-2025</a:t>
            </a:r>
          </a:p>
          <a:p>
            <a:pPr algn="ctr"/>
            <a:endParaRPr lang="en-US"/>
          </a:p>
        </p:txBody>
      </p:sp>
      <p:sp>
        <p:nvSpPr>
          <p:cNvPr id="7115" name="TextBox 7114">
            <a:extLst>
              <a:ext uri="{FF2B5EF4-FFF2-40B4-BE49-F238E27FC236}">
                <a16:creationId xmlns:a16="http://schemas.microsoft.com/office/drawing/2014/main" id="{737E5564-7304-FC07-1082-704CCCA49E22}"/>
              </a:ext>
            </a:extLst>
          </p:cNvPr>
          <p:cNvSpPr txBox="1"/>
          <p:nvPr/>
        </p:nvSpPr>
        <p:spPr>
          <a:xfrm>
            <a:off x="5859887" y="6358944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37</a:t>
            </a:r>
            <a:endParaRPr lang="en-US" sz="1800"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38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71007-B721-FB92-F63D-1200F225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C30BE6-357C-2A68-691F-E69DB2ABA566}"/>
              </a:ext>
            </a:extLst>
          </p:cNvPr>
          <p:cNvSpPr/>
          <p:nvPr/>
        </p:nvSpPr>
        <p:spPr>
          <a:xfrm>
            <a:off x="817614" y="601156"/>
            <a:ext cx="841608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  <a:r>
              <a:rPr lang="en-IN" sz="1600">
                <a:solidFill>
                  <a:srgbClr val="C14B1D"/>
                </a:solidFill>
                <a:latin typeface="Trebuchet MS"/>
              </a:rPr>
              <a:t>(green text are the parameters which were present in both 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B393A-EA62-CB22-AB0B-072F7C631F2F}"/>
              </a:ext>
            </a:extLst>
          </p:cNvPr>
          <p:cNvSpPr txBox="1"/>
          <p:nvPr/>
        </p:nvSpPr>
        <p:spPr>
          <a:xfrm>
            <a:off x="817614" y="1233577"/>
            <a:ext cx="4761781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final gravity (25L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Recovery of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FMS_Spirit_A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initial gravity (700L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Fermented wash residual sugar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Final wash volume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Final wash volume obtained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Net wort volume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Fermentation time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Feint alcohol strength obtained-Previous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batch_spirit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 still B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1000 kernel weight (min)</a:t>
            </a:r>
          </a:p>
          <a:p>
            <a:endParaRPr lang="en-IN"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A097C-E1F3-3737-8FB2-AA025CE631CC}"/>
              </a:ext>
            </a:extLst>
          </p:cNvPr>
          <p:cNvSpPr txBox="1"/>
          <p:nvPr/>
        </p:nvSpPr>
        <p:spPr>
          <a:xfrm>
            <a:off x="6096000" y="1233577"/>
            <a:ext cx="5278386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Cereal/Grainy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Fermentation time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Feint alcohol strength obtained-previous batch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spirit_B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Feint volume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charged_spirit_A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final gravity (25L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Final wash volume obtained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Low wine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Low wine alcohol % obtained </a:t>
            </a:r>
            <a:r>
              <a:rPr lang="en-US" err="1">
                <a:solidFill>
                  <a:srgbClr val="C14B1D"/>
                </a:solidFill>
                <a:ea typeface="Calibri Light"/>
                <a:cs typeface="Calibri Light"/>
              </a:rPr>
              <a:t>Spirit_A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Feint alcohol strength obtained-Previous batch </a:t>
            </a:r>
            <a:r>
              <a:rPr lang="en-US" err="1">
                <a:solidFill>
                  <a:srgbClr val="C14B1D"/>
                </a:solidFill>
                <a:ea typeface="Calibri Light"/>
                <a:cs typeface="Calibri Light"/>
              </a:rPr>
              <a:t>spirit_Still_B</a:t>
            </a:r>
            <a:endParaRPr lang="en-US">
              <a:solidFill>
                <a:srgbClr val="C14B1D"/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rgbClr val="C14B1D"/>
                </a:solidFill>
                <a:ea typeface="Calibri Light"/>
                <a:cs typeface="Calibri Light"/>
              </a:rPr>
              <a:t>Low wine alcohol % obtained Low wine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62E99-9E1F-E830-E50B-11A448A6C81F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B9F20-C6F4-3F03-F666-6A12FF32599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38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83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0063-0CD8-C339-8E7C-CFE9215E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518C8C-235A-7070-A704-F1EC978399EF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BDDA65-60A3-EEFF-9449-FFA4909879E7}"/>
              </a:ext>
            </a:extLst>
          </p:cNvPr>
          <p:cNvSpPr txBox="1"/>
          <p:nvPr/>
        </p:nvSpPr>
        <p:spPr>
          <a:xfrm>
            <a:off x="817614" y="1233577"/>
            <a:ext cx="4761781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r>
              <a:rPr lang="en-US" b="1" u="sng"/>
              <a:t> 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Wort final gravity (2500 L vessel)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initial pH (700 L vessel)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Time of addition of enzyme (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Spezyme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 alpha NK), Proteinase 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Wash distillation rate-Mean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Fermented wash residual sugar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Final wash turbidity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Final wash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turbidity_fermented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 wash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Set-up wort pH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initial pH(2500 L vessel 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Final wash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temperature_Fermented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wash</a:t>
            </a:r>
          </a:p>
          <a:p>
            <a:pPr marL="342900" indent="-342900">
              <a:buAutoNum type="arabicPeriod"/>
            </a:pPr>
            <a:endParaRPr lang="en-IN">
              <a:solidFill>
                <a:srgbClr val="000000"/>
              </a:solidFill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55C00-4ABE-0EEC-61EE-C6AC62F18A94}"/>
              </a:ext>
            </a:extLst>
          </p:cNvPr>
          <p:cNvSpPr txBox="1"/>
          <p:nvPr/>
        </p:nvSpPr>
        <p:spPr>
          <a:xfrm>
            <a:off x="6096000" y="1233577"/>
            <a:ext cx="5278386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err="1"/>
              <a:t>Fruity_&amp;_Floral</a:t>
            </a:r>
            <a:endParaRPr lang="en-US" b="1" u="sng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Spirit condenser temperature-mean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spirit_B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Wash condenser temperature (Max)-Mean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Weak wort output temperature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Low wine turbidity-Mean 1-3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Spirit condenser temperature-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Mean_spirit_A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Low wine turbidity 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Fermented wash residual sugar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Wash still temperature (Max)-Mean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Low wine turbidity-3 (8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hr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Initial Process Temperature (2500L)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79227-4D49-554D-58D9-722687AF4EE4}"/>
              </a:ext>
            </a:extLst>
          </p:cNvPr>
          <p:cNvSpPr txBox="1"/>
          <p:nvPr/>
        </p:nvSpPr>
        <p:spPr>
          <a:xfrm>
            <a:off x="815662" y="11269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7-11-2025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DF961-CA1D-8EAA-B638-FE0DD2B2B1D5}"/>
              </a:ext>
            </a:extLst>
          </p:cNvPr>
          <p:cNvSpPr txBox="1"/>
          <p:nvPr/>
        </p:nvSpPr>
        <p:spPr>
          <a:xfrm>
            <a:off x="5881352" y="6348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39</a:t>
            </a:r>
            <a:endParaRPr lang="en-US" sz="1800" b="1" i="0">
              <a:solidFill>
                <a:schemeClr val="bg1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1" i="0">
                <a:solidFill>
                  <a:schemeClr val="bg1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65641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1C91-022E-06CF-25E0-D0F9DEB2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61DA60-5B56-05CB-1DFF-C678D82BED43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69210-6A6F-2AF5-D56E-61D9DE116A70}"/>
              </a:ext>
            </a:extLst>
          </p:cNvPr>
          <p:cNvSpPr txBox="1"/>
          <p:nvPr/>
        </p:nvSpPr>
        <p:spPr>
          <a:xfrm>
            <a:off x="817613" y="1233577"/>
            <a:ext cx="557766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Fermented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Recovery of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FMS_Spirit_B</a:t>
            </a:r>
            <a:endParaRPr lang="en-US" err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Spirit distillation rate-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mean_spirit_B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Final wash volume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Net wort volume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Final wash  volume obtained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Grist ratio on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Miling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-Mean of 1-3 course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Yeast storage temperature, deg C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Malt moisture (max)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Low wine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Set-up wort pH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Alkalinity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3AC31-03EE-DE91-A333-E8F4D9EE6272}"/>
              </a:ext>
            </a:extLst>
          </p:cNvPr>
          <p:cNvSpPr txBox="1"/>
          <p:nvPr/>
        </p:nvSpPr>
        <p:spPr>
          <a:xfrm>
            <a:off x="6334664" y="1233577"/>
            <a:ext cx="5600357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Fermented</a:t>
            </a: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Set-up 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ph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Low wine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pH_wort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Malt hot water extract on dry weight basis (min)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% shelf-life available Proteinase 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Strength in PL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pH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Low wine alcohol %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obtained_Low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 wine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Recovery of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FMS_Spirit_B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F35FB-57B3-8CEA-D1CF-93F683DDB557}"/>
              </a:ext>
            </a:extLst>
          </p:cNvPr>
          <p:cNvSpPr txBox="1"/>
          <p:nvPr/>
        </p:nvSpPr>
        <p:spPr>
          <a:xfrm>
            <a:off x="815662" y="252211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7-11-2025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DEA23-1ABE-C196-2161-A1339169E710}"/>
              </a:ext>
            </a:extLst>
          </p:cNvPr>
          <p:cNvSpPr txBox="1"/>
          <p:nvPr/>
        </p:nvSpPr>
        <p:spPr>
          <a:xfrm>
            <a:off x="5838423" y="6337479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40</a:t>
            </a:r>
            <a:endParaRPr lang="en-US" sz="1800" b="1" i="0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849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B8B9-29B6-BFA6-3714-570D1372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7A4B1C-1148-55E1-9BB9-22F58DB047B8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1F9526-C6FD-55D2-7D5C-F32CF88E6BFF}"/>
              </a:ext>
            </a:extLst>
          </p:cNvPr>
          <p:cNvSpPr txBox="1"/>
          <p:nvPr/>
        </p:nvSpPr>
        <p:spPr>
          <a:xfrm>
            <a:off x="808987" y="1233577"/>
            <a:ext cx="528701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Husky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Spirit condenser temperature-Mean spirit B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Wash condenser temperature (Max)-mean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% shelf life available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optimash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TBG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Wash still temperature (max)-mean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Sparging water temperature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Low wine</a:t>
            </a:r>
          </a:p>
          <a:p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25AFD-C670-0B6B-14FB-6889C63944B9}"/>
              </a:ext>
            </a:extLst>
          </p:cNvPr>
          <p:cNvSpPr txBox="1"/>
          <p:nvPr/>
        </p:nvSpPr>
        <p:spPr>
          <a:xfrm>
            <a:off x="6334664" y="1233577"/>
            <a:ext cx="5278386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Husky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% shelf life available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Optimash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TBG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Low wine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Sparging water temperature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Wash condenser temperature (Max)-Mean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Spirit condenser temperature-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Mean_spirit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B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Wash still temperature (Max)-Mean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E1568-A306-BE75-F283-212AACCA9008}"/>
              </a:ext>
            </a:extLst>
          </p:cNvPr>
          <p:cNvSpPr txBox="1"/>
          <p:nvPr/>
        </p:nvSpPr>
        <p:spPr>
          <a:xfrm>
            <a:off x="815662" y="11269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7-11-2025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3EAD1-80EC-B7CB-4321-440A3514E793}"/>
              </a:ext>
            </a:extLst>
          </p:cNvPr>
          <p:cNvSpPr txBox="1"/>
          <p:nvPr/>
        </p:nvSpPr>
        <p:spPr>
          <a:xfrm>
            <a:off x="5924282" y="6316014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41</a:t>
            </a:r>
            <a:endParaRPr lang="en-US" sz="1800" b="1" i="0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35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6AB8-D9A6-8617-1938-E9055D57E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181902-2CAA-0401-D056-3C1C71AC2664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 err="1">
                <a:solidFill>
                  <a:srgbClr val="C14B1D"/>
                </a:solidFill>
                <a:latin typeface="Trebuchet MS"/>
              </a:rPr>
              <a:t>eatures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36474-B73B-C696-9BF8-E5F12F6F7F9B}"/>
              </a:ext>
            </a:extLst>
          </p:cNvPr>
          <p:cNvSpPr txBox="1"/>
          <p:nvPr/>
        </p:nvSpPr>
        <p:spPr>
          <a:xfrm>
            <a:off x="808987" y="1233577"/>
            <a:ext cx="528701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Starchy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Screening-above 2.8 mm sieve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Screening-above 2.5 mm sieve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Draff loss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Screening- below 2.2 mm sieve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Recovery BL/Ton of Malt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Recovery PL/Ton of Malt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pH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Mashing temperature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% shelf-life available Proteinase 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Set-up wort pH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Average ABV in FMS_Spirit_B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12EAD-F748-2B62-92BA-4CEAC45DA6CA}"/>
              </a:ext>
            </a:extLst>
          </p:cNvPr>
          <p:cNvSpPr txBox="1"/>
          <p:nvPr/>
        </p:nvSpPr>
        <p:spPr>
          <a:xfrm>
            <a:off x="6334664" y="1233577"/>
            <a:ext cx="5278386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Starchy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Screening above 2.5 mm sieve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Final wash temperature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Screening above 2.8 mm sieve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Malt moisture (Max)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Fermentability (Min</a:t>
            </a:r>
            <a:r>
              <a:rPr lang="en-IN">
                <a:ea typeface="Calibri Light"/>
                <a:cs typeface="Calibri Light"/>
              </a:rPr>
              <a:t>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Screening above 2.2 mm sieve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Temperature in Mash-tun (Proteinase T)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Temperature in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Mashtun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(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optimash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TBG)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Low wine alcohol %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obtained_Spirit_A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Recovery BL/Ton of Malt</a:t>
            </a:r>
          </a:p>
          <a:p>
            <a:pPr marL="342900" indent="-342900">
              <a:buAutoNum type="arabicPeriod"/>
            </a:pPr>
            <a:endParaRPr lang="en-IN">
              <a:solidFill>
                <a:srgbClr val="548235"/>
              </a:solidFill>
              <a:ea typeface="Calibri Light"/>
              <a:cs typeface="Calibri Light"/>
            </a:endParaRPr>
          </a:p>
          <a:p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763FF-479E-432F-3BCF-90269B9E49F3}"/>
              </a:ext>
            </a:extLst>
          </p:cNvPr>
          <p:cNvSpPr txBox="1"/>
          <p:nvPr/>
        </p:nvSpPr>
        <p:spPr>
          <a:xfrm>
            <a:off x="804930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Calibri Light"/>
              </a:rPr>
              <a:t>7-11-2025​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A41CD-AD46-E5AC-E2C4-964B331C0BC6}"/>
              </a:ext>
            </a:extLst>
          </p:cNvPr>
          <p:cNvSpPr txBox="1"/>
          <p:nvPr/>
        </p:nvSpPr>
        <p:spPr>
          <a:xfrm>
            <a:off x="3048000" y="342900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sz="1800" b="1" i="0" u="none" strike="noStrike" baseline="0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19</a:t>
            </a: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702FE4-CD79-DA37-D01D-AEF2AFE67D9F}"/>
              </a:ext>
            </a:extLst>
          </p:cNvPr>
          <p:cNvSpPr txBox="1"/>
          <p:nvPr/>
        </p:nvSpPr>
        <p:spPr>
          <a:xfrm>
            <a:off x="5924282" y="6294549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42</a:t>
            </a:r>
            <a:endParaRPr lang="en-US" sz="1800"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139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A4B1-413D-2802-9200-349651F1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4D7BEA-5838-6673-CE2F-F40C4175956E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4720AE-F1F1-A864-054A-82CBF80BE880}"/>
              </a:ext>
            </a:extLst>
          </p:cNvPr>
          <p:cNvSpPr txBox="1"/>
          <p:nvPr/>
        </p:nvSpPr>
        <p:spPr>
          <a:xfrm>
            <a:off x="808987" y="1233577"/>
            <a:ext cx="5287013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Acidic/Solvent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Strength in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</a:rPr>
              <a:t>PL_Spirit_A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Strength in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PL_Spirit_B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Average ABV in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FMS_Spirit_B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Average ABV in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FMS_Spirit_A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% shelf-life available Proteinase T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Mashing temperature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% shelf-life available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Diazyme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TGA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Low wine turbidity </a:t>
            </a:r>
            <a:r>
              <a:rPr lang="en-US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Mean_spirit_B</a:t>
            </a:r>
            <a:endParaRPr lang="en-US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Hardness (Max)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1B8B3-5C4C-102F-0921-8D0F08A82BCE}"/>
              </a:ext>
            </a:extLst>
          </p:cNvPr>
          <p:cNvSpPr txBox="1"/>
          <p:nvPr/>
        </p:nvSpPr>
        <p:spPr>
          <a:xfrm>
            <a:off x="6334664" y="1233577"/>
            <a:ext cx="5278386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Acidic/Solvent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% shelf life available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</a:rPr>
              <a:t>Diazyme</a:t>
            </a: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 TGA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Mashing temperature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% shelf-life available Proteinase T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Low wine turbidity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Mean_spirit_B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Average ABV in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FMS_spirit_B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Hardness (Max)</a:t>
            </a: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Strength in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PL_Spirit_A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Strength_in_PL_Spirit_B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Average ABV in </a:t>
            </a:r>
            <a:r>
              <a:rPr lang="en-IN" err="1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FMS_Spirit_A</a:t>
            </a:r>
            <a:endParaRPr lang="en-IN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  <a:p>
            <a:endParaRPr lang="en-IN">
              <a:solidFill>
                <a:srgbClr val="000000"/>
              </a:solidFill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38682-A54E-40B3-5BC7-9785EC8316FA}"/>
              </a:ext>
            </a:extLst>
          </p:cNvPr>
          <p:cNvSpPr txBox="1"/>
          <p:nvPr/>
        </p:nvSpPr>
        <p:spPr>
          <a:xfrm>
            <a:off x="804930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Calibri Light"/>
              </a:rPr>
              <a:t>7-11-2025​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28C98-D7A0-20E1-0142-ED660503D473}"/>
              </a:ext>
            </a:extLst>
          </p:cNvPr>
          <p:cNvSpPr txBox="1"/>
          <p:nvPr/>
        </p:nvSpPr>
        <p:spPr>
          <a:xfrm>
            <a:off x="5827689" y="6348211"/>
            <a:ext cx="3144592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43</a:t>
            </a:r>
            <a:endParaRPr lang="en-US" sz="1800" b="1" i="0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 b="0" i="0">
                <a:solidFill>
                  <a:srgbClr val="000000"/>
                </a:solidFill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23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A7A6C-197A-0A7F-3283-FEEA1484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EA3992-375A-17E3-FE1C-4C8DD1C22634}"/>
              </a:ext>
            </a:extLst>
          </p:cNvPr>
          <p:cNvSpPr/>
          <p:nvPr/>
        </p:nvSpPr>
        <p:spPr>
          <a:xfrm>
            <a:off x="817614" y="601156"/>
            <a:ext cx="2808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</a:t>
            </a:r>
            <a:r>
              <a:rPr lang="en-IN" sz="2400">
                <a:solidFill>
                  <a:srgbClr val="C14B1D"/>
                </a:solidFill>
                <a:latin typeface="Trebuchet MS"/>
              </a:rPr>
              <a:t>eatures affecting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9AB3F-A79B-BE7F-7071-E8DF7878F01A}"/>
              </a:ext>
            </a:extLst>
          </p:cNvPr>
          <p:cNvSpPr txBox="1"/>
          <p:nvPr/>
        </p:nvSpPr>
        <p:spPr>
          <a:xfrm>
            <a:off x="808987" y="1233577"/>
            <a:ext cx="528701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Cooked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Spirit condenser feature temperature-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mean_spirit_A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Yeast shelf-life at the time of use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use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(Pinnacle M yeast)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Spirit condenser temperature-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mean_spirit_B</a:t>
            </a:r>
            <a:endParaRPr lang="en-US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Time of addition of enzyme (Proteinase T)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Wash still temperature (Max)- Mean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receiver temperature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Wort initial pH (2500 L vessel 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PH process water</a:t>
            </a:r>
          </a:p>
          <a:p>
            <a:endParaRPr lang="en-US">
              <a:solidFill>
                <a:srgbClr val="000000"/>
              </a:solidFill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A7F5F-0B8E-0A50-D0CD-F17B85B9A8D2}"/>
              </a:ext>
            </a:extLst>
          </p:cNvPr>
          <p:cNvSpPr txBox="1"/>
          <p:nvPr/>
        </p:nvSpPr>
        <p:spPr>
          <a:xfrm>
            <a:off x="6334664" y="1233577"/>
            <a:ext cx="5278386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/>
              <a:t>Cooked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Spirit condenser temperature-mean spirit A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Wash still temperature (Max)-Mean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pH_Process</a:t>
            </a: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 water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Yeast shelf-life at the time of use (Pinnacle M yeast)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Spirit condenser temperature-Mean </a:t>
            </a:r>
            <a:r>
              <a:rPr lang="en-IN" err="1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spirit_B</a:t>
            </a:r>
            <a:endParaRPr lang="en-IN">
              <a:solidFill>
                <a:schemeClr val="accent6">
                  <a:lumMod val="75000"/>
                </a:schemeClr>
              </a:solidFill>
              <a:ea typeface="Calibri Light"/>
              <a:cs typeface="Calibri Light"/>
            </a:endParaRP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6">
                    <a:lumMod val="75000"/>
                  </a:schemeClr>
                </a:solidFill>
                <a:ea typeface="Calibri Light"/>
                <a:cs typeface="Calibri Light"/>
              </a:rPr>
              <a:t>Wort receiver temperature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Wort initial pH (2500L vessel)</a:t>
            </a:r>
          </a:p>
          <a:p>
            <a:pPr marL="342900" indent="-342900">
              <a:buFontTx/>
              <a:buAutoNum type="arabicPeriod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ea typeface="Calibri Light"/>
                <a:cs typeface="Calibri Light"/>
              </a:rPr>
              <a:t>Time of addition of Enzyme (Proteinase 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F4CFC-07FD-F816-BDC1-F75DF8E5CABC}"/>
              </a:ext>
            </a:extLst>
          </p:cNvPr>
          <p:cNvSpPr txBox="1"/>
          <p:nvPr/>
        </p:nvSpPr>
        <p:spPr>
          <a:xfrm>
            <a:off x="804930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7-11-2025​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70420-4F2B-F949-E276-6919AB90ECE9}"/>
              </a:ext>
            </a:extLst>
          </p:cNvPr>
          <p:cNvSpPr txBox="1"/>
          <p:nvPr/>
        </p:nvSpPr>
        <p:spPr>
          <a:xfrm>
            <a:off x="5924282" y="6294549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44</a:t>
            </a: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82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FD659F-F017-9B9E-24A2-03F5C6B41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50396"/>
              </p:ext>
            </p:extLst>
          </p:nvPr>
        </p:nvGraphicFramePr>
        <p:xfrm>
          <a:off x="2011680" y="1709756"/>
          <a:ext cx="816864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481597314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4062019845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821368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Flavour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Previously 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Currently 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111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Cereal/Grainy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5/10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37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Fruity_&amp;_Floral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5/10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Fermented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5/11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84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Husky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6/6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03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8/11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23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Cooked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87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Acidic/Solvent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9/10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8865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016D074-8394-F48E-4A31-BA8AA0204AC9}"/>
              </a:ext>
            </a:extLst>
          </p:cNvPr>
          <p:cNvSpPr txBox="1"/>
          <p:nvPr/>
        </p:nvSpPr>
        <p:spPr>
          <a:xfrm>
            <a:off x="794197" y="617113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Count of correct features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2B124-C90E-6294-C878-4331DBCEBF54}"/>
              </a:ext>
            </a:extLst>
          </p:cNvPr>
          <p:cNvSpPr txBox="1"/>
          <p:nvPr/>
        </p:nvSpPr>
        <p:spPr>
          <a:xfrm>
            <a:off x="5848884" y="6323403"/>
            <a:ext cx="825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9667929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A039-01DE-BBAB-D694-59C72C5A4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6EFFFE-16A7-6E6E-C434-18F42C8F12AA}"/>
              </a:ext>
            </a:extLst>
          </p:cNvPr>
          <p:cNvSpPr txBox="1"/>
          <p:nvPr/>
        </p:nvSpPr>
        <p:spPr>
          <a:xfrm>
            <a:off x="916459" y="741405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>
                <a:solidFill>
                  <a:srgbClr val="C14B1D"/>
                </a:solidFill>
                <a:latin typeface="Trebuchet MS"/>
              </a:rPr>
              <a:t>Prediction output </a:t>
            </a:r>
          </a:p>
          <a:p>
            <a:pPr algn="ctr"/>
            <a:endParaRPr lang="en-US"/>
          </a:p>
        </p:txBody>
      </p:sp>
      <p:pic>
        <p:nvPicPr>
          <p:cNvPr id="3" name="Picture 2" descr="A white sheet with black text">
            <a:extLst>
              <a:ext uri="{FF2B5EF4-FFF2-40B4-BE49-F238E27FC236}">
                <a16:creationId xmlns:a16="http://schemas.microsoft.com/office/drawing/2014/main" id="{9C102621-9741-4360-D9DD-84ECAFD81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32" y="1711012"/>
            <a:ext cx="10020300" cy="2019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AA72AE-539F-40E8-6ECA-0E6865D6F020}"/>
              </a:ext>
            </a:extLst>
          </p:cNvPr>
          <p:cNvSpPr txBox="1"/>
          <p:nvPr/>
        </p:nvSpPr>
        <p:spPr>
          <a:xfrm>
            <a:off x="5928443" y="6274416"/>
            <a:ext cx="8947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650935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6FEDAB-7643-439D-26D2-909FDE592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34" y="813811"/>
            <a:ext cx="11068374" cy="4972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91ACBE-C96F-CEC0-A737-77527BC6B8F1}"/>
              </a:ext>
            </a:extLst>
          </p:cNvPr>
          <p:cNvSpPr txBox="1"/>
          <p:nvPr/>
        </p:nvSpPr>
        <p:spPr>
          <a:xfrm>
            <a:off x="5851410" y="6302885"/>
            <a:ext cx="4940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ea typeface="Calibri Light"/>
                <a:cs typeface="Calibri Light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0006641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77792-77B4-BCE9-7EEF-F27F91E1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368D2F-BDC6-5480-9273-EFDFEBF35FE6}"/>
              </a:ext>
            </a:extLst>
          </p:cNvPr>
          <p:cNvSpPr/>
          <p:nvPr/>
        </p:nvSpPr>
        <p:spPr>
          <a:xfrm>
            <a:off x="817614" y="601156"/>
            <a:ext cx="584006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VIF values Cereal/Grainy (threshold=0.5)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D7918-E121-9EF0-69A7-6AE13C9BD3ED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13-11-2025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66847-C0D3-C549-86A5-C6815D2C93D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134134-264E-448E-FA1E-7F2552839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894396"/>
              </p:ext>
            </p:extLst>
          </p:nvPr>
        </p:nvGraphicFramePr>
        <p:xfrm>
          <a:off x="766723" y="1248264"/>
          <a:ext cx="10280251" cy="3337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57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807675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6500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Wort final gravity (25 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1.05212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Wort initial gravity 700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1.06317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Fermentation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1.09481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Fermented wash residual sugar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1.65382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 Light"/>
                        </a:rPr>
                        <a:t>Recovery of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Calibri Light"/>
                        </a:rPr>
                        <a:t>FMS_Spirit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 Light"/>
                        </a:rPr>
                        <a:t> 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1.95884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Feint alcohol strength obtained-Previous batch spirit still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2.0902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1000 kernel weight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2.22851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9342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Feint volume </a:t>
                      </a:r>
                      <a:r>
                        <a:rPr lang="en-US" err="1"/>
                        <a:t>seperated_spirit_B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2.62906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306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C34EBB2-0014-AA33-667E-DCF822A86E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0076310"/>
                  </p:ext>
                </p:extLst>
              </p:nvPr>
            </p:nvGraphicFramePr>
            <p:xfrm>
              <a:off x="820384" y="5122658"/>
              <a:ext cx="10301154" cy="9197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C34EBB2-0014-AA33-667E-DCF822A86E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0076310"/>
                  </p:ext>
                </p:extLst>
              </p:nvPr>
            </p:nvGraphicFramePr>
            <p:xfrm>
              <a:off x="820384" y="5122658"/>
              <a:ext cx="10301154" cy="9197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72527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2527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3233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19ACD-A779-0522-D8E4-2DB239C6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6DCEA2-5CFB-316C-3DAF-5F77CFF99392}"/>
              </a:ext>
            </a:extLst>
          </p:cNvPr>
          <p:cNvSpPr/>
          <p:nvPr/>
        </p:nvSpPr>
        <p:spPr>
          <a:xfrm>
            <a:off x="817614" y="601156"/>
            <a:ext cx="603081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VIF values </a:t>
            </a:r>
            <a:r>
              <a:rPr lang="en-US" sz="2400" err="1">
                <a:solidFill>
                  <a:srgbClr val="C14B1D"/>
                </a:solidFill>
                <a:latin typeface="Trebuchet MS"/>
              </a:rPr>
              <a:t>Fruity_&amp;_Floral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 (threshold=0.6)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641FA-59EC-F1D8-BC0A-A52E45D11910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13-11-2025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0F117-FD34-6BF1-3228-013CB4162FA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49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AFAD6D-D749-7A4F-EFAE-B70FDFC8D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185023"/>
              </p:ext>
            </p:extLst>
          </p:nvPr>
        </p:nvGraphicFramePr>
        <p:xfrm>
          <a:off x="766723" y="1065813"/>
          <a:ext cx="10280248" cy="4079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3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6533635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927979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Fermented wash residual sugar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Wort final gravity (2500L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Wash distillation Rate-Mean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1.577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Final wash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1.597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 Light"/>
                        </a:rPr>
                        <a:t>Final wash turbidity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1.733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Low wine turbidity –3 (8 </a:t>
                      </a:r>
                      <a:r>
                        <a:rPr lang="en-US" err="1"/>
                        <a:t>hr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1.838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Spirit still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tempertaure-mean_spirit_B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1.948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9342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Wort initial pH (700 L vessel)</a:t>
                      </a:r>
                      <a:endParaRPr lang="en-US" err="1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2.058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3068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Time of </a:t>
                      </a:r>
                      <a:r>
                        <a:rPr lang="en-US" err="1"/>
                        <a:t>additon</a:t>
                      </a:r>
                      <a:r>
                        <a:rPr lang="en-US"/>
                        <a:t> of enzyme (</a:t>
                      </a:r>
                      <a:r>
                        <a:rPr lang="en-US" err="1"/>
                        <a:t>Spezyme</a:t>
                      </a:r>
                      <a:r>
                        <a:rPr lang="en-US"/>
                        <a:t> alpha 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2.245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5882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Time of addition of enzyme (Proteinase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2.381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799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2FE5992-00DC-40C1-A778-E52B1E3A58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334568"/>
                  </p:ext>
                </p:extLst>
              </p:nvPr>
            </p:nvGraphicFramePr>
            <p:xfrm>
              <a:off x="745257" y="5326574"/>
              <a:ext cx="10301154" cy="9197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61266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2FE5992-00DC-40C1-A778-E52B1E3A58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334568"/>
                  </p:ext>
                </p:extLst>
              </p:nvPr>
            </p:nvGraphicFramePr>
            <p:xfrm>
              <a:off x="745257" y="5326574"/>
              <a:ext cx="10301154" cy="9197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61266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894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72527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2527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597873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3CDC-51E8-0681-4353-A50D7E0D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B45201-7E65-5E8D-002C-CE9AB6D1EEBE}"/>
              </a:ext>
            </a:extLst>
          </p:cNvPr>
          <p:cNvSpPr/>
          <p:nvPr/>
        </p:nvSpPr>
        <p:spPr>
          <a:xfrm>
            <a:off x="817614" y="601156"/>
            <a:ext cx="5388013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VIF values Fermented (threshold=0.5)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77FD0-A79D-0878-947B-86419EFE0AA7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13-11-2025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313F1-E2D5-98B0-ACA9-A4AC316AD3E5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50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2AAAD5-B164-7D88-D9D0-FB726C090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426755"/>
              </p:ext>
            </p:extLst>
          </p:nvPr>
        </p:nvGraphicFramePr>
        <p:xfrm>
          <a:off x="755991" y="1312658"/>
          <a:ext cx="10280249" cy="3708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3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575986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885629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Spirit distillation rate-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Mean_spirit_B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1.327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Malt moisture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1.393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Grist ratio on </a:t>
                      </a:r>
                      <a:r>
                        <a:rPr lang="en-US" err="1">
                          <a:solidFill>
                            <a:schemeClr val="accent6"/>
                          </a:solidFill>
                        </a:rPr>
                        <a:t>Miling</a:t>
                      </a:r>
                      <a:r>
                        <a:rPr lang="en-US">
                          <a:solidFill>
                            <a:schemeClr val="accent6"/>
                          </a:solidFill>
                        </a:rPr>
                        <a:t>-Mean of 1-3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1.488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Yeast storage temperature, deg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Calibri Light"/>
                        </a:rPr>
                        <a:t>Alkalinity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Low wine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1.579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Set-up wort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1.6745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9342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Feint alcohol strength obtained-Previous batch spirit still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2.072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3068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Low wine turbidity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Mean_Spirit_B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2.414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588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92A611F-3DDA-F9C2-A802-BCF2273F0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4401690"/>
                  </p:ext>
                </p:extLst>
              </p:nvPr>
            </p:nvGraphicFramePr>
            <p:xfrm>
              <a:off x="745257" y="5326574"/>
              <a:ext cx="10301154" cy="9252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561266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0.980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92A611F-3DDA-F9C2-A802-BCF2273F0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4401690"/>
                  </p:ext>
                </p:extLst>
              </p:nvPr>
            </p:nvGraphicFramePr>
            <p:xfrm>
              <a:off x="745257" y="5326574"/>
              <a:ext cx="10301154" cy="9252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561266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5441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0.980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71739" r="-101418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1739" r="-1418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08733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EEF8E-A5CF-2A86-A6E4-E55FEB5C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AFC6A3-BF0F-8E5B-587E-00992F2645AE}"/>
              </a:ext>
            </a:extLst>
          </p:cNvPr>
          <p:cNvSpPr/>
          <p:nvPr/>
        </p:nvSpPr>
        <p:spPr>
          <a:xfrm>
            <a:off x="817614" y="601156"/>
            <a:ext cx="468750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VIF values Husky (threshold=0.5)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76078-7D0B-8289-338A-10DF9B4D2C4A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13-11-2025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1AC0D-06DF-A9AE-2EAA-EF4AE75F7716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51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1CFB57-DD56-826D-07F2-1DCD498B5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19856"/>
              </p:ext>
            </p:extLst>
          </p:nvPr>
        </p:nvGraphicFramePr>
        <p:xfrm>
          <a:off x="755991" y="1548771"/>
          <a:ext cx="1028024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3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575986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885629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Low wine</a:t>
                      </a:r>
                      <a:endParaRPr lang="en-US" err="1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1.166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Sparging water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% shelf life available </a:t>
                      </a:r>
                      <a:r>
                        <a:rPr lang="en-US" err="1">
                          <a:solidFill>
                            <a:schemeClr val="accent6"/>
                          </a:solidFill>
                        </a:rPr>
                        <a:t>Optimash</a:t>
                      </a:r>
                      <a:r>
                        <a:rPr lang="en-US">
                          <a:solidFill>
                            <a:schemeClr val="accent6"/>
                          </a:solidFill>
                        </a:rPr>
                        <a:t> TBG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1.905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Wash still temperature (Max)-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Calibri Light"/>
                        </a:rPr>
                        <a:t>Wash condenser temperature (max)-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Spirit condenser temperature-mean </a:t>
                      </a:r>
                      <a:r>
                        <a:rPr lang="en-US" err="1">
                          <a:solidFill>
                            <a:schemeClr val="accent6"/>
                          </a:solidFill>
                        </a:rPr>
                        <a:t>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217EC2B-DE52-88AB-0D64-29C7075974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7078056"/>
                  </p:ext>
                </p:extLst>
              </p:nvPr>
            </p:nvGraphicFramePr>
            <p:xfrm>
              <a:off x="734525" y="4543109"/>
              <a:ext cx="10301154" cy="9197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25420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0.79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46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217EC2B-DE52-88AB-0D64-29C7075974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7078056"/>
                  </p:ext>
                </p:extLst>
              </p:nvPr>
            </p:nvGraphicFramePr>
            <p:xfrm>
              <a:off x="734525" y="4543109"/>
              <a:ext cx="10301154" cy="9197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254200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894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0.79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72527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2527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71923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AB03-03BE-EDF4-1ECE-697BFB98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2C7365-CB0E-A650-6415-B0C2107FF400}"/>
              </a:ext>
            </a:extLst>
          </p:cNvPr>
          <p:cNvSpPr/>
          <p:nvPr/>
        </p:nvSpPr>
        <p:spPr>
          <a:xfrm>
            <a:off x="817614" y="601156"/>
            <a:ext cx="490871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VIF values Starchy (threshold=0.4)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ABED6-BF17-328C-C7DA-2901F4CA8DEF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13-11-2025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36631-DECC-8104-911F-E21AC522DE5F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52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F24E87-CE56-4355-51ED-D1A3E82E0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931245"/>
              </p:ext>
            </p:extLst>
          </p:nvPr>
        </p:nvGraphicFramePr>
        <p:xfrm>
          <a:off x="745259" y="1065813"/>
          <a:ext cx="10280249" cy="4079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3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575986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885629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Wort final gravity (700L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Set-up wort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2.833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Average ABV in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FMS_Spirit_B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Screening-below 2.2 mm sieve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Calibri Light"/>
                        </a:rPr>
                        <a:t>% shelf life available Proteinase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Recovery PL/Ton of Malt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4.359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Temperature in Mash-tun (</a:t>
                      </a:r>
                      <a:r>
                        <a:rPr lang="en-US" err="1"/>
                        <a:t>ProteinaseT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4.403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00645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Mashing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4.849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5844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Temperature in </a:t>
                      </a:r>
                      <a:r>
                        <a:rPr lang="en-US" err="1"/>
                        <a:t>mashtun</a:t>
                      </a:r>
                      <a:r>
                        <a:rPr lang="en-US"/>
                        <a:t> (</a:t>
                      </a:r>
                      <a:r>
                        <a:rPr lang="en-US" err="1"/>
                        <a:t>optimash</a:t>
                      </a:r>
                      <a:r>
                        <a:rPr lang="en-US"/>
                        <a:t> TBG)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5.134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58042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Draff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6.884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906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E9A505B-431E-C683-2E00-8A491D02D3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685735"/>
                  </p:ext>
                </p:extLst>
              </p:nvPr>
            </p:nvGraphicFramePr>
            <p:xfrm>
              <a:off x="745257" y="5219250"/>
              <a:ext cx="10301154" cy="9253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81881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0.972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15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35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E9A505B-431E-C683-2E00-8A491D02D3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685735"/>
                  </p:ext>
                </p:extLst>
              </p:nvPr>
            </p:nvGraphicFramePr>
            <p:xfrm>
              <a:off x="745257" y="5219250"/>
              <a:ext cx="10301154" cy="9253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81881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5448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0.972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72527" r="-101418" b="-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2527" r="-1418" b="-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753907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2785C-F686-1449-6593-D522D0A4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ACC64A-C42A-83FC-9A31-EAEBEA349C79}"/>
              </a:ext>
            </a:extLst>
          </p:cNvPr>
          <p:cNvSpPr/>
          <p:nvPr/>
        </p:nvSpPr>
        <p:spPr>
          <a:xfrm>
            <a:off x="817614" y="601156"/>
            <a:ext cx="489428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VIF values Cooked (threshold=0.5)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18426-6161-66E7-3EC3-2215740E21FA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13-11-2025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BCAAE-9FB3-0DBE-8422-76C5F8DBE036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53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E7CF32-43CF-7B06-DE2A-3C2E9EB73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72364"/>
              </p:ext>
            </p:extLst>
          </p:nvPr>
        </p:nvGraphicFramePr>
        <p:xfrm>
          <a:off x="745259" y="1709757"/>
          <a:ext cx="10280249" cy="296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3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575986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885629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chemeClr val="accent6"/>
                          </a:solidFill>
                        </a:rPr>
                        <a:t>Ph_process</a:t>
                      </a:r>
                      <a:r>
                        <a:rPr lang="en-US">
                          <a:solidFill>
                            <a:schemeClr val="accent6"/>
                          </a:solidFill>
                        </a:rPr>
                        <a:t> water</a:t>
                      </a:r>
                      <a:endParaRPr lang="en-US" err="1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Wort initial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ph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(2500L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1.854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Wort receiver temperature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2.661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Spirit condenser temperature-</a:t>
                      </a:r>
                      <a:r>
                        <a:rPr lang="en-US" err="1">
                          <a:solidFill>
                            <a:schemeClr val="accent6"/>
                          </a:solidFill>
                        </a:rPr>
                        <a:t>mean_spirit</a:t>
                      </a:r>
                      <a:r>
                        <a:rPr lang="en-US">
                          <a:solidFill>
                            <a:schemeClr val="accent6"/>
                          </a:solidFill>
                        </a:rPr>
                        <a:t>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Calibri Light"/>
                        </a:rPr>
                        <a:t>Time of addition of enzyme (Proteinase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4.417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Wash still temperature (Max)-mean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5.196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Yeast shelf-life at the time of use (pinnacle M yeast)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6.584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006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7707F19-123A-4CC9-FFF8-79FAB4026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030670"/>
                  </p:ext>
                </p:extLst>
              </p:nvPr>
            </p:nvGraphicFramePr>
            <p:xfrm>
              <a:off x="745257" y="5219250"/>
              <a:ext cx="10301154" cy="9197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5393060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0.294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7707F19-123A-4CC9-FFF8-79FAB4026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030670"/>
                  </p:ext>
                </p:extLst>
              </p:nvPr>
            </p:nvGraphicFramePr>
            <p:xfrm>
              <a:off x="745257" y="5219250"/>
              <a:ext cx="10301154" cy="9197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5393060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0.294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72527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2527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27199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72BE-055E-E969-5AA4-106D81BB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72434A-E158-2CA0-A9ED-50CBFB75F046}"/>
              </a:ext>
            </a:extLst>
          </p:cNvPr>
          <p:cNvSpPr/>
          <p:nvPr/>
        </p:nvSpPr>
        <p:spPr>
          <a:xfrm>
            <a:off x="817614" y="601156"/>
            <a:ext cx="587596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VIF values Acidic/Solvent (threshold=0.5)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DE80C-BB5B-7417-5435-1FD71B2B47A5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13-11-2025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E7BB2-1595-77D0-4C2B-A513E09AEE90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54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130A55-BBB4-A697-E717-603848920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730690"/>
              </p:ext>
            </p:extLst>
          </p:nvPr>
        </p:nvGraphicFramePr>
        <p:xfrm>
          <a:off x="745259" y="1709757"/>
          <a:ext cx="10280249" cy="296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3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575986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885629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Hardness(max)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1.174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Low wine turbidity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Mean_spirit_B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2.822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% shelf life available </a:t>
                      </a:r>
                      <a:r>
                        <a:rPr lang="en-US" err="1">
                          <a:solidFill>
                            <a:schemeClr val="accent6"/>
                          </a:solidFill>
                        </a:rPr>
                        <a:t>Diazyme</a:t>
                      </a:r>
                      <a:r>
                        <a:rPr lang="en-US">
                          <a:solidFill>
                            <a:schemeClr val="accent6"/>
                          </a:solidFill>
                        </a:rPr>
                        <a:t> TGA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/>
                          </a:solidFill>
                        </a:rPr>
                        <a:t>Mashing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2.957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Calibri Light"/>
                        </a:rPr>
                        <a:t>% shelf life available Proteinase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3.293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Average ABV in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FMS_spirit_B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5.029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Strength in 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7.218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006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3ADE241-8512-6912-51D4-236D91D46A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535409"/>
                  </p:ext>
                </p:extLst>
              </p:nvPr>
            </p:nvGraphicFramePr>
            <p:xfrm>
              <a:off x="745257" y="5219250"/>
              <a:ext cx="10301154" cy="9197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950418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0.294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3ADE241-8512-6912-51D4-236D91D46A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535409"/>
                  </p:ext>
                </p:extLst>
              </p:nvPr>
            </p:nvGraphicFramePr>
            <p:xfrm>
              <a:off x="745257" y="5219250"/>
              <a:ext cx="10301154" cy="9197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9504187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0.59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/>
                            <a:t>0.294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72527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2527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07270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0FAA5-5CCE-CA58-4294-D5C392E8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6157AA-2F8C-D6F8-D206-11DCD8611FB0}"/>
              </a:ext>
            </a:extLst>
          </p:cNvPr>
          <p:cNvSpPr/>
          <p:nvPr/>
        </p:nvSpPr>
        <p:spPr>
          <a:xfrm>
            <a:off x="817614" y="601156"/>
            <a:ext cx="693170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Methanol (0-8)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D7A550-3F82-E64E-90F9-F4871542325B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21104-D901-ED80-467B-1B04806A663D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46B2E0-920E-4BF5-C908-97A0497C7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762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97D2AD20-BB3B-17B7-6EBB-6A15FF97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273" y="1319615"/>
            <a:ext cx="4758609" cy="477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51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0F4C-132D-0DB2-F529-D64B4369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1F6C6-0975-DABC-0057-8A5D062180D2}"/>
              </a:ext>
            </a:extLst>
          </p:cNvPr>
          <p:cNvSpPr/>
          <p:nvPr/>
        </p:nvSpPr>
        <p:spPr>
          <a:xfrm>
            <a:off x="817614" y="601156"/>
            <a:ext cx="720742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Methanol (0-8)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B7537-47EE-1BA0-443D-2A704830009F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6E63C-2972-FAE4-BC77-EBC4271BA22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1ECB99-BB9E-45AA-11E6-110BC4B9B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999065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5.91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6.101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6.231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6.646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6.728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6.183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5.927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0775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97FB3-326C-46EE-7A21-02E0BFAB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3D67BA-A893-52BC-13FF-C4603374F153}"/>
              </a:ext>
            </a:extLst>
          </p:cNvPr>
          <p:cNvSpPr/>
          <p:nvPr/>
        </p:nvSpPr>
        <p:spPr>
          <a:xfrm>
            <a:off x="817614" y="601156"/>
            <a:ext cx="661815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Acetal (0-6.)(gm/100LAA)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F4FE4-5B59-E7FC-F9E0-258303E5B31A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4A4F9-3E1C-1E61-ED32-6F7CF57DCFC9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57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6E5D4B-DFD3-F532-B454-1A313AE31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139730"/>
              </p:ext>
            </p:extLst>
          </p:nvPr>
        </p:nvGraphicFramePr>
        <p:xfrm>
          <a:off x="1099426" y="1323390"/>
          <a:ext cx="5448344" cy="458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00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49527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18632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130066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-1.832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-1.963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-2.044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-2.149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-2.905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-5.981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44CFE8D8-14C7-A6EA-2C2D-ED3B1532B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186" y="1322432"/>
            <a:ext cx="4918389" cy="458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509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8C75-BD22-3A8E-612E-D4A1EF6D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BC2E54-F0F4-55EC-25FA-C7E4B9ED8449}"/>
              </a:ext>
            </a:extLst>
          </p:cNvPr>
          <p:cNvSpPr/>
          <p:nvPr/>
        </p:nvSpPr>
        <p:spPr>
          <a:xfrm>
            <a:off x="817614" y="601156"/>
            <a:ext cx="661815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Acetal (0-6.0)(gm/100LAA)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9BD8D-CC3B-2583-BBEC-79132C897ADF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11053-650F-C8AF-3D63-EB80D3A1CF4D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C0BFBD-0128-5F11-830F-B2755310A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79176"/>
              </p:ext>
            </p:extLst>
          </p:nvPr>
        </p:nvGraphicFramePr>
        <p:xfrm>
          <a:off x="1067229" y="1548770"/>
          <a:ext cx="9947560" cy="407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512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89512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89512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89512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89512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1.0323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1276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1.679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509609">
                <a:tc>
                  <a:txBody>
                    <a:bodyPr/>
                    <a:lstStyle/>
                    <a:p>
                      <a:r>
                        <a:rPr lang="en-US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978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F216-ECC6-94BC-31C9-E1E03E03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335C3A-9871-0FE2-0D49-E7F065DBE831}"/>
              </a:ext>
            </a:extLst>
          </p:cNvPr>
          <p:cNvSpPr/>
          <p:nvPr/>
        </p:nvSpPr>
        <p:spPr>
          <a:xfrm>
            <a:off x="817614" y="601156"/>
            <a:ext cx="7656904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Ethyl Acetate (20-60)(gm/100LAA)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C08E9-63C2-5F85-FE72-A3B9797ABCD8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D9C5E-C686-BB8F-FD88-F9EDF07E923C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59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C36998-E22E-78F9-53D6-EED0B88E4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171107"/>
              </p:ext>
            </p:extLst>
          </p:nvPr>
        </p:nvGraphicFramePr>
        <p:xfrm>
          <a:off x="1099426" y="1323390"/>
          <a:ext cx="5448342" cy="4538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00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49526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18631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130066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Gradeint</a:t>
                      </a:r>
                      <a:r>
                        <a:rPr lang="en-US"/>
                        <a:t>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F7BD1ECD-4438-8106-4C61-B8E31B185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674" y="1319683"/>
            <a:ext cx="5061667" cy="479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24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7667B-9C63-CF99-968B-DD3C4D10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18DD07-0240-8E08-E2C5-21F0792FBEAE}"/>
              </a:ext>
            </a:extLst>
          </p:cNvPr>
          <p:cNvSpPr/>
          <p:nvPr/>
        </p:nvSpPr>
        <p:spPr>
          <a:xfrm>
            <a:off x="817614" y="601156"/>
            <a:ext cx="7656904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Ethyl Acetate (20-60)(gm/100LAA)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19261-5822-613C-E746-1B2B14FC8AC3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319CF-8EDA-E40F-F99E-157DD9A9506C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60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8C1A28-751F-945E-D177-7782ED56E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011677"/>
              </p:ext>
            </p:extLst>
          </p:nvPr>
        </p:nvGraphicFramePr>
        <p:xfrm>
          <a:off x="1067229" y="1548770"/>
          <a:ext cx="9899910" cy="406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2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2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2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2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2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49.997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54.5001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38.643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44.198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40.008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35.304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46.876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41.662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34.655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33.345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37.976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39.370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32.143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44.769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507624">
                <a:tc>
                  <a:txBody>
                    <a:bodyPr/>
                    <a:lstStyle/>
                    <a:p>
                      <a:r>
                        <a:rPr lang="en-US"/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46.406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40.411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52.133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3668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2DB0-B2F4-BAB2-952A-958187CD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B327C8-65E0-4289-2F6E-46D9D65EFF7B}"/>
              </a:ext>
            </a:extLst>
          </p:cNvPr>
          <p:cNvSpPr/>
          <p:nvPr/>
        </p:nvSpPr>
        <p:spPr>
          <a:xfrm>
            <a:off x="817614" y="601156"/>
            <a:ext cx="774026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Acetaldehyde (0-6.5)(gm/100LAA)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7CA5C-CEDF-217B-B03B-F3C638051C54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FE8A73-C6F6-3908-4A29-46B713195B0F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61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8915A6-2ECE-4A51-CC61-6998D5B2A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219017"/>
              </p:ext>
            </p:extLst>
          </p:nvPr>
        </p:nvGraphicFramePr>
        <p:xfrm>
          <a:off x="1099426" y="1323390"/>
          <a:ext cx="5448342" cy="463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00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49526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18631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130066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17.285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79278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7F612707-569A-0903-0FBD-33D9DD5BA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940" y="1326726"/>
            <a:ext cx="4937304" cy="465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263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1796C-1D13-6097-99D0-C1C8949B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F07B46-E745-0257-5420-D663E60B14EF}"/>
              </a:ext>
            </a:extLst>
          </p:cNvPr>
          <p:cNvSpPr/>
          <p:nvPr/>
        </p:nvSpPr>
        <p:spPr>
          <a:xfrm>
            <a:off x="817614" y="601156"/>
            <a:ext cx="774026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err="1">
                <a:solidFill>
                  <a:srgbClr val="C14B1D"/>
                </a:solidFill>
                <a:latin typeface="Trebuchet MS"/>
              </a:rPr>
              <a:t>Acettaldehyde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 (0-6.5)(gm/100LAA)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E1CEB-A839-06B5-F197-BF281A47630A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5A59B-5F2B-FBBA-E12E-125882F48B2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62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AB2C68-B55D-2997-D870-964716AC1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280220"/>
              </p:ext>
            </p:extLst>
          </p:nvPr>
        </p:nvGraphicFramePr>
        <p:xfrm>
          <a:off x="1067229" y="1548770"/>
          <a:ext cx="10011095" cy="421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219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5.403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8.766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1.595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2.346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2.299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5859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D332-8EFF-850B-C7D9-4DB5F78D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C29B92-524A-FB87-ABD5-C591779D1743}"/>
              </a:ext>
            </a:extLst>
          </p:cNvPr>
          <p:cNvSpPr/>
          <p:nvPr/>
        </p:nvSpPr>
        <p:spPr>
          <a:xfrm>
            <a:off x="817614" y="601156"/>
            <a:ext cx="740298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n-Propanol (25-55)(gm/100LAA)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31F9C-C4BB-69BF-CB5D-18E3F5587571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77501-2AF1-FDE5-3601-5FBDA0ACA8D5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63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B169C3-26FC-4640-2F99-2D20083B3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601358"/>
              </p:ext>
            </p:extLst>
          </p:nvPr>
        </p:nvGraphicFramePr>
        <p:xfrm>
          <a:off x="1099426" y="1323390"/>
          <a:ext cx="5448342" cy="452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00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49526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18631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130066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XGBoost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65171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1F2C862D-895F-78ED-202C-99CE8741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882" y="1325450"/>
            <a:ext cx="4919729" cy="450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377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45E9-32C4-783C-E065-A7EF0A27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DF25FC-304F-9DC0-27FB-2791CBC13590}"/>
              </a:ext>
            </a:extLst>
          </p:cNvPr>
          <p:cNvSpPr/>
          <p:nvPr/>
        </p:nvSpPr>
        <p:spPr>
          <a:xfrm>
            <a:off x="817614" y="601156"/>
            <a:ext cx="7289175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n-Propanol (25-55)(gm/100LAA)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38AE0-53E6-5F40-8B9F-07589E44EAB2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480DF-F210-B5F4-E631-DEC547E4567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64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3CDBDB-E3D8-1718-CEA1-989A25C25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111350"/>
              </p:ext>
            </p:extLst>
          </p:nvPr>
        </p:nvGraphicFramePr>
        <p:xfrm>
          <a:off x="1067229" y="1548770"/>
          <a:ext cx="10011095" cy="421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219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35.907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38.603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35.072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32.340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38.1172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1047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34.150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32.119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36.219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37.483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40.518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32.962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35.188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38.449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40.894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1276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37.618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40.623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6386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D5A3-ECB5-80FE-5F09-874A6DF1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E000E8-FAB4-E663-E7C8-691E151273D9}"/>
              </a:ext>
            </a:extLst>
          </p:cNvPr>
          <p:cNvSpPr/>
          <p:nvPr/>
        </p:nvSpPr>
        <p:spPr>
          <a:xfrm>
            <a:off x="817614" y="601156"/>
            <a:ext cx="750558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Iso-butanol (20-60)(gm/100LAA)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8FBEC-398B-90A9-C152-0DFB22386D52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AA0BA-8142-59CD-C41D-DE32C829A5F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6776AD-E4D2-D0C0-F9A1-8E97EED29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248709"/>
              </p:ext>
            </p:extLst>
          </p:nvPr>
        </p:nvGraphicFramePr>
        <p:xfrm>
          <a:off x="1099426" y="1323390"/>
          <a:ext cx="5448342" cy="447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00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49526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18631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130066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-0.204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-0.227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-0.307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59218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 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-0.948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53123FC4-E8F1-C5A1-3F47-985C1BA7E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705" y="1318340"/>
            <a:ext cx="4848225" cy="447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920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1FE7-198E-F9A6-3F6C-C95605D0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228792-D2A8-513B-95D3-F65918090D51}"/>
              </a:ext>
            </a:extLst>
          </p:cNvPr>
          <p:cNvSpPr/>
          <p:nvPr/>
        </p:nvSpPr>
        <p:spPr>
          <a:xfrm>
            <a:off x="817614" y="601156"/>
            <a:ext cx="734367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Iso-butanol (20-60)(gm/100LAA)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F36C9-E6E8-B104-E4AB-535038DC4178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A85F5-B6A1-8D71-F275-22666E54248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96FDC0-9DC4-49F3-6DC4-78039C559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83351"/>
              </p:ext>
            </p:extLst>
          </p:nvPr>
        </p:nvGraphicFramePr>
        <p:xfrm>
          <a:off x="1067229" y="1548770"/>
          <a:ext cx="10011095" cy="421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219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43.405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42.060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44.874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38.77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43.586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47.640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44.254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50.481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42.650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39.804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45.023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41.220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39.078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43.232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43.630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45.828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43.274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41.472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45.240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197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3C33A-1982-C825-D45C-31CC875F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62A34F-92AB-A587-5613-833C79FD24BC}"/>
              </a:ext>
            </a:extLst>
          </p:cNvPr>
          <p:cNvSpPr/>
          <p:nvPr/>
        </p:nvSpPr>
        <p:spPr>
          <a:xfrm>
            <a:off x="817614" y="601156"/>
            <a:ext cx="838947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Iso-Amyl Alcohol (85-200)(gm/100LAA)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55C44-F5BD-C866-A867-A82B69BAB549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D3540-104B-F15F-EA25-CAC80EB919FB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67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BC21D2-4470-32F9-0373-25D246659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221732"/>
              </p:ext>
            </p:extLst>
          </p:nvPr>
        </p:nvGraphicFramePr>
        <p:xfrm>
          <a:off x="1099426" y="1323390"/>
          <a:ext cx="5448342" cy="458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00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2023419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49526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18631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130066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-0.204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-0.227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-0.307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73109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 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-0.948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DF8580BC-E270-AAED-A4DD-00E1C750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142" y="1337256"/>
            <a:ext cx="4895715" cy="458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86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3E71-7645-4F23-9D34-2306AEA57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0126D7-E2B0-BA9A-AE05-4A25B63C29E9}"/>
              </a:ext>
            </a:extLst>
          </p:cNvPr>
          <p:cNvSpPr/>
          <p:nvPr/>
        </p:nvSpPr>
        <p:spPr>
          <a:xfrm>
            <a:off x="817614" y="601156"/>
            <a:ext cx="838947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Iso-Amyl Alcohol (85-200)(gm/100LAA)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84D39-5A74-5338-8C06-FBA5B9CCFE61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1927B-7278-1764-E2AB-F6EAC711D68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92F583-A2F5-0094-1A22-407E6EF61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780735"/>
              </p:ext>
            </p:extLst>
          </p:nvPr>
        </p:nvGraphicFramePr>
        <p:xfrm>
          <a:off x="1067229" y="1548770"/>
          <a:ext cx="10011095" cy="421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219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2002219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114.677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94.973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139.8166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153.891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137.396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169.153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156.634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142.048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168.773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129.689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106.916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149.96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153.043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169.074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142.842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128.007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160.053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527468">
                <a:tc>
                  <a:txBody>
                    <a:bodyPr/>
                    <a:lstStyle/>
                    <a:p>
                      <a:r>
                        <a:rPr lang="en-US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151.130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162.368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487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F178-0823-757E-77B8-1745C70C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C45CB9-3AB1-25C8-986A-9FD55CD8B5D7}"/>
              </a:ext>
            </a:extLst>
          </p:cNvPr>
          <p:cNvSpPr/>
          <p:nvPr/>
        </p:nvSpPr>
        <p:spPr>
          <a:xfrm>
            <a:off x="817614" y="601156"/>
            <a:ext cx="690766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Why only backward/forward cannot be applied!!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AF455-8529-F1A2-54F2-DF6FD48D2810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25-11-2025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C42ED-093B-4975-3F37-78BF2260F76F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69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D8DEB-C811-61DC-687F-B96ABAFCA35F}"/>
              </a:ext>
            </a:extLst>
          </p:cNvPr>
          <p:cNvSpPr txBox="1"/>
          <p:nvPr/>
        </p:nvSpPr>
        <p:spPr>
          <a:xfrm>
            <a:off x="941805" y="1528502"/>
            <a:ext cx="9927548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ea typeface="Calibri Light"/>
                <a:cs typeface="Calibri Light"/>
              </a:rPr>
              <a:t>Backward: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It fails due to multi-collinearity</a:t>
            </a:r>
            <a:endParaRPr lang="en-US"/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It works best when number of parameter are less than 20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Backward uses a logistic </a:t>
            </a:r>
            <a:r>
              <a:rPr lang="en-US" err="1">
                <a:ea typeface="Calibri Light"/>
                <a:cs typeface="Calibri Light"/>
              </a:rPr>
              <a:t>regressiom</a:t>
            </a:r>
            <a:r>
              <a:rPr lang="en-US">
                <a:ea typeface="Calibri Light"/>
                <a:cs typeface="Calibri Light"/>
              </a:rPr>
              <a:t> model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Is slow and can get stuck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Do not reduce dimensionality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Cannot detect interaction between features</a:t>
            </a: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342900" indent="-34290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r>
              <a:rPr lang="en-US" b="1" u="sng">
                <a:ea typeface="Calibri Light"/>
                <a:cs typeface="Calibri Light"/>
              </a:rPr>
              <a:t>Forward: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Number of features is small (30-40)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Multi collinearity is low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Variables have strong correlation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Goal is prediction and not explainability of the features</a:t>
            </a:r>
          </a:p>
          <a:p>
            <a:pPr marL="342900" indent="-342900">
              <a:buAutoNum type="arabicPeriod"/>
            </a:pPr>
            <a:r>
              <a:rPr lang="en-US">
                <a:ea typeface="Calibri Light"/>
                <a:cs typeface="Calibri Light"/>
              </a:rPr>
              <a:t>Sample size is </a:t>
            </a:r>
            <a:r>
              <a:rPr lang="en-US" err="1">
                <a:ea typeface="Calibri Light"/>
                <a:cs typeface="Calibri Light"/>
              </a:rPr>
              <a:t>learge</a:t>
            </a:r>
            <a:r>
              <a:rPr lang="en-US">
                <a:ea typeface="Calibri Light"/>
                <a:cs typeface="Calibri Light"/>
              </a:rPr>
              <a:t> and class are balanced. </a:t>
            </a:r>
          </a:p>
          <a:p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609734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CC47-705E-01EF-A849-6AE1638ED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A8B5C5-826E-31B5-FBBC-7C0D6194E4F2}"/>
              </a:ext>
            </a:extLst>
          </p:cNvPr>
          <p:cNvSpPr/>
          <p:nvPr/>
        </p:nvSpPr>
        <p:spPr>
          <a:xfrm>
            <a:off x="817614" y="601156"/>
            <a:ext cx="275492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6D4AC-4F7C-71B4-1613-4B05ADB2DE72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25-11-2025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D9F83-2603-6656-2FF4-C6DF1C996FDA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70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009AED6-7B56-61F7-FF03-ED4217F3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94" y="1910393"/>
            <a:ext cx="11224055" cy="303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541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54FB-C044-E44B-568F-6CC9BBD5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D827DC-C9A5-A210-49FB-3D112320ED6B}"/>
              </a:ext>
            </a:extLst>
          </p:cNvPr>
          <p:cNvSpPr/>
          <p:nvPr/>
        </p:nvSpPr>
        <p:spPr>
          <a:xfrm>
            <a:off x="817614" y="601156"/>
            <a:ext cx="275492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92F87-2FF7-8B23-FD5E-B54BCFCEF3FF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D1077-E061-4B0B-5181-210C2DE9642A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71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" name="Picture 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57EA919A-14D6-0F7D-16F7-8066B1B9A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25" y="1329073"/>
            <a:ext cx="11001508" cy="290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670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3105-4074-7064-E9A4-D44C0D2E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6B5351-FC53-2B8B-9A94-D446EED0BEA9}"/>
              </a:ext>
            </a:extLst>
          </p:cNvPr>
          <p:cNvSpPr/>
          <p:nvPr/>
        </p:nvSpPr>
        <p:spPr>
          <a:xfrm>
            <a:off x="817614" y="601156"/>
            <a:ext cx="728180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Analysis by stepwise, forward, backward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16914-8235-81A6-15D2-0C4E23A6159F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26-11-2025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851DC-69ED-5AF6-553F-2967DB582B70}"/>
              </a:ext>
            </a:extLst>
          </p:cNvPr>
          <p:cNvSpPr txBox="1"/>
          <p:nvPr/>
        </p:nvSpPr>
        <p:spPr>
          <a:xfrm>
            <a:off x="5884974" y="6305980"/>
            <a:ext cx="6096000" cy="548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72</a:t>
            </a: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0BE3512F-1189-4CD7-9B80-81BABB89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85" y="1056135"/>
            <a:ext cx="10901162" cy="477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130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C080-2912-8637-DE2E-BC2F3217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0006AE-E393-B0FC-6B06-FD829C15F21B}"/>
              </a:ext>
            </a:extLst>
          </p:cNvPr>
          <p:cNvSpPr/>
          <p:nvPr/>
        </p:nvSpPr>
        <p:spPr>
          <a:xfrm>
            <a:off x="817614" y="601156"/>
            <a:ext cx="780438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Acetaldehyde (0-6.5)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8E5FC-B25E-9146-C266-A541A677EB58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E1E02-B650-1C49-3491-81DE68405D45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73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A2305F-C306-B7B2-A4B4-930B662C8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82195"/>
              </p:ext>
            </p:extLst>
          </p:nvPr>
        </p:nvGraphicFramePr>
        <p:xfrm>
          <a:off x="922985" y="1320084"/>
          <a:ext cx="5087934" cy="4226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43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687629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0775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730503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276806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06298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06298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616362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06298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06298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06298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06298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877EA238-6C27-066D-83C7-CDC8537B3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613" y="1320219"/>
            <a:ext cx="5505450" cy="422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899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168B5-C743-AD50-88D9-26528F8ED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9DA9DF-1E77-88C5-B20C-9E7D702E4291}"/>
              </a:ext>
            </a:extLst>
          </p:cNvPr>
          <p:cNvSpPr/>
          <p:nvPr/>
        </p:nvSpPr>
        <p:spPr>
          <a:xfrm>
            <a:off x="817614" y="601156"/>
            <a:ext cx="780438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Acetaldehyde (0-6.5)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A9A1F-C075-B0CE-1443-9DE39CEEC5A6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D10BF-B053-AE4A-C2B8-60E18602AE0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74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51446E-2293-1AA6-8068-35C467DDC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44211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6.22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2.24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0978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11A4-EA7E-974A-E3A9-B03955E3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4D811C-7406-4BD0-D50C-F355BDFE4FD0}"/>
              </a:ext>
            </a:extLst>
          </p:cNvPr>
          <p:cNvSpPr/>
          <p:nvPr/>
        </p:nvSpPr>
        <p:spPr>
          <a:xfrm>
            <a:off x="817614" y="601156"/>
            <a:ext cx="784060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Ethyl acetate (20-60)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0D7B1-DFA1-EBF1-AD10-B15B4EC513F9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D1619-61D1-D081-64F0-BA2A4BE049C8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EDC924-3BCD-FDF6-C3CA-DD2B501D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648550"/>
              </p:ext>
            </p:extLst>
          </p:nvPr>
        </p:nvGraphicFramePr>
        <p:xfrm>
          <a:off x="922985" y="1320084"/>
          <a:ext cx="5334104" cy="4775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558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769283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46834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765847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33858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78D2B03B-59B0-CFEA-B321-950CBB7D6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95" y="1319950"/>
            <a:ext cx="5518329" cy="466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067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392FF-B3F4-6B63-F15E-DF5E24CB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321F73-36DB-0B60-668B-4010A25DECE9}"/>
              </a:ext>
            </a:extLst>
          </p:cNvPr>
          <p:cNvSpPr/>
          <p:nvPr/>
        </p:nvSpPr>
        <p:spPr>
          <a:xfrm>
            <a:off x="817614" y="601156"/>
            <a:ext cx="784060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Ethyl acetate (20-60)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71A6F-0E4C-C913-B968-4597A9A575F5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7E7AB-02BB-076B-7793-226687885933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46AD48-CDAA-F9FA-D6F4-C36C4A0E4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583433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39.05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38.09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40.26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43.30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55.5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51.39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6759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D0EE-C2F2-ED9C-9597-10AE6BFD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235413-2DC5-5C8A-C5E8-68707D455BFD}"/>
              </a:ext>
            </a:extLst>
          </p:cNvPr>
          <p:cNvSpPr/>
          <p:nvPr/>
        </p:nvSpPr>
        <p:spPr>
          <a:xfrm>
            <a:off x="817614" y="601156"/>
            <a:ext cx="634244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Acetal (0-6)(gm/100LAA)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70643-823E-6BDE-8679-43AA13E28580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C0205-F488-5862-E7DB-1CAC9E05783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77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B81EEC-110F-E48C-C462-79F051F36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42247"/>
              </p:ext>
            </p:extLst>
          </p:nvPr>
        </p:nvGraphicFramePr>
        <p:xfrm>
          <a:off x="922985" y="1320084"/>
          <a:ext cx="5659100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941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77081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8430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12508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20140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68090421-1085-55E0-7A59-66E62386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829" y="1321494"/>
            <a:ext cx="5091583" cy="467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821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4F29-1B30-EEDD-C4BD-DAAF935C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8A83FD-8948-8CBB-A4BE-46FA7D17382C}"/>
              </a:ext>
            </a:extLst>
          </p:cNvPr>
          <p:cNvSpPr/>
          <p:nvPr/>
        </p:nvSpPr>
        <p:spPr>
          <a:xfrm>
            <a:off x="817614" y="601156"/>
            <a:ext cx="634244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Acetal (0-6)(gm/100LAA)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15A7-286E-D5A4-1DDF-E2E97C6BD066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752B2-C3D4-DFDC-E712-9406CE77AF0C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cs typeface="Segoe UI"/>
              </a:rPr>
              <a:t>78</a:t>
            </a:r>
            <a:endParaRPr lang="en-US"/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EF24A5-B322-7CC7-965F-CC16C9862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907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/>
                          </a:solidFill>
                        </a:rPr>
                        <a:t>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9980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F186-9880-2B94-566E-962EEAA8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3B9B32-C744-CF43-F2FC-BB06682138A0}"/>
              </a:ext>
            </a:extLst>
          </p:cNvPr>
          <p:cNvSpPr/>
          <p:nvPr/>
        </p:nvSpPr>
        <p:spPr>
          <a:xfrm>
            <a:off x="817614" y="601156"/>
            <a:ext cx="790312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Correlation between sensory output and GC parameters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62C93-FBD5-BF66-B626-CF90DDE84A29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28-11-2025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20177-DFA6-04BE-A221-4806572A6B55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cs typeface="Segoe UI"/>
              </a:rPr>
              <a:t>79</a:t>
            </a:r>
            <a:endParaRPr lang="en-US"/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094C96-C430-581D-3DCA-4C6C30A48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62" y="1228049"/>
            <a:ext cx="10614338" cy="48311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177FF23-9A36-6521-7599-684D2983D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76" y="1067461"/>
            <a:ext cx="10764591" cy="483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724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28B6-D68C-F3A9-B0E5-E07275E0E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2FCFFE-07B1-24C9-8437-08CBFD0C822B}"/>
              </a:ext>
            </a:extLst>
          </p:cNvPr>
          <p:cNvSpPr/>
          <p:nvPr/>
        </p:nvSpPr>
        <p:spPr>
          <a:xfrm>
            <a:off x="817614" y="601156"/>
            <a:ext cx="698171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Results after 60 batches for train and 16 for test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D821D-9C93-DD6A-5F4F-D2CA77D862A0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cs typeface="Segoe UI"/>
              </a:rPr>
              <a:t>79</a:t>
            </a:r>
            <a:endParaRPr lang="en-US"/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A2DE34E6-7BE9-B469-F1B3-59DD35D93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46" y="1047994"/>
            <a:ext cx="11065100" cy="484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837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587B-5221-D626-999F-2A948988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FFC524-0EB9-D412-3861-3A507B89FF51}"/>
              </a:ext>
            </a:extLst>
          </p:cNvPr>
          <p:cNvSpPr/>
          <p:nvPr/>
        </p:nvSpPr>
        <p:spPr>
          <a:xfrm>
            <a:off x="817614" y="601156"/>
            <a:ext cx="693170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Methanol (0-8)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9CD9B-2F9C-03D4-C0F3-141F2133BA6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535489-28AC-6CF5-6B0C-3882B6FB4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07175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Graidient</a:t>
                      </a:r>
                      <a:r>
                        <a:rPr lang="en-US" dirty="0"/>
                        <a:t>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EEDD5F4B-9BD8-49DE-04AD-743C1CED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606" y="1318409"/>
            <a:ext cx="4368084" cy="4693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0175D6-7198-A103-1891-9A77B2060210}"/>
              </a:ext>
            </a:extLst>
          </p:cNvPr>
          <p:cNvSpPr txBox="1"/>
          <p:nvPr/>
        </p:nvSpPr>
        <p:spPr>
          <a:xfrm>
            <a:off x="952097" y="63472"/>
            <a:ext cx="2253298" cy="3808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9-12-2025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948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63CDC-6B32-5529-1375-9AB77BD9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80D725-80A8-01CD-79E9-A6B9A2CDA949}"/>
              </a:ext>
            </a:extLst>
          </p:cNvPr>
          <p:cNvSpPr/>
          <p:nvPr/>
        </p:nvSpPr>
        <p:spPr>
          <a:xfrm>
            <a:off x="817614" y="601156"/>
            <a:ext cx="7218643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Methanol_s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(0-8)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DC7FD-BFBD-8A11-7768-DD7FAC928463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 Light"/>
                <a:cs typeface="Calibri Light"/>
              </a:rPr>
              <a:t>4-12-2025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52FA1-BEC7-3577-E52F-79B1EFF0A11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2F2C3E-7E38-1A38-C07D-F06CBE57C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274068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B6BCABF6-7D6F-0C22-7203-87EAB5CBC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986" y="1320889"/>
            <a:ext cx="4908059" cy="466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32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CD7DB-88BD-7037-87B6-D967278CF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F17390-614A-AC83-DF78-09E1B28FD43D}"/>
              </a:ext>
            </a:extLst>
          </p:cNvPr>
          <p:cNvSpPr/>
          <p:nvPr/>
        </p:nvSpPr>
        <p:spPr>
          <a:xfrm>
            <a:off x="817614" y="601156"/>
            <a:ext cx="720742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Predicted value for Methanol (0-8)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4B976-1FED-B6BD-F650-C53DB48B77F0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 Light"/>
                <a:cs typeface="Calibri Light"/>
              </a:rPr>
              <a:t>4-12-2025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07D65-C344-FE80-C980-F4557A18BFE1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3368E9-28C7-75A2-41BF-6B4035F3D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076317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5.54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5.755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5.91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5.91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5230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69D0A-6496-0B6D-C7D4-84758A0D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5962D9-E2C8-3941-421C-8742DC02699B}"/>
              </a:ext>
            </a:extLst>
          </p:cNvPr>
          <p:cNvSpPr/>
          <p:nvPr/>
        </p:nvSpPr>
        <p:spPr>
          <a:xfrm>
            <a:off x="817614" y="601156"/>
            <a:ext cx="652839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Acetal (0-6) (gm/100 LAA)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12477-BD19-7F78-6DE4-F5079A57EBBF}"/>
              </a:ext>
            </a:extLst>
          </p:cNvPr>
          <p:cNvSpPr txBox="1"/>
          <p:nvPr/>
        </p:nvSpPr>
        <p:spPr>
          <a:xfrm>
            <a:off x="815662" y="18781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17-11-2025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F0513-8A48-B551-3EFE-D15CF8E88858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F12BEF-E546-8F85-7E04-5B2BD124A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632259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C414026A-927C-8522-DFC0-19ECAB1E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610" y="1319481"/>
            <a:ext cx="5204273" cy="466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543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0615-F3EF-59D6-3C27-117A5D9B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DBDC87-4628-03DB-6042-1BB39973632D}"/>
              </a:ext>
            </a:extLst>
          </p:cNvPr>
          <p:cNvSpPr/>
          <p:nvPr/>
        </p:nvSpPr>
        <p:spPr>
          <a:xfrm>
            <a:off x="817614" y="601156"/>
            <a:ext cx="681532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Acetal_s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(0-6)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40289-72EB-7B89-5D82-497334B032D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2E29ED-68F8-3F37-1AFC-B2F4E3CFA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05656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9219367D-738C-2BF4-81A5-21EFC4A3D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961" y="1324377"/>
            <a:ext cx="5065825" cy="46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083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EE00-38A9-45B5-3C11-4D9207CF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7CB463-8DDD-8543-9D40-726E152C58BA}"/>
              </a:ext>
            </a:extLst>
          </p:cNvPr>
          <p:cNvSpPr/>
          <p:nvPr/>
        </p:nvSpPr>
        <p:spPr>
          <a:xfrm>
            <a:off x="817614" y="601156"/>
            <a:ext cx="652839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Acetal (0-6)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1FFC6-5E39-FB52-8A9B-D34A9425939A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E4CABD-D172-491A-83BC-DB6512D18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251265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3631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EE288-3457-36D7-8246-03026F17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B04121-7BA5-7E79-96A5-16B6BCC85C47}"/>
              </a:ext>
            </a:extLst>
          </p:cNvPr>
          <p:cNvSpPr/>
          <p:nvPr/>
        </p:nvSpPr>
        <p:spPr>
          <a:xfrm>
            <a:off x="817614" y="601156"/>
            <a:ext cx="7928774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Ethyl_Acetate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(20-60)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A7EB6-9D32-B3B8-E035-AB268C53C8AF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C9136E-DE2D-35FA-8E8E-F4FA1E932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293645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elasticnet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88EA6456-5A5B-6B94-8A42-EB05853C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93" y="1320687"/>
            <a:ext cx="4841250" cy="467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0413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D6E4-1722-6715-076F-EED10C83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5605E1-D191-8CD4-1DE9-F00210FDB2E5}"/>
              </a:ext>
            </a:extLst>
          </p:cNvPr>
          <p:cNvSpPr/>
          <p:nvPr/>
        </p:nvSpPr>
        <p:spPr>
          <a:xfrm>
            <a:off x="817614" y="601156"/>
            <a:ext cx="821571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Ethyl_Acetate_s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(20-60)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EB272-29A9-914A-C7D5-A5618DAE616C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27BEBA-C6E7-E2C5-5BAD-182F9C46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500266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svr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6.987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-0.14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F244A63E-1EAF-D63E-533A-8F2C6248C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503" y="1320822"/>
            <a:ext cx="5127670" cy="466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419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0567-7A24-EB66-0A22-73136769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B762DC-0DDE-70E8-2216-8D8528163B12}"/>
              </a:ext>
            </a:extLst>
          </p:cNvPr>
          <p:cNvSpPr/>
          <p:nvPr/>
        </p:nvSpPr>
        <p:spPr>
          <a:xfrm>
            <a:off x="817614" y="601156"/>
            <a:ext cx="821571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Ethyl_Acetate_s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(20-60)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34A96-C333-9B5C-4501-9CC8F3F0636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E34AAF-1B63-F6D0-7CC3-DF04851D9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339317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32.998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44.78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36.680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42.182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36.478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6462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FF903-7269-8834-2D6D-3806A573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A1ACD9-AED0-EAA7-7805-779C3F1A0188}"/>
              </a:ext>
            </a:extLst>
          </p:cNvPr>
          <p:cNvSpPr/>
          <p:nvPr/>
        </p:nvSpPr>
        <p:spPr>
          <a:xfrm>
            <a:off x="817614" y="601156"/>
            <a:ext cx="785247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Acetaldehyde (0-6.5)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F3B6B-3114-5BF0-EA45-E416D42128DA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894667-CE6F-8652-D213-B269201DC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614995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6C451E69-F6EC-8A94-1212-247D9C44A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601" y="1324311"/>
            <a:ext cx="5040740" cy="466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568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C295-8747-2DEA-A738-9835CF24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39A356-9F94-E6E9-401D-920B8B2E3F7C}"/>
              </a:ext>
            </a:extLst>
          </p:cNvPr>
          <p:cNvSpPr/>
          <p:nvPr/>
        </p:nvSpPr>
        <p:spPr>
          <a:xfrm>
            <a:off x="817614" y="601156"/>
            <a:ext cx="809131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Acetaldehyde_s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(0-6.5)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99E410-9D40-A482-4548-10AF6FF7E1B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90EEFC-68C9-0A94-4E39-7F404FC47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652195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A967514F-1FBF-2409-C312-477750064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120" y="1317201"/>
            <a:ext cx="5079509" cy="468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4941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2A54-0CE7-BA09-928C-A6C1260C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32BC7-85CC-A8C7-C16C-3BC649CC162F}"/>
              </a:ext>
            </a:extLst>
          </p:cNvPr>
          <p:cNvSpPr/>
          <p:nvPr/>
        </p:nvSpPr>
        <p:spPr>
          <a:xfrm>
            <a:off x="817614" y="601156"/>
            <a:ext cx="780438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Acetaldehyde (0-6.5)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883D8-3F3E-46FC-B8DE-6AB843058A9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050488-BCF5-E644-D202-CC186378C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988900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0499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66258-F203-028A-7290-979B4DF0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F7985C-0736-0CA2-CF82-5BF2C4FC7DFC}"/>
              </a:ext>
            </a:extLst>
          </p:cNvPr>
          <p:cNvSpPr/>
          <p:nvPr/>
        </p:nvSpPr>
        <p:spPr>
          <a:xfrm>
            <a:off x="817614" y="601156"/>
            <a:ext cx="7475123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n-Propanol (25-55)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F1003-C867-FF5E-0417-9CE59FC317F9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2AF939-255D-5D73-A375-D416FCD1E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39736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76095C4A-6682-9CBC-FB52-4FFC6822B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637" y="1343361"/>
            <a:ext cx="4826895" cy="465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349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18A0-0E76-D044-E6ED-F3A3A5DD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62BB7F-54EF-90D7-F868-8471ABCBD9AF}"/>
              </a:ext>
            </a:extLst>
          </p:cNvPr>
          <p:cNvSpPr/>
          <p:nvPr/>
        </p:nvSpPr>
        <p:spPr>
          <a:xfrm>
            <a:off x="817614" y="601156"/>
            <a:ext cx="776206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n-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Propanol_s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(25-55)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2BC4B-921E-5BC3-2582-C9315EA504A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AD7C4D-3AFF-92B4-AE74-E958C8191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298812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D3F335AF-7531-56FA-E3AA-CE7EFDAF5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674" y="1323103"/>
            <a:ext cx="4868483" cy="468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798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8167-9721-6A0D-8D33-AB93B35B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40C8F-60D0-637B-B608-8A6D82AD6208}"/>
              </a:ext>
            </a:extLst>
          </p:cNvPr>
          <p:cNvSpPr/>
          <p:nvPr/>
        </p:nvSpPr>
        <p:spPr>
          <a:xfrm>
            <a:off x="817614" y="601156"/>
            <a:ext cx="776206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n-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Propanol_s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(25-55)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74C81-2A3C-ED94-2D6F-0B5140A7621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28177-2EFF-E6A6-D84C-58773B1F9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962452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36.93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32.11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33.909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38.35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380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CCD8-F1C5-53A1-24B8-DEBACF2D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9859F0-87DC-2F4F-5916-FA73FA38F929}"/>
              </a:ext>
            </a:extLst>
          </p:cNvPr>
          <p:cNvSpPr/>
          <p:nvPr/>
        </p:nvSpPr>
        <p:spPr>
          <a:xfrm>
            <a:off x="817614" y="601156"/>
            <a:ext cx="7577715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Iso_butanol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(20-60)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6D418-1973-1F87-76E2-326F4C42757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F59991-024E-E00B-054B-F7316D1E3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875870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FAC5EE1C-6306-1E77-1542-9C415E03D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266" y="1318340"/>
            <a:ext cx="4935695" cy="46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1968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2B76-13ED-520A-D696-10B75E9D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DAD075-A369-057A-1E3C-C7B0A01A8C4E}"/>
              </a:ext>
            </a:extLst>
          </p:cNvPr>
          <p:cNvSpPr/>
          <p:nvPr/>
        </p:nvSpPr>
        <p:spPr>
          <a:xfrm>
            <a:off x="817614" y="601156"/>
            <a:ext cx="7864653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Iso_butanol_s (20-60)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B8A3F-510A-BBA5-A0F9-0BD0C5B1632C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A052F3-1083-577B-9986-711CAFDB1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58257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9EE36485-B8D0-825D-FBF4-2CC7D19B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467" y="1318408"/>
            <a:ext cx="5064080" cy="467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214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E4D0-77A7-4952-A94E-72E0A8A8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AB55BB-1407-85ED-84B5-14D9675DE199}"/>
              </a:ext>
            </a:extLst>
          </p:cNvPr>
          <p:cNvSpPr/>
          <p:nvPr/>
        </p:nvSpPr>
        <p:spPr>
          <a:xfrm>
            <a:off x="817614" y="601156"/>
            <a:ext cx="753283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Iso-Butanol (20-60)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C2FDB-1948-9EAB-83D8-367D570B053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D0F1C-C73C-791C-FCC2-41E782E16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380305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32.77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38.45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41.93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46928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E9F9-FDCB-81B1-A924-241282FB9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22BEBE-2B4D-1C2F-F749-1A8AD97EEE6C}"/>
              </a:ext>
            </a:extLst>
          </p:cNvPr>
          <p:cNvSpPr/>
          <p:nvPr/>
        </p:nvSpPr>
        <p:spPr>
          <a:xfrm>
            <a:off x="817614" y="601156"/>
            <a:ext cx="850906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Iso_amyl_alcohol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(85-200)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7FFB1-1A63-4C83-0728-8ADFB3882F6A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CE69FA-FD6C-0BEC-B042-F05431802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824792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3" name="Picture 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1A7F5E19-823C-A163-28F5-6AE66F046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837" y="1323103"/>
            <a:ext cx="4944550" cy="465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612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733F7-FC1A-C37E-A0CB-3EC3D618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D7F793-793E-C610-E6B7-8220E8E4D594}"/>
              </a:ext>
            </a:extLst>
          </p:cNvPr>
          <p:cNvSpPr/>
          <p:nvPr/>
        </p:nvSpPr>
        <p:spPr>
          <a:xfrm>
            <a:off x="817614" y="601156"/>
            <a:ext cx="879599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Iso_amyl_alcohol_s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(85-200)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EA3C2-CB21-1599-C906-A2818A6142D0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55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D40A00-5661-0E93-336E-C4409B756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089898"/>
              </p:ext>
            </p:extLst>
          </p:nvPr>
        </p:nvGraphicFramePr>
        <p:xfrm>
          <a:off x="922985" y="1320084"/>
          <a:ext cx="5624284" cy="4668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37">
                  <a:extLst>
                    <a:ext uri="{9D8B030D-6E8A-4147-A177-3AD203B41FA5}">
                      <a16:colId xmlns:a16="http://schemas.microsoft.com/office/drawing/2014/main" val="1357315112"/>
                    </a:ext>
                  </a:extLst>
                </a:gridCol>
                <a:gridCol w="1865532">
                  <a:extLst>
                    <a:ext uri="{9D8B030D-6E8A-4147-A177-3AD203B41FA5}">
                      <a16:colId xmlns:a16="http://schemas.microsoft.com/office/drawing/2014/main" val="3839870570"/>
                    </a:ext>
                  </a:extLst>
                </a:gridCol>
                <a:gridCol w="892903">
                  <a:extLst>
                    <a:ext uri="{9D8B030D-6E8A-4147-A177-3AD203B41FA5}">
                      <a16:colId xmlns:a16="http://schemas.microsoft.com/office/drawing/2014/main" val="4139182048"/>
                    </a:ext>
                  </a:extLst>
                </a:gridCol>
                <a:gridCol w="807510">
                  <a:extLst>
                    <a:ext uri="{9D8B030D-6E8A-4147-A177-3AD203B41FA5}">
                      <a16:colId xmlns:a16="http://schemas.microsoft.com/office/drawing/2014/main" val="1952604068"/>
                    </a:ext>
                  </a:extLst>
                </a:gridCol>
                <a:gridCol w="1411402">
                  <a:extLst>
                    <a:ext uri="{9D8B030D-6E8A-4147-A177-3AD203B41FA5}">
                      <a16:colId xmlns:a16="http://schemas.microsoft.com/office/drawing/2014/main" val="50722641"/>
                    </a:ext>
                  </a:extLst>
                </a:gridCol>
              </a:tblGrid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1531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96572"/>
                  </a:ext>
                </a:extLst>
              </a:tr>
              <a:tr h="933713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24082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4162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486745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52963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9611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795597"/>
                  </a:ext>
                </a:extLst>
              </a:tr>
            </a:tbl>
          </a:graphicData>
        </a:graphic>
      </p:graphicFrame>
      <p:pic>
        <p:nvPicPr>
          <p:cNvPr id="7" name="Picture 6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DDFBC885-B917-4641-2EA0-6536E6027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78" y="1324310"/>
            <a:ext cx="5118816" cy="46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256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FF2B-5B96-5332-244D-8869ECF7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886900-9B20-6BD9-E31D-B3F8808428C2}"/>
              </a:ext>
            </a:extLst>
          </p:cNvPr>
          <p:cNvSpPr/>
          <p:nvPr/>
        </p:nvSpPr>
        <p:spPr>
          <a:xfrm>
            <a:off x="817614" y="601156"/>
            <a:ext cx="846097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Predicted value for Iso-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amyl_alcohol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 (85-200) (gm/100 LAA)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7F576-F71F-1B07-B7BA-046423E7759F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497A31-FA57-9CF4-FAB6-3AAB15030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011170"/>
              </p:ext>
            </p:extLst>
          </p:nvPr>
        </p:nvGraphicFramePr>
        <p:xfrm>
          <a:off x="1067229" y="1548770"/>
          <a:ext cx="9899920" cy="341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984">
                  <a:extLst>
                    <a:ext uri="{9D8B030D-6E8A-4147-A177-3AD203B41FA5}">
                      <a16:colId xmlns:a16="http://schemas.microsoft.com/office/drawing/2014/main" val="283758628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647090362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86688917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109700639"/>
                    </a:ext>
                  </a:extLst>
                </a:gridCol>
                <a:gridCol w="1979984">
                  <a:extLst>
                    <a:ext uri="{9D8B030D-6E8A-4147-A177-3AD203B41FA5}">
                      <a16:colId xmlns:a16="http://schemas.microsoft.com/office/drawing/2014/main" val="3974622299"/>
                    </a:ext>
                  </a:extLst>
                </a:gridCol>
              </a:tblGrid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21460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163.60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9750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114.254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56689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130.484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114611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161.815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42318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132.83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19344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133.36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02037"/>
                  </a:ext>
                </a:extLst>
              </a:tr>
              <a:tr h="426264">
                <a:tc>
                  <a:txBody>
                    <a:bodyPr/>
                    <a:lstStyle/>
                    <a:p>
                      <a:r>
                        <a:rPr lang="en-US" dirty="0"/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110.36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3089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BC69-C2E2-A4E7-16A8-6B786900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C20CAB-0177-10C4-6B8D-4E087A0410E9}"/>
              </a:ext>
            </a:extLst>
          </p:cNvPr>
          <p:cNvSpPr/>
          <p:nvPr/>
        </p:nvSpPr>
        <p:spPr>
          <a:xfrm>
            <a:off x="817614" y="601156"/>
            <a:ext cx="6861174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Correlation between sensory and Gc 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6E0EB-E21F-4F58-0515-8917E0875516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99D835-BB19-4993-4ED5-86C2444E1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90" y="1061434"/>
            <a:ext cx="11698310" cy="474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036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334D-DFD3-6937-ED72-71F9D1F6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846FBF-3838-FB6D-B91B-D308B276CE77}"/>
              </a:ext>
            </a:extLst>
          </p:cNvPr>
          <p:cNvSpPr/>
          <p:nvPr/>
        </p:nvSpPr>
        <p:spPr>
          <a:xfrm>
            <a:off x="817614" y="601156"/>
            <a:ext cx="911659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GC parameters range prediction as per sensory output's intensity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AAC5A-34DF-176B-7F09-2C29DF1E26C8}"/>
              </a:ext>
            </a:extLst>
          </p:cNvPr>
          <p:cNvSpPr txBox="1"/>
          <p:nvPr/>
        </p:nvSpPr>
        <p:spPr>
          <a:xfrm>
            <a:off x="815662" y="187817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05016-0B2F-8B2E-FF62-591713AD8996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56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00FC2-C7CE-1389-019F-E12F5E36D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36" y="1066570"/>
            <a:ext cx="11279748" cy="469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0562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BE1A-4F68-D952-AF21-06C8780A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ADD1BD-95B9-E47C-4781-D4D4A95D438C}"/>
              </a:ext>
            </a:extLst>
          </p:cNvPr>
          <p:cNvSpPr/>
          <p:nvPr/>
        </p:nvSpPr>
        <p:spPr>
          <a:xfrm>
            <a:off x="817614" y="601156"/>
            <a:ext cx="371287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VIF values Cereal/Grainy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F068A-97DE-85E5-A1BB-D239BC43D26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23B863-D59B-2B91-3B9A-4803709D3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516886"/>
              </p:ext>
            </p:extLst>
          </p:nvPr>
        </p:nvGraphicFramePr>
        <p:xfrm>
          <a:off x="824232" y="1061358"/>
          <a:ext cx="10280250" cy="3708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3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437546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845001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Importance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initial gravity (25L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Screening- below 2.2 mm sieve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Final wash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temperature_fermented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wash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Yeast storage temperature, deg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Final wash turbidity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still temperature-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mean_spirit_B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receiver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9342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wine alcohol % </a:t>
                      </a:r>
                      <a:r>
                        <a:rPr lang="en-US" err="1">
                          <a:solidFill>
                            <a:schemeClr val="tx1"/>
                          </a:solidFill>
                        </a:rPr>
                        <a:t>obtained_spirit_A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1.138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3068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final gravity (25L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420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768AA71-74C7-3DD7-07BE-8652382038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3797212"/>
                  </p:ext>
                </p:extLst>
              </p:nvPr>
            </p:nvGraphicFramePr>
            <p:xfrm>
              <a:off x="819509" y="4873924"/>
              <a:ext cx="10301154" cy="1041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927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927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768AA71-74C7-3DD7-07BE-8652382038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897399"/>
                  </p:ext>
                </p:extLst>
              </p:nvPr>
            </p:nvGraphicFramePr>
            <p:xfrm>
              <a:off x="819509" y="4873924"/>
              <a:ext cx="10301154" cy="1041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927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94505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94505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BE5EC13-550F-2BF0-3D6F-32443CF09714}"/>
              </a:ext>
            </a:extLst>
          </p:cNvPr>
          <p:cNvSpPr txBox="1"/>
          <p:nvPr/>
        </p:nvSpPr>
        <p:spPr>
          <a:xfrm>
            <a:off x="856887" y="79341"/>
            <a:ext cx="19994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16-12-25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68565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9A53-3DEB-CB62-9130-311B49A2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A9276-1927-5BDE-7773-B2175DF48FCF}"/>
              </a:ext>
            </a:extLst>
          </p:cNvPr>
          <p:cNvSpPr/>
          <p:nvPr/>
        </p:nvSpPr>
        <p:spPr>
          <a:xfrm>
            <a:off x="817614" y="601156"/>
            <a:ext cx="381065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VIF values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Fruity_&amp;_Floral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D0050B-444C-A804-B631-3B935614CF0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B8AB36-DE8F-820F-F66B-F10A25DB4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376913"/>
              </p:ext>
            </p:extLst>
          </p:nvPr>
        </p:nvGraphicFramePr>
        <p:xfrm>
          <a:off x="824232" y="1061358"/>
          <a:ext cx="10280250" cy="3337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3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437546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2156173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Importance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Yeast shelf-life at the time of use (C-70 yeast)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Grist ratio on milling-1 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Strength in 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Avg ABV in FMS spirit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% shelf life available </a:t>
                      </a:r>
                      <a:r>
                        <a:rPr lang="en-US" sz="1800" b="0" i="0" u="none" strike="noStrike" noProof="0" dirty="0" err="1">
                          <a:solidFill>
                            <a:schemeClr val="tx1"/>
                          </a:solidFill>
                          <a:latin typeface="Calibri Light"/>
                        </a:rPr>
                        <a:t>spezyme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 alpha NK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 of addition of enzyme (Proteinase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Recovery PL/Ton of malt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9342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condenser temperature-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mean_spirit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B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0.0103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306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2915681-9EEE-5045-B063-3507C79213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2432869"/>
                  </p:ext>
                </p:extLst>
              </p:nvPr>
            </p:nvGraphicFramePr>
            <p:xfrm>
              <a:off x="819509" y="4873924"/>
              <a:ext cx="10301154" cy="1041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927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927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2915681-9EEE-5045-B063-3507C79213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6641782"/>
                  </p:ext>
                </p:extLst>
              </p:nvPr>
            </p:nvGraphicFramePr>
            <p:xfrm>
              <a:off x="819509" y="4873924"/>
              <a:ext cx="10301154" cy="1041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927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94505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94505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62927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E412-92DC-926F-1345-B2FCB467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A79DED-4925-1184-8B8E-81CCC78170E2}"/>
              </a:ext>
            </a:extLst>
          </p:cNvPr>
          <p:cNvSpPr/>
          <p:nvPr/>
        </p:nvSpPr>
        <p:spPr>
          <a:xfrm>
            <a:off x="817614" y="601156"/>
            <a:ext cx="3167855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VIF values Fermented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E601F-45AD-F786-0D81-552BC2DFCD5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C327B3-5A9A-BA3D-E266-86D84D95E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360280"/>
              </p:ext>
            </p:extLst>
          </p:nvPr>
        </p:nvGraphicFramePr>
        <p:xfrm>
          <a:off x="867162" y="1222344"/>
          <a:ext cx="1028025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3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437546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857021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Importance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Set-up wort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final gravity (700L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Malt foreign matter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wine alcohol % obtained Spirit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Malt hot water extract on dry weight basis (min)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distillation rate- mean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F3FFC05-0595-9444-B9AA-995280CB07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0168516"/>
                  </p:ext>
                </p:extLst>
              </p:nvPr>
            </p:nvGraphicFramePr>
            <p:xfrm>
              <a:off x="815661" y="4099774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F3FFC05-0595-9444-B9AA-995280CB07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337423"/>
                  </p:ext>
                </p:extLst>
              </p:nvPr>
            </p:nvGraphicFramePr>
            <p:xfrm>
              <a:off x="815661" y="4099774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82418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82418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921084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81F6-90B5-4AC5-5CCD-9BB1B7C94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E69E6E-DE23-6CBC-E3C3-569ED631BEB7}"/>
              </a:ext>
            </a:extLst>
          </p:cNvPr>
          <p:cNvSpPr/>
          <p:nvPr/>
        </p:nvSpPr>
        <p:spPr>
          <a:xfrm>
            <a:off x="817614" y="601156"/>
            <a:ext cx="246734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VIF values Husky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D43EE-0170-783E-C458-71404502351C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AAB56B-30AE-B686-0C8B-A8BC9E2A7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537641"/>
              </p:ext>
            </p:extLst>
          </p:nvPr>
        </p:nvGraphicFramePr>
        <p:xfrm>
          <a:off x="867162" y="1222344"/>
          <a:ext cx="10280250" cy="296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3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437546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2363822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Importance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Wash still temperature(Max)-mean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 shelf-life available Proteinase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Grist ratio on miling-1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0.058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Weak work output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Wash condenser temperature (Max)-Mean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Sparging water temperature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still temperature-mean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spirit_B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2413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B1317D5-869E-9DC5-D555-D580DD6026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3667048"/>
                  </p:ext>
                </p:extLst>
              </p:nvPr>
            </p:nvGraphicFramePr>
            <p:xfrm>
              <a:off x="847858" y="4518337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B1317D5-869E-9DC5-D555-D580DD6026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074531"/>
                  </p:ext>
                </p:extLst>
              </p:nvPr>
            </p:nvGraphicFramePr>
            <p:xfrm>
              <a:off x="847858" y="4518337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423" t="-82418" r="-102135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9645" t="-82418" r="-1773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110494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EFE8-3705-050C-44A3-397CDDA4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A7FB7E-ED09-B033-4011-158AC7C4117E}"/>
              </a:ext>
            </a:extLst>
          </p:cNvPr>
          <p:cNvSpPr/>
          <p:nvPr/>
        </p:nvSpPr>
        <p:spPr>
          <a:xfrm>
            <a:off x="817614" y="601156"/>
            <a:ext cx="268855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VIF values Starchy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EC0E2-B250-70BD-6576-DFA8E4C9E83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DFE402-F6A9-8F54-8503-7291AC656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42799"/>
              </p:ext>
            </p:extLst>
          </p:nvPr>
        </p:nvGraphicFramePr>
        <p:xfrm>
          <a:off x="867162" y="1222344"/>
          <a:ext cx="10280250" cy="3337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3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437546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2122081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Importance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Strength in PL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Average ABV in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FMS_spirit_A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Draff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Screening-below 2.2 mm sieve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Recovery PL/Ton of Malt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Mashing temperature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Set-up wort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2.331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24133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final gravity (700L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2.116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6606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C5376E0-08A5-F229-7DAE-AB4664114F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7467728"/>
                  </p:ext>
                </p:extLst>
              </p:nvPr>
            </p:nvGraphicFramePr>
            <p:xfrm>
              <a:off x="869323" y="4722252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C5376E0-08A5-F229-7DAE-AB4664114F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947929"/>
                  </p:ext>
                </p:extLst>
              </p:nvPr>
            </p:nvGraphicFramePr>
            <p:xfrm>
              <a:off x="869323" y="4722252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82418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82418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80804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CCB8-AF55-F7BE-C279-8C295B8B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9EC041-B94E-44F1-1C9A-888634DDC07E}"/>
              </a:ext>
            </a:extLst>
          </p:cNvPr>
          <p:cNvSpPr/>
          <p:nvPr/>
        </p:nvSpPr>
        <p:spPr>
          <a:xfrm>
            <a:off x="817614" y="601156"/>
            <a:ext cx="267413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VIF values Cooked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33034-FB02-1EA6-C8F1-0CB00E209C88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684F1A-CD1E-0525-9ABC-CEF2706C3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11535"/>
              </p:ext>
            </p:extLst>
          </p:nvPr>
        </p:nvGraphicFramePr>
        <p:xfrm>
          <a:off x="867162" y="1222344"/>
          <a:ext cx="102802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3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437546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81101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Importance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 shelf life available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optimash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TBG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Wash still temperature (max)-mean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 of addition of enzyme (Proteinase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condenser temperature-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mean_spirit_B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Wort initial pH (2500 L vessel)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Ph_Process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water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2C72AD0-02C5-7C90-3410-427AE21257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223558"/>
                  </p:ext>
                </p:extLst>
              </p:nvPr>
            </p:nvGraphicFramePr>
            <p:xfrm>
              <a:off x="869323" y="4722252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2C72AD0-02C5-7C90-3410-427AE21257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8120157"/>
                  </p:ext>
                </p:extLst>
              </p:nvPr>
            </p:nvGraphicFramePr>
            <p:xfrm>
              <a:off x="869323" y="4722252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82418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82418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2622341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81E7-C980-E508-50E3-98B60D46E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BB9660-5E15-B10C-E2EB-7DF86B7D2570}"/>
              </a:ext>
            </a:extLst>
          </p:cNvPr>
          <p:cNvSpPr/>
          <p:nvPr/>
        </p:nvSpPr>
        <p:spPr>
          <a:xfrm>
            <a:off x="817614" y="601156"/>
            <a:ext cx="365580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VIF values Acidic/Solvent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45B4F-E861-9CFA-A9DE-EA85574FF80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1704C9-8225-3B70-C124-C81E5B74B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466320"/>
              </p:ext>
            </p:extLst>
          </p:nvPr>
        </p:nvGraphicFramePr>
        <p:xfrm>
          <a:off x="867162" y="1222344"/>
          <a:ext cx="102802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3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437546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  <a:gridCol w="2535172">
                  <a:extLst>
                    <a:ext uri="{9D8B030D-6E8A-4147-A177-3AD203B41FA5}">
                      <a16:colId xmlns:a16="http://schemas.microsoft.com/office/drawing/2014/main" val="4179305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Importance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Strength in PL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0.116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Average ABV in FMS spirit _A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final gravity (700 L vessel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Mashing temperature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Low wine turbidity </a:t>
                      </a:r>
                      <a:r>
                        <a:rPr lang="en-US" sz="1800" b="0" i="0" u="none" strike="noStrike" noProof="0" dirty="0" err="1">
                          <a:solidFill>
                            <a:schemeClr val="tx1"/>
                          </a:solidFill>
                          <a:latin typeface="Calibri Light"/>
                        </a:rPr>
                        <a:t>Mean_Spirit_B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2.008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initial gravity 700 L 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0.020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998D924-F825-DF2D-F799-D0EAAC09D4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6107504"/>
                  </p:ext>
                </p:extLst>
              </p:nvPr>
            </p:nvGraphicFramePr>
            <p:xfrm>
              <a:off x="869323" y="4722252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998D924-F825-DF2D-F799-D0EAAC09D4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2794010"/>
                  </p:ext>
                </p:extLst>
              </p:nvPr>
            </p:nvGraphicFramePr>
            <p:xfrm>
              <a:off x="869323" y="4722252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82418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82418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080276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E3B7-1625-4817-4CAF-BDA5166D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CFDB3-DD8D-0A5F-7B46-D24F03BC2ED8}"/>
              </a:ext>
            </a:extLst>
          </p:cNvPr>
          <p:cNvSpPr/>
          <p:nvPr/>
        </p:nvSpPr>
        <p:spPr>
          <a:xfrm>
            <a:off x="817614" y="601156"/>
            <a:ext cx="287771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932A0-FEA6-15E7-5E0C-10C0254608E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" name="Picture 1" descr="A white sheet with numbers and symbols&#10;&#10;AI-generated content may be incorrect.">
            <a:extLst>
              <a:ext uri="{FF2B5EF4-FFF2-40B4-BE49-F238E27FC236}">
                <a16:creationId xmlns:a16="http://schemas.microsoft.com/office/drawing/2014/main" id="{496EEAAB-D210-CF27-93C9-37706A7F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98" y="1062006"/>
            <a:ext cx="11258283" cy="48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002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09C6-ABA2-4602-819C-02A84552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521D09-EDE7-4BCF-5856-92E92BD8B7F0}"/>
              </a:ext>
            </a:extLst>
          </p:cNvPr>
          <p:cNvSpPr/>
          <p:nvPr/>
        </p:nvSpPr>
        <p:spPr>
          <a:xfrm>
            <a:off x="817614" y="601156"/>
            <a:ext cx="287771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BE155-270C-C3D0-112C-A11C00DF660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4" name="Picture 3" descr="A white sheet with numbers and symbols&#10;&#10;AI-generated content may be incorrect.">
            <a:extLst>
              <a:ext uri="{FF2B5EF4-FFF2-40B4-BE49-F238E27FC236}">
                <a16:creationId xmlns:a16="http://schemas.microsoft.com/office/drawing/2014/main" id="{D38B4330-11D3-DD9F-339E-E4ECA3237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19" y="1060762"/>
            <a:ext cx="11183156" cy="504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778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7546-565B-0B09-7982-0CF013045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4A7CED-891B-727E-FB71-C8B9D0D52F7A}"/>
              </a:ext>
            </a:extLst>
          </p:cNvPr>
          <p:cNvSpPr/>
          <p:nvPr/>
        </p:nvSpPr>
        <p:spPr>
          <a:xfrm>
            <a:off x="817614" y="601156"/>
            <a:ext cx="521328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Features for Cereal/Grainy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97F13-64F4-0D21-B84C-BE45F387E18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F8070A-08D0-2F4B-2B1B-252AA3B5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583280"/>
              </p:ext>
            </p:extLst>
          </p:nvPr>
        </p:nvGraphicFramePr>
        <p:xfrm>
          <a:off x="867162" y="1222344"/>
          <a:ext cx="102938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41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815373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6946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 shelf life available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Spezyme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alpha NK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 of addition of enzyme (Proteinase T)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Sparging water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8E48596-5A0B-73F7-AAE4-79EFF95F59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0574517"/>
                  </p:ext>
                </p:extLst>
              </p:nvPr>
            </p:nvGraphicFramePr>
            <p:xfrm>
              <a:off x="869323" y="4722252"/>
              <a:ext cx="10253265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0653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50653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50653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50653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50653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14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52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8E48596-5A0B-73F7-AAE4-79EFF95F59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69323" y="4722252"/>
              <a:ext cx="10301154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F-1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Sensitivity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Specificity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CM (test)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82418" r="-10141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82418" r="-141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672787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AB97-17F1-8B02-B37E-ABCCBF2A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DC963E-9BA8-652A-452B-B74ACA74D1B3}"/>
              </a:ext>
            </a:extLst>
          </p:cNvPr>
          <p:cNvSpPr/>
          <p:nvPr/>
        </p:nvSpPr>
        <p:spPr>
          <a:xfrm>
            <a:off x="817614" y="601156"/>
            <a:ext cx="5404043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Features for </a:t>
            </a:r>
            <a:r>
              <a:rPr lang="en-US" sz="2400" dirty="0" err="1">
                <a:solidFill>
                  <a:srgbClr val="C14B1D"/>
                </a:solidFill>
                <a:latin typeface="Trebuchet MS"/>
              </a:rPr>
              <a:t>Fruity_&amp;_Floral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2F716-54CA-FF01-86D6-5BD184BA9CB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081C82-032F-F525-4EDC-11FD036AC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40513"/>
              </p:ext>
            </p:extLst>
          </p:nvPr>
        </p:nvGraphicFramePr>
        <p:xfrm>
          <a:off x="867162" y="1222344"/>
          <a:ext cx="103214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010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830940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7848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wine turbidity-3 (8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hr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 shelf life available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diazyme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TGA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Final wash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ph_fermented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wash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C855E58-6331-4700-C43E-D1FE4C303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4757251"/>
                  </p:ext>
                </p:extLst>
              </p:nvPr>
            </p:nvGraphicFramePr>
            <p:xfrm>
              <a:off x="869323" y="4722252"/>
              <a:ext cx="10268715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3743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12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52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C855E58-6331-4700-C43E-D1FE4C303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4757251"/>
                  </p:ext>
                </p:extLst>
              </p:nvPr>
            </p:nvGraphicFramePr>
            <p:xfrm>
              <a:off x="869323" y="4722252"/>
              <a:ext cx="10268715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3743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53743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93" t="-82418" r="-1187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64786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066F7-8491-AAF8-F20E-4A3D88D5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48C8A-E607-48D1-AB58-04F354C0F7D8}"/>
              </a:ext>
            </a:extLst>
          </p:cNvPr>
          <p:cNvSpPr/>
          <p:nvPr/>
        </p:nvSpPr>
        <p:spPr>
          <a:xfrm>
            <a:off x="817614" y="601156"/>
            <a:ext cx="476124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Features for Fermented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12F24-125D-0031-EBBB-9D221B37FADE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92EAB0-6FC9-AFDF-B9CD-1445E89ED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252379"/>
              </p:ext>
            </p:extLst>
          </p:nvPr>
        </p:nvGraphicFramePr>
        <p:xfrm>
          <a:off x="834965" y="1061358"/>
          <a:ext cx="10211213" cy="4079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135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768674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42404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Yeast shelf-life at the time of use (C-70 yeast)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9.152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Grist ratio on miling-1 fine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7.987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initial gravity (2500L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7.305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Feint volume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seperated_spirit_A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6.839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Wash still temperature (max)-mean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6.641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 shelf life available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spezyme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alpha NK 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 of addition of enzyme (Proteinase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4.925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0737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condenser temperature-mean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spirit_B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3.282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93279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initial pH (2500 L vessel)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2.320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65384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 process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1.835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982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6F02D2-DFC7-6DF4-2EE0-BA477F6C39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945224"/>
                  </p:ext>
                </p:extLst>
              </p:nvPr>
            </p:nvGraphicFramePr>
            <p:xfrm>
              <a:off x="838431" y="5278306"/>
              <a:ext cx="10222355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4471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44471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44471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44471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44471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0.59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12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52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6F02D2-DFC7-6DF4-2EE0-BA477F6C39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858929"/>
                  </p:ext>
                </p:extLst>
              </p:nvPr>
            </p:nvGraphicFramePr>
            <p:xfrm>
              <a:off x="838431" y="5278306"/>
              <a:ext cx="10301154" cy="1189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% of correct prediction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23333" r="-10141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123333" r="-1418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9188132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E5BE-144D-4F46-AEC0-A6A468CE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020D05-2961-723A-9C63-00EE611B95E3}"/>
              </a:ext>
            </a:extLst>
          </p:cNvPr>
          <p:cNvSpPr/>
          <p:nvPr/>
        </p:nvSpPr>
        <p:spPr>
          <a:xfrm>
            <a:off x="817614" y="601156"/>
            <a:ext cx="406072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Features for Husky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C3D37-A3DF-12D2-028F-2453DA4D03E6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BCA57A-7579-00BC-FF70-D9D62C6AF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757119"/>
              </p:ext>
            </p:extLst>
          </p:nvPr>
        </p:nvGraphicFramePr>
        <p:xfrm>
          <a:off x="867162" y="1222344"/>
          <a:ext cx="103319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41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836871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81918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still temperature-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mean_spirit_B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Spirit still temperature-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mean_spirit_A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(max)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Sparging water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1000 kernel weight (min)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DE436B5-C92B-4CFF-0D80-253B685B36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522766"/>
                  </p:ext>
                </p:extLst>
              </p:nvPr>
            </p:nvGraphicFramePr>
            <p:xfrm>
              <a:off x="869323" y="4722252"/>
              <a:ext cx="10376890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5378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75378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75378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75378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75378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14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52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DE436B5-C92B-4CFF-0D80-253B685B36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14011"/>
                  </p:ext>
                </p:extLst>
              </p:nvPr>
            </p:nvGraphicFramePr>
            <p:xfrm>
              <a:off x="869323" y="4722252"/>
              <a:ext cx="10301154" cy="1189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% of correct prediction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23333" r="-10141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123333" r="-1418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18172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0BDA3-389D-0CB9-D884-F70BD5D8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663CC5-7C51-2B19-0EC8-7BD5CACB7ED5}"/>
              </a:ext>
            </a:extLst>
          </p:cNvPr>
          <p:cNvSpPr/>
          <p:nvPr/>
        </p:nvSpPr>
        <p:spPr>
          <a:xfrm>
            <a:off x="817614" y="601156"/>
            <a:ext cx="428194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Features for Starchy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42A0B-4D09-B32D-4DA6-179BEDF8B1A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600E33-C980-A2A8-B5AE-ADE70B107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690085"/>
              </p:ext>
            </p:extLst>
          </p:nvPr>
        </p:nvGraphicFramePr>
        <p:xfrm>
          <a:off x="867162" y="1222344"/>
          <a:ext cx="10224990" cy="296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619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776457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46914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receiver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Weak wort output temperature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Screening- above 2.8 mm sieve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Wort final gravity (700L vessel)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3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Calibri Light"/>
                        </a:rPr>
                        <a:t>Fermentability (min)</a:t>
                      </a:r>
                      <a:endParaRPr lang="en-US" sz="1800" b="0" i="0" u="none" strike="noStrike" noProof="0" dirty="0" err="1">
                        <a:solidFill>
                          <a:schemeClr val="tx1"/>
                        </a:solidFill>
                        <a:latin typeface="Calibri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1.590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2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Recovery of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FMS_Spirit_A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6464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7.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Grist ratio on milling-mean of 1-3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1.290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2322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104FED2-AD33-8FDB-40CC-330DF941F1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8637842"/>
                  </p:ext>
                </p:extLst>
              </p:nvPr>
            </p:nvGraphicFramePr>
            <p:xfrm>
              <a:off x="869323" y="4722252"/>
              <a:ext cx="10191450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8290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38290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38290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38290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38290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8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52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104FED2-AD33-8FDB-40CC-330DF941F1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4994313"/>
                  </p:ext>
                </p:extLst>
              </p:nvPr>
            </p:nvGraphicFramePr>
            <p:xfrm>
              <a:off x="869323" y="4722252"/>
              <a:ext cx="10301154" cy="1189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6859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  <a:gridCol w="1716859">
                      <a:extLst>
                        <a:ext uri="{9D8B030D-6E8A-4147-A177-3AD203B41FA5}">
                          <a16:colId xmlns:a16="http://schemas.microsoft.com/office/drawing/2014/main" val="135857685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% of correct prediction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23333" r="-10141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123333" r="-1418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891859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BB93-3928-6DC0-AE99-BF3008E5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80704F-6051-2A10-9A79-0216F1012520}"/>
              </a:ext>
            </a:extLst>
          </p:cNvPr>
          <p:cNvSpPr/>
          <p:nvPr/>
        </p:nvSpPr>
        <p:spPr>
          <a:xfrm>
            <a:off x="817614" y="601156"/>
            <a:ext cx="4267515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Features for Cooked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336BB-531D-76D3-502D-E4465EE151A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2EA9C5-29E2-4F5F-3A97-DC8FCE50C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584835"/>
              </p:ext>
            </p:extLst>
          </p:nvPr>
        </p:nvGraphicFramePr>
        <p:xfrm>
          <a:off x="867162" y="1222344"/>
          <a:ext cx="102387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104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784240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51424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Grist ratio on miling-1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Final wash turbidity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Fermentable sugar (optional) wort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715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2E88889-459F-CF17-FE9C-2DA708B1A8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8654536"/>
                  </p:ext>
                </p:extLst>
              </p:nvPr>
            </p:nvGraphicFramePr>
            <p:xfrm>
              <a:off x="735458" y="3671928"/>
              <a:ext cx="10361435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2287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14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52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2E88889-459F-CF17-FE9C-2DA708B1A8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8654536"/>
                  </p:ext>
                </p:extLst>
              </p:nvPr>
            </p:nvGraphicFramePr>
            <p:xfrm>
              <a:off x="735458" y="3671928"/>
              <a:ext cx="10361435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2287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72287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88" t="-82418" r="-1176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3711137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FC00-6C48-4E6C-D03E-3A0949F0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DFC736-6EFD-C084-13A7-355DAD4B6C6C}"/>
              </a:ext>
            </a:extLst>
          </p:cNvPr>
          <p:cNvSpPr/>
          <p:nvPr/>
        </p:nvSpPr>
        <p:spPr>
          <a:xfrm>
            <a:off x="817614" y="601156"/>
            <a:ext cx="5249194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Intensity Features for Acidic/Solvent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6CEB8-C97B-A248-5903-E6EA37504EC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D8C007-065F-D236-0F82-36BA2F295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292888"/>
              </p:ext>
            </p:extLst>
          </p:nvPr>
        </p:nvGraphicFramePr>
        <p:xfrm>
          <a:off x="867162" y="1222344"/>
          <a:ext cx="102938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41">
                  <a:extLst>
                    <a:ext uri="{9D8B030D-6E8A-4147-A177-3AD203B41FA5}">
                      <a16:colId xmlns:a16="http://schemas.microsoft.com/office/drawing/2014/main" val="3143256454"/>
                    </a:ext>
                  </a:extLst>
                </a:gridCol>
                <a:gridCol w="5815373">
                  <a:extLst>
                    <a:ext uri="{9D8B030D-6E8A-4147-A177-3AD203B41FA5}">
                      <a16:colId xmlns:a16="http://schemas.microsoft.com/office/drawing/2014/main" val="988118499"/>
                    </a:ext>
                  </a:extLst>
                </a:gridCol>
                <a:gridCol w="3369462">
                  <a:extLst>
                    <a:ext uri="{9D8B030D-6E8A-4147-A177-3AD203B41FA5}">
                      <a16:colId xmlns:a16="http://schemas.microsoft.com/office/drawing/2014/main" val="148411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 of addition of enzyme (spezyme alpha 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5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Mashing temperature</a:t>
                      </a:r>
                      <a:endParaRPr 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2314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F9DC815-6B5D-11B1-43E2-C33757CA69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6074451"/>
                  </p:ext>
                </p:extLst>
              </p:nvPr>
            </p:nvGraphicFramePr>
            <p:xfrm>
              <a:off x="869322" y="3424792"/>
              <a:ext cx="10330530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6106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6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52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F9DC815-6B5D-11B1-43E2-C33757CA69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6074451"/>
                  </p:ext>
                </p:extLst>
              </p:nvPr>
            </p:nvGraphicFramePr>
            <p:xfrm>
              <a:off x="869322" y="3424792"/>
              <a:ext cx="10330530" cy="9763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6106">
                      <a:extLst>
                        <a:ext uri="{9D8B030D-6E8A-4147-A177-3AD203B41FA5}">
                          <a16:colId xmlns:a16="http://schemas.microsoft.com/office/drawing/2014/main" val="3151334755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763902544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2572880602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3396216027"/>
                        </a:ext>
                      </a:extLst>
                    </a:gridCol>
                    <a:gridCol w="2066106">
                      <a:extLst>
                        <a:ext uri="{9D8B030D-6E8A-4147-A177-3AD203B41FA5}">
                          <a16:colId xmlns:a16="http://schemas.microsoft.com/office/drawing/2014/main" val="148393415"/>
                        </a:ext>
                      </a:extLst>
                    </a:gridCol>
                  </a:tblGrid>
                  <a:tr h="4274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Accuracy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F-1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Macro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Macro 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Correctly predicted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245787"/>
                      </a:ext>
                    </a:extLst>
                  </a:tr>
                  <a:tr h="54895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dirty="0"/>
                            <a:t>0.35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90" t="-82418" r="-1180" b="-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4504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274807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1D01B-AE6C-9F64-5B9E-9799FDD7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EC78BC-6BDE-B95F-62A6-0AA7675CAFC6}"/>
              </a:ext>
            </a:extLst>
          </p:cNvPr>
          <p:cNvSpPr/>
          <p:nvPr/>
        </p:nvSpPr>
        <p:spPr>
          <a:xfrm>
            <a:off x="817614" y="601156"/>
            <a:ext cx="260423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EDA for 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intensity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D680A-99AE-166D-92FA-02BF2F950DB4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6A7A2-4D56-988C-F842-128CAC5D9E97}"/>
              </a:ext>
            </a:extLst>
          </p:cNvPr>
          <p:cNvSpPr txBox="1"/>
          <p:nvPr/>
        </p:nvSpPr>
        <p:spPr>
          <a:xfrm>
            <a:off x="4748509" y="3656153"/>
            <a:ext cx="1639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Acidic/Solvent</a:t>
            </a:r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9E26D6-E011-A530-B54B-49062DE58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82" r="27077" b="47492"/>
          <a:stretch>
            <a:fillRect/>
          </a:stretch>
        </p:blipFill>
        <p:spPr>
          <a:xfrm>
            <a:off x="1114023" y="1508520"/>
            <a:ext cx="10276941" cy="19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9839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7786-C78D-868C-91B2-4BF5C4E9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28A43D-20DA-1354-8AEC-CEC0B110A04A}"/>
              </a:ext>
            </a:extLst>
          </p:cNvPr>
          <p:cNvSpPr/>
          <p:nvPr/>
        </p:nvSpPr>
        <p:spPr>
          <a:xfrm>
            <a:off x="817614" y="601156"/>
            <a:ext cx="260423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EDA for 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intensity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D2C73-9B74-7397-C4F6-49C2C255D75D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0B875-9BAF-27BE-6E83-ADD4056F493B}"/>
              </a:ext>
            </a:extLst>
          </p:cNvPr>
          <p:cNvSpPr txBox="1"/>
          <p:nvPr/>
        </p:nvSpPr>
        <p:spPr>
          <a:xfrm>
            <a:off x="5553439" y="5566519"/>
            <a:ext cx="1639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Husky</a:t>
            </a:r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0EF9C2-1D7B-C6CD-4DEB-A5501AAF8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70" r="1466" b="55172"/>
          <a:stretch>
            <a:fillRect/>
          </a:stretch>
        </p:blipFill>
        <p:spPr>
          <a:xfrm>
            <a:off x="695459" y="1266423"/>
            <a:ext cx="10811917" cy="152639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6A2694-8752-EC13-C98F-CDD5416F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1" t="20913" r="22325" b="60188"/>
          <a:stretch>
            <a:fillRect/>
          </a:stretch>
        </p:blipFill>
        <p:spPr>
          <a:xfrm>
            <a:off x="693020" y="3556985"/>
            <a:ext cx="10812200" cy="129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1172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D99C1-9236-F89D-8811-7A3F5654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A8F2A-3A26-8D63-C849-2622AFC12277}"/>
              </a:ext>
            </a:extLst>
          </p:cNvPr>
          <p:cNvSpPr/>
          <p:nvPr/>
        </p:nvSpPr>
        <p:spPr>
          <a:xfrm>
            <a:off x="817614" y="601156"/>
            <a:ext cx="2604239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EDA for 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intensity</a:t>
            </a:r>
            <a:r>
              <a:rPr lang="en-US" sz="2400" dirty="0">
                <a:solidFill>
                  <a:srgbClr val="C14B1D"/>
                </a:solidFill>
                <a:latin typeface="Trebuchet MS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0A44D6-774C-F967-6ECF-49A842B84F26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21A67-04A9-498D-9033-CDDCADC44ED6}"/>
              </a:ext>
            </a:extLst>
          </p:cNvPr>
          <p:cNvSpPr txBox="1"/>
          <p:nvPr/>
        </p:nvSpPr>
        <p:spPr>
          <a:xfrm>
            <a:off x="5553439" y="5566519"/>
            <a:ext cx="1639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Cereal/Grainy</a:t>
            </a:r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4A4A89-EEE4-3EAE-817A-6BF54F46E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03" r="25709" b="55486"/>
          <a:stretch>
            <a:fillRect/>
          </a:stretch>
        </p:blipFill>
        <p:spPr>
          <a:xfrm>
            <a:off x="1006699" y="1405943"/>
            <a:ext cx="10309058" cy="121466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496B41-BF6B-920E-061D-45DD9EFB58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73" r="25513" b="40596"/>
          <a:stretch>
            <a:fillRect/>
          </a:stretch>
        </p:blipFill>
        <p:spPr>
          <a:xfrm>
            <a:off x="1006699" y="2897747"/>
            <a:ext cx="10309045" cy="220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4396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180CD-7127-5639-A574-9204E16C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E6B9B8-CB0E-8A90-3C31-470504BD489D}"/>
              </a:ext>
            </a:extLst>
          </p:cNvPr>
          <p:cNvSpPr/>
          <p:nvPr/>
        </p:nvSpPr>
        <p:spPr>
          <a:xfrm>
            <a:off x="817614" y="601156"/>
            <a:ext cx="338971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EDA for categ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ory scale: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E933E-13EC-CBAF-DDED-F585DDEE53B7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65AEA5-E145-FF92-9E67-8B2A91A89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452" r="18779" b="36477"/>
          <a:stretch>
            <a:fillRect/>
          </a:stretch>
        </p:blipFill>
        <p:spPr>
          <a:xfrm>
            <a:off x="640492" y="1279185"/>
            <a:ext cx="8912186" cy="1739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10E6EA-E870-81A1-DC46-8B998C24A83A}"/>
              </a:ext>
            </a:extLst>
          </p:cNvPr>
          <p:cNvSpPr txBox="1"/>
          <p:nvPr/>
        </p:nvSpPr>
        <p:spPr>
          <a:xfrm>
            <a:off x="9942988" y="1466745"/>
            <a:ext cx="14358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1214-2 and 489</a:t>
            </a:r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CE247B-C170-CAB3-7906-64A5A506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" t="34932" r="18339" b="50075"/>
          <a:stretch>
            <a:fillRect/>
          </a:stretch>
        </p:blipFill>
        <p:spPr>
          <a:xfrm>
            <a:off x="639348" y="3573162"/>
            <a:ext cx="8929642" cy="1028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371641-B0E9-2735-AB99-19C2F85B74BA}"/>
              </a:ext>
            </a:extLst>
          </p:cNvPr>
          <p:cNvSpPr txBox="1"/>
          <p:nvPr/>
        </p:nvSpPr>
        <p:spPr>
          <a:xfrm>
            <a:off x="9947189" y="357316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 Light"/>
                <a:cs typeface="Segoe UI"/>
              </a:rPr>
              <a:t>1260-1 and 1294-1 </a:t>
            </a:r>
            <a:endParaRPr lang="en-US">
              <a:latin typeface="Calibri Light"/>
              <a:cs typeface="Calibri Light"/>
            </a:endParaRPr>
          </a:p>
          <a:p>
            <a:endParaRPr lang="en-US" dirty="0">
              <a:ea typeface="Calibri Light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0385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3098-8865-86BF-B918-EDB23037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AE0BFC-E972-AE82-A123-EE4038ABF862}"/>
              </a:ext>
            </a:extLst>
          </p:cNvPr>
          <p:cNvSpPr/>
          <p:nvPr/>
        </p:nvSpPr>
        <p:spPr>
          <a:xfrm>
            <a:off x="817614" y="601156"/>
            <a:ext cx="338971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EDA for categ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ory scale: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B3DCE-2483-F50F-2AFD-6771D3FFB3F3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07EE8-B0AC-2DD9-1C77-9F2C4A4955FC}"/>
              </a:ext>
            </a:extLst>
          </p:cNvPr>
          <p:cNvSpPr txBox="1"/>
          <p:nvPr/>
        </p:nvSpPr>
        <p:spPr>
          <a:xfrm>
            <a:off x="9942988" y="1466745"/>
            <a:ext cx="14358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 Light"/>
                <a:cs typeface="Calibri Light"/>
              </a:rPr>
              <a:t>107 and 257 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A602D-620F-CA78-F496-F0B65204C70A}"/>
              </a:ext>
            </a:extLst>
          </p:cNvPr>
          <p:cNvSpPr txBox="1"/>
          <p:nvPr/>
        </p:nvSpPr>
        <p:spPr>
          <a:xfrm>
            <a:off x="9947189" y="357316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 Light"/>
                <a:ea typeface="Calibri Light"/>
                <a:cs typeface="Segoe UI"/>
              </a:rPr>
              <a:t>347 and 398</a:t>
            </a:r>
            <a:endParaRPr lang="en-US" dirty="0">
              <a:latin typeface="Calibri Light"/>
              <a:ea typeface="Calibri Light"/>
              <a:cs typeface="Segoe UI"/>
            </a:endParaRPr>
          </a:p>
          <a:p>
            <a:endParaRPr lang="en-US" dirty="0">
              <a:ea typeface="Calibri Light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C0F5F7-DDCC-6432-533C-2E1E4738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36" r="19061" b="45646"/>
          <a:stretch>
            <a:fillRect/>
          </a:stretch>
        </p:blipFill>
        <p:spPr>
          <a:xfrm>
            <a:off x="630195" y="1482811"/>
            <a:ext cx="8881275" cy="125627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72459D-34B8-0515-E555-0A79AC74E2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" t="36036" r="18791" b="47998"/>
          <a:stretch>
            <a:fillRect/>
          </a:stretch>
        </p:blipFill>
        <p:spPr>
          <a:xfrm>
            <a:off x="627907" y="3490783"/>
            <a:ext cx="8892599" cy="109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6196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A784-DFC2-2CAD-BD44-9B678E96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5E3776-2B6A-AF75-1780-06B9EF91472F}"/>
              </a:ext>
            </a:extLst>
          </p:cNvPr>
          <p:cNvSpPr/>
          <p:nvPr/>
        </p:nvSpPr>
        <p:spPr>
          <a:xfrm>
            <a:off x="817614" y="601156"/>
            <a:ext cx="3389711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EDA for categ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ory scale: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6A99C-89F8-9AF2-6A68-22EA8616E459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B40BE-57B0-3ECA-CF82-6FFC2EC8BC36}"/>
              </a:ext>
            </a:extLst>
          </p:cNvPr>
          <p:cNvSpPr txBox="1"/>
          <p:nvPr/>
        </p:nvSpPr>
        <p:spPr>
          <a:xfrm>
            <a:off x="4860034" y="3701951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 Light"/>
                <a:ea typeface="Calibri Light"/>
                <a:cs typeface="Segoe UI"/>
              </a:rPr>
              <a:t>1276-1 and 182 </a:t>
            </a:r>
            <a:endParaRPr lang="en-US" dirty="0">
              <a:latin typeface="Calibri Light"/>
              <a:ea typeface="Calibri Light"/>
              <a:cs typeface="Segoe UI"/>
            </a:endParaRPr>
          </a:p>
          <a:p>
            <a:endParaRPr lang="en-US" dirty="0">
              <a:ea typeface="Calibri Light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06017C-C941-04DF-86C8-E7E224CF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05" r="15249" b="47780"/>
          <a:stretch>
            <a:fillRect/>
          </a:stretch>
        </p:blipFill>
        <p:spPr>
          <a:xfrm>
            <a:off x="1661375" y="2017690"/>
            <a:ext cx="9299613" cy="142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215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E573-5A12-D0D1-8933-362E81A4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BC31A3-8B96-89F8-3C06-D2801499A46C}"/>
              </a:ext>
            </a:extLst>
          </p:cNvPr>
          <p:cNvSpPr/>
          <p:nvPr/>
        </p:nvSpPr>
        <p:spPr>
          <a:xfrm>
            <a:off x="817614" y="601156"/>
            <a:ext cx="432682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for Category Scale: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4E493-F4B6-9A5F-322E-197BC73EA6F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B44826-CB07-33AE-34CD-DFBEAF1DE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28" t="16246" r="24122" b="13885"/>
          <a:stretch>
            <a:fillRect/>
          </a:stretch>
        </p:blipFill>
        <p:spPr>
          <a:xfrm>
            <a:off x="1071094" y="1078925"/>
            <a:ext cx="9797618" cy="443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8258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D66D-4EE7-7413-D1DA-48C886F3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9F4670-3A2E-38EB-D258-222262D14ECF}"/>
              </a:ext>
            </a:extLst>
          </p:cNvPr>
          <p:cNvSpPr/>
          <p:nvPr/>
        </p:nvSpPr>
        <p:spPr>
          <a:xfrm>
            <a:off x="817614" y="601156"/>
            <a:ext cx="4341253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Features in each components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091FB-E882-FF9D-4B99-F87DCDE0611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4F0F28C-5507-270F-EE58-8D5B47A69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27" y="1065391"/>
            <a:ext cx="5625519" cy="504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1396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35987-360A-6A5B-DFDF-53A4A658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B0A5CC-1FCA-C466-3686-FED38DBF620E}"/>
              </a:ext>
            </a:extLst>
          </p:cNvPr>
          <p:cNvSpPr/>
          <p:nvPr/>
        </p:nvSpPr>
        <p:spPr>
          <a:xfrm>
            <a:off x="817614" y="601156"/>
            <a:ext cx="432682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for Category Scale: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FD747-3BB1-DDC5-3634-BA7FFD844E3C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63C5DD-F1C1-BEBF-BDB4-1CBB890FE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16" y="1062506"/>
            <a:ext cx="9835277" cy="49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3863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308B0-4B17-5835-EF94-FF528984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BFEE01-E803-89FA-196A-6D8B05258DCC}"/>
              </a:ext>
            </a:extLst>
          </p:cNvPr>
          <p:cNvSpPr/>
          <p:nvPr/>
        </p:nvSpPr>
        <p:spPr>
          <a:xfrm>
            <a:off x="817614" y="601156"/>
            <a:ext cx="537358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for Category Scale by PCA: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E5DE2-B75D-5ABB-054B-978E3BE6BBB2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01964EE0-5D47-0953-E13C-E07038680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7" y="1059689"/>
            <a:ext cx="10802020" cy="508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5390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7E9B2-CA47-6BF1-108A-B85B801A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2EF249-95D8-2D43-CDAE-80513EA35F58}"/>
              </a:ext>
            </a:extLst>
          </p:cNvPr>
          <p:cNvSpPr/>
          <p:nvPr/>
        </p:nvSpPr>
        <p:spPr>
          <a:xfrm>
            <a:off x="817614" y="601156"/>
            <a:ext cx="6056466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for Category Scale by Stepwise: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5C8BA-114E-DC4B-15C1-17D0BAF1FE11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112CDF96-35FA-98BB-124B-9DDCFD0E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32" y="1069281"/>
            <a:ext cx="10681415" cy="491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3082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2D91-F0F1-1856-EA7D-CB6E73DE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DF7B50-46FC-C4F7-C28B-824264F6C6DD}"/>
              </a:ext>
            </a:extLst>
          </p:cNvPr>
          <p:cNvSpPr/>
          <p:nvPr/>
        </p:nvSpPr>
        <p:spPr>
          <a:xfrm>
            <a:off x="817614" y="601156"/>
            <a:ext cx="5966698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rgbClr val="C14B1D"/>
                </a:solidFill>
                <a:latin typeface="Trebuchet MS"/>
              </a:rPr>
              <a:t>Prediction for Category Scale by </a:t>
            </a:r>
            <a:r>
              <a:rPr lang="en-US" sz="2400">
                <a:solidFill>
                  <a:srgbClr val="C14B1D"/>
                </a:solidFill>
                <a:latin typeface="Trebuchet MS"/>
              </a:rPr>
              <a:t>Forward: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4CDF3-0B03-92FB-5B2E-2CD4BD5FA811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" name="Picture 1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5796AD5B-FDB5-1DF3-E103-BD6D73F8D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1035944"/>
            <a:ext cx="7296150" cy="56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8083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3AFD-2700-3BF1-BE5C-FA6A48CF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A21D50-EAF1-F160-06D5-C187E91130C6}"/>
              </a:ext>
            </a:extLst>
          </p:cNvPr>
          <p:cNvSpPr/>
          <p:nvPr/>
        </p:nvSpPr>
        <p:spPr>
          <a:xfrm>
            <a:off x="817614" y="601156"/>
            <a:ext cx="6163867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C14B1D"/>
                </a:solidFill>
                <a:latin typeface="Trebuchet MS"/>
              </a:rPr>
              <a:t>Prediction for Category Scale by Backward:</a:t>
            </a:r>
            <a:endParaRPr lang="en-US" sz="2400" dirty="0">
              <a:solidFill>
                <a:srgbClr val="C14B1D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80F99-2A64-97C5-2E21-C393B9C2847A}"/>
              </a:ext>
            </a:extLst>
          </p:cNvPr>
          <p:cNvSpPr txBox="1"/>
          <p:nvPr/>
        </p:nvSpPr>
        <p:spPr>
          <a:xfrm>
            <a:off x="5884974" y="6305980"/>
            <a:ext cx="6096000" cy="72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350"/>
              </a:lnSpc>
            </a:pPr>
            <a:r>
              <a:rPr lang="en-US" b="1">
                <a:solidFill>
                  <a:srgbClr val="FFFFFF"/>
                </a:solidFill>
                <a:latin typeface="Calibri Light"/>
                <a:ea typeface="Segoe UI"/>
                <a:cs typeface="Segoe UI"/>
              </a:rPr>
              <a:t>48</a:t>
            </a:r>
            <a:endParaRPr lang="en-US" sz="1800" b="1">
              <a:solidFill>
                <a:srgbClr val="FFFFFF"/>
              </a:solidFill>
              <a:latin typeface="Calibri Light"/>
              <a:ea typeface="Segoe UI"/>
              <a:cs typeface="Segoe UI"/>
            </a:endParaRPr>
          </a:p>
          <a:p>
            <a:pPr algn="ctr" rtl="0">
              <a:lnSpc>
                <a:spcPts val="1350"/>
              </a:lnSpc>
            </a:pPr>
            <a:r>
              <a:rPr lang="en-US" sz="1800">
                <a:latin typeface="Calibri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BA01F9-B82F-0760-858A-FC70E6AF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6" y="1062103"/>
            <a:ext cx="10542162" cy="500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6805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blue and orange background with lines&#10;&#10;Description automatically generated">
            <a:extLst>
              <a:ext uri="{FF2B5EF4-FFF2-40B4-BE49-F238E27FC236}">
                <a16:creationId xmlns:a16="http://schemas.microsoft.com/office/drawing/2014/main" id="{1123DB50-2B9F-82A4-C897-12462D26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4" y="0"/>
            <a:ext cx="12193494" cy="686210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47F6B6F-A520-6003-4C46-732752836BCB}"/>
              </a:ext>
            </a:extLst>
          </p:cNvPr>
          <p:cNvSpPr txBox="1"/>
          <p:nvPr/>
        </p:nvSpPr>
        <p:spPr>
          <a:xfrm>
            <a:off x="522941" y="2988235"/>
            <a:ext cx="23607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FFFFFF"/>
                </a:solidFill>
                <a:cs typeface="Calibri"/>
              </a:rPr>
              <a:t>Thank You!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51C65C79-E27F-AAB0-89AD-080A69E2F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07" y="3777129"/>
            <a:ext cx="2085975" cy="1066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1A2F87-D9F8-3F80-2F88-6865AEA7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9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RG Fonts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7ED3548F86554FB8A1706F86D8D704" ma:contentTypeVersion="13" ma:contentTypeDescription="Create a new document." ma:contentTypeScope="" ma:versionID="d8e8e96d55b6cd6856a3b08715a904f7">
  <xsd:schema xmlns:xsd="http://www.w3.org/2001/XMLSchema" xmlns:xs="http://www.w3.org/2001/XMLSchema" xmlns:p="http://schemas.microsoft.com/office/2006/metadata/properties" xmlns:ns1="http://schemas.microsoft.com/sharepoint/v3" xmlns:ns2="a50bba7b-4f24-48f5-941a-3279f29e2110" xmlns:ns3="b1f1e9b8-637e-4541-9f2c-d5d022593477" targetNamespace="http://schemas.microsoft.com/office/2006/metadata/properties" ma:root="true" ma:fieldsID="8583fb43b26a44d1c9036251ab3979c5" ns1:_="" ns2:_="" ns3:_="">
    <xsd:import namespace="http://schemas.microsoft.com/sharepoint/v3"/>
    <xsd:import namespace="a50bba7b-4f24-48f5-941a-3279f29e2110"/>
    <xsd:import namespace="b1f1e9b8-637e-4541-9f2c-d5d0225934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0bba7b-4f24-48f5-941a-3279f29e21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7a7b867-a534-49a9-850d-791d9738a7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1e9b8-637e-4541-9f2c-d5d02259347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aa524164-9ec2-4a21-b889-9e1470d6309c}" ma:internalName="TaxCatchAll" ma:showField="CatchAllData" ma:web="b1f1e9b8-637e-4541-9f2c-d5d0225934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b1f1e9b8-637e-4541-9f2c-d5d022593477" xsi:nil="true"/>
    <_ip_UnifiedCompliancePolicyProperties xmlns="http://schemas.microsoft.com/sharepoint/v3" xsi:nil="true"/>
    <lcf76f155ced4ddcb4097134ff3c332f xmlns="a50bba7b-4f24-48f5-941a-3279f29e211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B45CE6-9179-4044-8B12-5CBE21357F9F}">
  <ds:schemaRefs>
    <ds:schemaRef ds:uri="a50bba7b-4f24-48f5-941a-3279f29e2110"/>
    <ds:schemaRef ds:uri="b1f1e9b8-637e-4541-9f2c-d5d0225934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7766F89-CAF4-41BF-8B02-491C5F26E5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275171-DE42-4386-8D3A-D4CCFDCBA9EC}">
  <ds:schemaRefs>
    <ds:schemaRef ds:uri="a50bba7b-4f24-48f5-941a-3279f29e2110"/>
    <ds:schemaRef ds:uri="b1f1e9b8-637e-4541-9f2c-d5d0225934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133</Slides>
  <Notes>0</Notes>
  <HiddenSlides>11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CRG User</dc:creator>
  <cp:revision>1530</cp:revision>
  <dcterms:created xsi:type="dcterms:W3CDTF">2023-08-21T04:56:57Z</dcterms:created>
  <dcterms:modified xsi:type="dcterms:W3CDTF">2026-01-06T10:07:56Z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0x010100197ED3548F86554FB8A1706F86D8D704</vt:lpwstr>
  </property>
  <property fmtid="{D5CDD505-2E9C-101B-9397-08002B2CF9AE}" pid="3" name="MSIP_Label_a7c77bae-9cad-4b1a-aac3-2a4ad557d70b_Enabled">
    <vt:lpwstr>true</vt:lpwstr>
  </property>
  <property fmtid="{D5CDD505-2E9C-101B-9397-08002B2CF9AE}" pid="4" name="MSIP_Label_a7c77bae-9cad-4b1a-aac3-2a4ad557d70b_SetDate">
    <vt:lpwstr>2025-10-27T04:29:51Z</vt:lpwstr>
  </property>
  <property fmtid="{D5CDD505-2E9C-101B-9397-08002B2CF9AE}" pid="5" name="MSIP_Label_a7c77bae-9cad-4b1a-aac3-2a4ad557d70b_Method">
    <vt:lpwstr>Privileged</vt:lpwstr>
  </property>
  <property fmtid="{D5CDD505-2E9C-101B-9397-08002B2CF9AE}" pid="6" name="MSIP_Label_a7c77bae-9cad-4b1a-aac3-2a4ad557d70b_Name">
    <vt:lpwstr>General</vt:lpwstr>
  </property>
  <property fmtid="{D5CDD505-2E9C-101B-9397-08002B2CF9AE}" pid="7" name="MSIP_Label_a7c77bae-9cad-4b1a-aac3-2a4ad557d70b_SiteId">
    <vt:lpwstr>88ed286b-88d8-4faf-918f-883d693321ae</vt:lpwstr>
  </property>
  <property fmtid="{D5CDD505-2E9C-101B-9397-08002B2CF9AE}" pid="8" name="MSIP_Label_a7c77bae-9cad-4b1a-aac3-2a4ad557d70b_ActionId">
    <vt:lpwstr>c4cf4328-dbd8-4adb-b472-112e4247daf0</vt:lpwstr>
  </property>
  <property fmtid="{D5CDD505-2E9C-101B-9397-08002B2CF9AE}" pid="9" name="MSIP_Label_a7c77bae-9cad-4b1a-aac3-2a4ad557d70b_ContentBits">
    <vt:lpwstr>0</vt:lpwstr>
  </property>
  <property fmtid="{D5CDD505-2E9C-101B-9397-08002B2CF9AE}" pid="10" name="MSIP_Label_a7c77bae-9cad-4b1a-aac3-2a4ad557d70b_Tag">
    <vt:lpwstr>10, 0, 1, 2</vt:lpwstr>
  </property>
  <property fmtid="{D5CDD505-2E9C-101B-9397-08002B2CF9AE}" pid="11" name="MediaServiceImageTags">
    <vt:lpwstr/>
  </property>
</Properties>
</file>